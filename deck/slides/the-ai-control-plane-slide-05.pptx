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0" r:id="rId6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Two major uncertainties are likely to shape the next five years [1]: whether platforms become more concentrated or more federated, and whether interfaces remain human-mediated or become agent-mediated. Each combination implies different organizing logic, so optimizing for a single expected end state is risky.</a:t>
            </a:r>
          </a:p>
          <a:p>
            <a:pPr>
              <a:spcAft>
                <a:spcPts val="600"/>
              </a:spcAft>
            </a:pPr>
            <a:r>
              <a:rPr lang="en-US" dirty="0"/>
              <a:t>Evidence from executive interviews [1] (paraphrased): a banking leader expects a handful of hyperscalers plus a few AI platform providers to dominate the control plane. A defense technology executive notes that sovereign AI may need a separate environment because data must stay pinned to a country. A pharma architecture director argues that multi-cloud only makes sense with a strong operational or resilience rationale, because every data movement adds cost and complexity.</a:t>
            </a:r>
          </a:p>
          <a:p>
            <a:pPr>
              <a:spcAft>
                <a:spcPts val="600"/>
              </a:spcAft>
            </a:pPr>
            <a:r>
              <a:rPr lang="en-US" dirty="0"/>
              <a:t>The point for this room is that the control plane is how you hedge: if identity, policy, audit and routing live in a vendor-neutral layer, you can move between quadrants without re-platforming. This is "planned impermanence" [19]: replaceable components, explicit re-evaluation, and an architecture built to change.</a:t>
            </a:r>
          </a:p>
          <a:p>
            <a:pPr>
              <a:spcAft>
                <a:spcPts val="600"/>
              </a:spcAft>
            </a:pPr>
            <a:r>
              <a:rPr lang="en-US" dirty="0"/>
              <a:t>Note: the quadrant names on the slide are illustrative shorthand.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5,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STRATEGIC FORESIGHT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Design for a range of possible futures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Whether platforms concentrate or federate, and whether people or agents mediate the interface, are likely to shape the next five years.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0756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CONCENTRATED  •  AGENT-MEDIATED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500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Hyperscaler-led control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7432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handful of hyperscalers and AI platform providers run the control plane. Agents are the main consumers of enterprise services.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87452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462272" y="207568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 •  AGENT-MEDIATED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462272" y="23500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agent ecosystems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62272" y="27432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from many vendors discover each other and transact through open protocols, with shared standards for trust, cost and payments.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4224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CONCENTRATED  •  HUMAN-MEDIATED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4988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Suite-centric enterprise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489204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is embedded inside a few large SaaS suites, and people still drive most work through familiar applications.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402336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462272" y="4224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 •  HUMAN-MEDIATED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44988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Constraint-anchored estates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489204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Sovereignty, latency or resilience requirements keep execution distributed across regions, domains and edge sites.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09560" y="1874520"/>
            <a:ext cx="3730752" cy="4160520"/>
          </a:xfrm>
          <a:prstGeom prst="roundRect">
            <a:avLst>
              <a:gd name="adj" fmla="val 196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8388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NO-REGRET MOVES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2377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holds in every quadrant</a:t>
            </a:r>
            <a:endParaRPr lang="en-US" sz="1600" dirty="0"/>
          </a:p>
        </p:txBody>
      </p:sp>
      <p:pic>
        <p:nvPicPr>
          <p:cNvPr id="24" name="Icon 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044952"/>
            <a:ext cx="237744" cy="23774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549640" y="30175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Capabilities as governed services, independent of channel</a:t>
            </a:r>
            <a:endParaRPr lang="en-US" sz="1200" dirty="0"/>
          </a:p>
        </p:txBody>
      </p:sp>
      <p:pic>
        <p:nvPicPr>
          <p:cNvPr id="26" name="Icon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648456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549640" y="36210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identity, policy and audit model across vendors</a:t>
            </a:r>
            <a:endParaRPr lang="en-US" sz="1200" dirty="0"/>
          </a:p>
        </p:txBody>
      </p:sp>
      <p:pic>
        <p:nvPicPr>
          <p:cNvPr id="28" name="Icon 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251960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549640" y="42245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Models and platforms designed to be replaced</a:t>
            </a:r>
            <a:endParaRPr lang="en-US" sz="1200" dirty="0"/>
          </a:p>
        </p:txBody>
      </p:sp>
      <p:pic>
        <p:nvPicPr>
          <p:cNvPr id="30" name="Icon 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4855464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549640" y="48280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Verification of every actor, human or machine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8183880" y="5440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vendor-neutral control plane hedges across all four.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19. Quadrant names are illustrative shorthand.</a:t>
            </a:r>
            <a:endParaRPr 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Design for a range of possible futures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5: Design for a range of possible futures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