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60" r:id="rId6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Relationship Id="rId5" Type="http://schemas.openxmlformats.org/officeDocument/2006/relationships/hyperlink" Target="https://johnfisher-ai.github.io/ai-control-plane-handbook/handbook/appendix-b.html" TargetMode="External"/></Relationship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62000"/>
            <a:ext cx="5943600" cy="3343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457200" y="4419600"/>
            <a:ext cx="5943600" cy="67056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Two major uncertainties are likely to shape the next five years [1]: whether platforms become more concentrated or more federated, and whether interfaces remain human-mediated or become agent-mediated. Each combination implies different organizing logic, so optimizing for a single expected end state is risky.</a:t>
            </a:r>
          </a:p>
          <a:p>
            <a:pPr>
              <a:spcAft>
                <a:spcPts val="600"/>
              </a:spcAft>
            </a:pPr>
            <a:r>
              <a:rPr lang="en-US" dirty="0"/>
              <a:t>Evidence from executive interviews [1] (paraphrased): a banking leader expects a handful of hyperscalers plus a few AI platform providers to dominate the control plane. A defense technology executive notes that sovereign AI may need a separate environment because data must stay pinned to a country. A pharma architecture director argues that multi-cloud only makes sense with a strong operational or resilience rationale, because every data movement adds cost and complexity.</a:t>
            </a:r>
          </a:p>
          <a:p>
            <a:pPr>
              <a:spcAft>
                <a:spcPts val="600"/>
              </a:spcAft>
            </a:pPr>
            <a:r>
              <a:rPr lang="en-US" dirty="0"/>
              <a:t>The point for this room is that the control plane is how you hedge: if identity, policy, audit and routing live in a vendor-neutral layer, you can move between quadrants without re-platforming. This is "planned impermanence" [19]: replaceable components, explicit re-evaluation, and an architecture built to change.</a:t>
            </a:r>
          </a:p>
          <a:p>
            <a:pPr>
              <a:spcAft>
                <a:spcPts val="600"/>
              </a:spcAft>
            </a:pPr>
            <a:r>
              <a:rPr lang="en-US" dirty="0"/>
              <a:t>Note: the quadrant names on the slide are illustrative shorthand.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5,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  <a:p>
            <a:pPr>
              <a:spcAft>
                <a:spcPts val="600"/>
              </a:spcAft>
            </a:pPr>
            <a:r>
              <a:rPr lang="en-US" dirty="0"/>
              <a:t>Bracketed numbers in these notes, and endnote numbers on the slide, refer to the endnotes in Appendix B of The AI Control Plane Handbook: </a:t>
            </a:r>
            <a:r>
              <a:rPr lang="en-US" dirty="0">
                <a:hlinkClick r:id="rId5"/>
              </a:rPr>
              <a:t>https://johnfisher-ai.github.io/ai-control-plane-handbook/handbook/appendix-b.html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6200" y="11430000"/>
            <a:ext cx="2514600" cy="457200"/>
          </a:xfrm>
        </p:spPr>
        <p:txBody>
          <a:bodyPr/>
          <a:lstStyle/>
          <a:p>
            <a:r>
              <a:rPr lang="en-US"/>
              <a:t>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STRATEGIC FORESIGHT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Design for a range of possible futures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Whether platforms concentrate or federate, and whether people or agents mediate the interface, are likely to shape the next five years.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0F9FF"/>
          </a:solidFill>
          <a:ln w="9525">
            <a:solidFill>
              <a:srgbClr val="E0F2FE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04672" y="207568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CONCENTRATED  •  AGENT-MEDIATED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35000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Hyperscaler-led control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74320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handful of hyperscalers and AI platform providers run the control plane. Agents are the main consumers of enterprise services.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06240" y="187452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0F9FF"/>
          </a:solidFill>
          <a:ln w="9525">
            <a:solidFill>
              <a:srgbClr val="E0F2FE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462272" y="207568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FEDERATED  •  AGENT-MEDIATED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462272" y="235000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Open agent ecosystems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62272" y="274320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Agents from many vendors discover each other and transact through open protocols, with shared standards for trust, cost and payments.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04672" y="422452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CONCENTRATED  •  HUMAN-MEDIATED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" y="449884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Suite-centric enterprise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04672" y="489204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AI is embedded inside a few large SaaS suites, and people still drive most work through familiar applications.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06240" y="402336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462272" y="422452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FEDERATED  •  HUMAN-MEDIATED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462272" y="449884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Constraint-anchored estates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462272" y="489204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Sovereignty, latency or resilience requirements keep execution distributed across regions, domains and edge sites.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909560" y="1874520"/>
            <a:ext cx="3730752" cy="4160520"/>
          </a:xfrm>
          <a:prstGeom prst="roundRect">
            <a:avLst>
              <a:gd name="adj" fmla="val 1961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183880" y="21031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NO-REGRET MOVES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8183880" y="23774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What holds in every quadrant</a:t>
            </a:r>
            <a:endParaRPr lang="en-US" sz="1600" dirty="0"/>
          </a:p>
        </p:txBody>
      </p:sp>
      <p:pic>
        <p:nvPicPr>
          <p:cNvPr id="24" name="Icon 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3044952"/>
            <a:ext cx="237744" cy="23774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8549640" y="30175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Capabilities as governed services, independent of channel</a:t>
            </a:r>
            <a:endParaRPr lang="en-US" sz="1200" dirty="0"/>
          </a:p>
        </p:txBody>
      </p:sp>
      <p:pic>
        <p:nvPicPr>
          <p:cNvPr id="26" name="Icon 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3648456"/>
            <a:ext cx="237744" cy="237744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8549640" y="362102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One identity, policy and audit model across vendors</a:t>
            </a:r>
            <a:endParaRPr lang="en-US" sz="1200" dirty="0"/>
          </a:p>
        </p:txBody>
      </p:sp>
      <p:pic>
        <p:nvPicPr>
          <p:cNvPr id="28" name="Icon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4251960"/>
            <a:ext cx="237744" cy="237744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8549640" y="42245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Models and platforms designed to be replaced</a:t>
            </a:r>
            <a:endParaRPr lang="en-US" sz="1200" dirty="0"/>
          </a:p>
        </p:txBody>
      </p:sp>
      <p:pic>
        <p:nvPicPr>
          <p:cNvPr id="30" name="Icon 3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80" y="4855464"/>
            <a:ext cx="237744" cy="23774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8549640" y="482803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Verification of every actor, human or machine</a:t>
            </a:r>
            <a:endParaRPr lang="en-US" sz="1200" dirty="0"/>
          </a:p>
        </p:txBody>
      </p:sp>
      <p:sp>
        <p:nvSpPr>
          <p:cNvPr id="32" name="Text 26"/>
          <p:cNvSpPr txBox="1"/>
          <p:nvPr/>
        </p:nvSpPr>
        <p:spPr>
          <a:xfrm>
            <a:off x="8183880" y="54406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vendor-neutral control plane hedges across all four.</a:t>
            </a:r>
            <a:endParaRPr lang="en-US" sz="1200" dirty="0"/>
          </a:p>
        </p:txBody>
      </p:sp>
      <p:sp>
        <p:nvSpPr>
          <p:cNvPr id="33" name="Text 27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Sources: endnotes 1, 19. Quadrant names are illustrative shorthand.</a:t>
            </a:r>
            <a:endParaRPr lang="en-US" sz="850" dirty="0"/>
          </a:p>
        </p:txBody>
      </p:sp>
      <p:sp>
        <p:nvSpPr>
          <p:cNvPr id="34" name="Text 28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Design for a range of possible futures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5: Design for a range of possible futures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