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304" r:id="rId50"/>
  </p:sldIdLst>
  <p:notesMasterIdLst>
    <p:notesMasterId r:id="rId68"/>
  </p:notesMasterIdLst>
  <p:sldSz cx="12192000" cy="6858000"/>
  <p:notesSz cx="6858000" cy="12192000"/>
  <p:embeddedFontLst>
    <p:embeddedFont>
      <p:font typeface="Plus Jakarta Sans"/>
      <p:regular r:id="rId73"/>
      <p:bold r:id="rId74"/>
      <p:italic r:id="rId7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50" Type="http://schemas.openxmlformats.org/officeDocument/2006/relationships/slide" Target="slides/slide49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73" Type="http://schemas.openxmlformats.org/officeDocument/2006/relationships/font" Target="fonts/e1a8fda2-a427-4cdb-9ef2-8a6782d58009.fntdata"/><Relationship Id="rId74" Type="http://schemas.openxmlformats.org/officeDocument/2006/relationships/font" Target="fonts/9542d0bb-6ad7-45dd-89ef-a406bd0490d1.fntdata"/><Relationship Id="rId75" Type="http://schemas.openxmlformats.org/officeDocument/2006/relationships/font" Target="fonts/f16f000a-8ac0-4436-b98c-e748fe425de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Relationship Id="rId3" Type="http://schemas.openxmlformats.org/officeDocument/2006/relationships/hyperlink" Target="https://creativecommons.org/licenses/by-nc-nd/4.0/" TargetMode="External"/><Relationship Id="rId4" Type="http://schemas.openxmlformats.org/officeDocument/2006/relationships/hyperlink" Target="https://johnfisher-ai.github.io/ai-control-plane-handbook/deck/" TargetMode="External"/><Relationship Id="rId5" Type="http://schemas.openxmlformats.org/officeDocument/2006/relationships/hyperlink" Target="https://johnfisher-ai.github.io/ai-control-plane-handbook/handbook/appendix-b.html" TargetMode="External"/><Relationship Id="rId6" Type="http://schemas.openxmlformats.org/officeDocument/2006/relationships/hyperlink" Target="https://johnfisher-ai.github.io/ai-control-plane-handbook/deck/notices.html#permission" TargetMode="External"/></Relationship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6200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57200" y="4419600"/>
            <a:ext cx="5943600" cy="67056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Walk the six stages left to right. For each, point to the human step (amber), the agent and its autonomy tier (blue), and the governed path underneath: agents reach systems only through the control plane and a governed MCP tool or API, and nothing reaches the control system except through the DMZ.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Detect: the Condition Monitoring agent scores vibration, temperature and pressure trends from the historian replica (read-only, Tier 2).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Diagnose: the Diagnostics agent suggests likely causes from maintenance history, similar events and manufacturer guidance. The reliability engineer decides (Tier 1).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Stabilize: the Flow &amp; Load Advisor proposes a load shift checked by the hydraulic model. The controller approves at the console, and the approval is bound to that exact change and valid for ten minutes (Tier 1).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Plan work: the Maintenance Planning agent creates the notification, drafts the work order and reserves parts in SAP S/4HANA. The planner releases it.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Crew &amp; permit: the Crew &amp; Permit agent confirms qualifications for the covered tasks [107] and drafts the isolation permit. The field supervisor approves on mobile.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Repair &amp; return: the controller approves the return to full load. The Compliance Records agent assembles the event record.</a:t>
            </a:r>
          </a:p>
          <a:p>
            <a:pPr>
              <a:spcAft>
                <a:spcPts val="600"/>
              </a:spcAft>
            </a:pPr>
            <a:r>
              <a:rPr lang="en-US" dirty="0"/>
              <a:t>The outcome to land: alert to planned repair in hours instead of days (illustrative), with a controller approving every change to equipment and the safety systems independent throughout.</a:t>
            </a:r>
          </a:p>
          <a:p>
            <a:pPr>
              <a:spcAft>
                <a:spcPts val="600"/>
              </a:spcAft>
            </a:pPr>
            <a:r>
              <a:rPr lang="en-US" dirty="0"/>
              <a:t>Credit: John Fisher, The AI Control Plane: Executive Briefing (2026), slide 49, licensed under CC BY-NC-ND 4.0: </a:t>
            </a:r>
            <a:r>
              <a:rPr lang="en-US" dirty="0">
                <a:hlinkClick r:id="rId3"/>
              </a:rPr>
              <a:t>https://creativecommons.org/licenses/by-nc-nd/4.0/</a:t>
            </a:r>
            <a:r>
              <a:rPr lang="en-US" dirty="0"/>
              <a:t>. The full deck, with its speaker notes and notices: </a:t>
            </a:r>
            <a:r>
              <a:rPr lang="en-US" dirty="0">
                <a:hlinkClick r:id="rId4"/>
              </a:rPr>
              <a:t>https://johnfisher-ai.github.io/ai-control-plane-handbook/deck/</a:t>
            </a:r>
            <a:r>
              <a:rPr lang="en-US" dirty="0"/>
              <a:t>. You may adapt this slide, with credit, under the additional permission in the deck’s notices: </a:t>
            </a:r>
            <a:r>
              <a:rPr lang="en-US" dirty="0">
                <a:hlinkClick r:id="rId6"/>
              </a:rPr>
              <a:t>https://johnfisher-ai.github.io/ai-control-plane-handbook/deck/notices.html#permission</a:t>
            </a:r>
            <a:r>
              <a:rPr lang="en-US" dirty="0"/>
              <a:t>.</a:t>
            </a:r>
          </a:p>
          <a:p>
            <a:pPr>
              <a:spcAft>
                <a:spcPts val="600"/>
              </a:spcAft>
            </a:pPr>
            <a:r>
              <a:rPr lang="en-US" dirty="0"/>
              <a:t>Bracketed numbers in these notes, and endnote numbers on the slide, refer to the endnotes in Appendix B of The AI Control Plane Handbook: </a:t>
            </a:r>
            <a:r>
              <a:rPr lang="en-US" dirty="0">
                <a:hlinkClick r:id="rId5"/>
              </a:rPr>
              <a:t>https://johnfisher-ai.github.io/ai-control-plane-handbook/handbook/appendix-b.html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6200" y="11430000"/>
            <a:ext cx="2514600" cy="457200"/>
          </a:xfrm>
        </p:spPr>
        <p:txBody>
          <a:bodyPr/>
          <a:lstStyle/>
          <a:p>
            <a:r>
              <a:rPr lang="en-US"/>
              <a:t>49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4C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CASE 3  •  AT A GLANCE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Anomaly to repair with a person on every equipment change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STAGE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PEOPLE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4203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CONTROL PLANE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251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MCP / API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651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 OF RECORD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60527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OUTCOME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64792" y="1325880"/>
            <a:ext cx="1697736" cy="566928"/>
          </a:xfrm>
          <a:prstGeom prst="chevron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Detect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56232" y="2011680"/>
            <a:ext cx="1496568" cy="402336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01952" y="2011680"/>
            <a:ext cx="1405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human step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56232" y="2542032"/>
            <a:ext cx="1496568" cy="822960"/>
          </a:xfrm>
          <a:prstGeom prst="roundRect">
            <a:avLst>
              <a:gd name="adj" fmla="val 8889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901952" y="2542032"/>
            <a:ext cx="1405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Condition Monitoring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2 • scores only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04516" y="3383280"/>
            <a:ext cx="0" cy="19202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604516" y="4069080"/>
            <a:ext cx="0" cy="23774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856232" y="4325112"/>
            <a:ext cx="149656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Historian MCP (read)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4516" y="4764024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856232" y="4965192"/>
            <a:ext cx="1496568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Historian replica (DMZ)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07664" y="1325880"/>
            <a:ext cx="1697736" cy="566928"/>
          </a:xfrm>
          <a:prstGeom prst="chevron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Diagnose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99104" y="2011680"/>
            <a:ext cx="1496568" cy="402336"/>
          </a:xfrm>
          <a:prstGeom prst="roundRect">
            <a:avLst>
              <a:gd name="adj" fmla="val 13636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44824" y="2011680"/>
            <a:ext cx="1405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Engineer decides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99104" y="2542032"/>
            <a:ext cx="1496568" cy="822960"/>
          </a:xfrm>
          <a:prstGeom prst="roundRect">
            <a:avLst>
              <a:gd name="adj" fmla="val 8889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3544824" y="2542032"/>
            <a:ext cx="1405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Diagnostics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1 • advises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47388" y="3383280"/>
            <a:ext cx="0" cy="19202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247388" y="4069080"/>
            <a:ext cx="0" cy="23774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499104" y="4325112"/>
            <a:ext cx="149656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SAP &amp; document MCP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47388" y="4764024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3499104" y="4965192"/>
            <a:ext cx="1496568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SAP S/4HANA • manuals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50536" y="1325880"/>
            <a:ext cx="1697736" cy="566928"/>
          </a:xfrm>
          <a:prstGeom prst="chevron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Stabilize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41976" y="2011680"/>
            <a:ext cx="1496568" cy="402336"/>
          </a:xfrm>
          <a:prstGeom prst="roundRect">
            <a:avLst>
              <a:gd name="adj" fmla="val 13636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87696" y="2011680"/>
            <a:ext cx="1405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Controller approves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41976" y="2542032"/>
            <a:ext cx="1496568" cy="822960"/>
          </a:xfrm>
          <a:prstGeom prst="roundRect">
            <a:avLst>
              <a:gd name="adj" fmla="val 8889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187696" y="2542032"/>
            <a:ext cx="1405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Flow &amp; Load Advisor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1 • proposes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890260" y="3383280"/>
            <a:ext cx="0" cy="19202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890260" y="4069080"/>
            <a:ext cx="0" cy="23774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5141976" y="4325112"/>
            <a:ext cx="149656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Setpoint request (gated)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90260" y="4764024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5141976" y="4965192"/>
            <a:ext cx="1496568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SCADA via the DMZ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93408" y="1325880"/>
            <a:ext cx="1697736" cy="566928"/>
          </a:xfrm>
          <a:prstGeom prst="chevron">
            <a:avLst/>
          </a:prstGeom>
          <a:solidFill>
            <a:srgbClr val="075985"/>
          </a:solidFill>
          <a:ln>
            <a:solidFill>
              <a:srgbClr val="075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 work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784848" y="2011680"/>
            <a:ext cx="1496568" cy="402336"/>
          </a:xfrm>
          <a:prstGeom prst="roundRect">
            <a:avLst>
              <a:gd name="adj" fmla="val 13636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30568" y="2011680"/>
            <a:ext cx="1405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Planner releases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784848" y="2542032"/>
            <a:ext cx="1496568" cy="822960"/>
          </a:xfrm>
          <a:prstGeom prst="roundRect">
            <a:avLst>
              <a:gd name="adj" fmla="val 8889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6830568" y="2542032"/>
            <a:ext cx="1405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Maintenance Planning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3 • notifications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533132" y="3383280"/>
            <a:ext cx="0" cy="19202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7533132" y="4069080"/>
            <a:ext cx="0" cy="23774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6784848" y="4325112"/>
            <a:ext cx="149656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SAP MCP (write)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533132" y="4764024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6784848" y="4965192"/>
            <a:ext cx="1496568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SAP S/4HANA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336280" y="1325880"/>
            <a:ext cx="1697736" cy="566928"/>
          </a:xfrm>
          <a:prstGeom prst="chevron">
            <a:avLst/>
          </a:prstGeom>
          <a:solidFill>
            <a:srgbClr val="0C4A6E"/>
          </a:solidFill>
          <a:ln>
            <a:solidFill>
              <a:srgbClr val="0C4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Crew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permit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427720" y="2011680"/>
            <a:ext cx="1496568" cy="402336"/>
          </a:xfrm>
          <a:prstGeom prst="roundRect">
            <a:avLst>
              <a:gd name="adj" fmla="val 13636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473440" y="2011680"/>
            <a:ext cx="1405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Supervisor approves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427720" y="2542032"/>
            <a:ext cx="1496568" cy="822960"/>
          </a:xfrm>
          <a:prstGeom prst="roundRect">
            <a:avLst>
              <a:gd name="adj" fmla="val 8889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8473440" y="2542032"/>
            <a:ext cx="1405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Crew &amp; Permit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2 • proposes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176004" y="3383280"/>
            <a:ext cx="0" cy="19202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9176004" y="4069080"/>
            <a:ext cx="0" cy="23774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8427720" y="4325112"/>
            <a:ext cx="149656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Workday &amp; permit MCP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176004" y="4764024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8427720" y="4965192"/>
            <a:ext cx="1496568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Workday • permits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979152" y="1325880"/>
            <a:ext cx="1697736" cy="566928"/>
          </a:xfrm>
          <a:prstGeom prst="chevron">
            <a:avLst/>
          </a:prstGeom>
          <a:solidFill>
            <a:srgbClr val="082F49"/>
          </a:solidFill>
          <a:ln>
            <a:solidFill>
              <a:srgbClr val="082F4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Repair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return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0070592" y="2011680"/>
            <a:ext cx="1496568" cy="402336"/>
          </a:xfrm>
          <a:prstGeom prst="roundRect">
            <a:avLst>
              <a:gd name="adj" fmla="val 13636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116312" y="2011680"/>
            <a:ext cx="1405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Controller approves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10070592" y="2542032"/>
            <a:ext cx="1496568" cy="822960"/>
          </a:xfrm>
          <a:prstGeom prst="roundRect">
            <a:avLst>
              <a:gd name="adj" fmla="val 8889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65" name="Text 63"/>
          <p:cNvSpPr txBox="1"/>
          <p:nvPr/>
        </p:nvSpPr>
        <p:spPr>
          <a:xfrm>
            <a:off x="10116312" y="2542032"/>
            <a:ext cx="1405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Compliance Records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2 • drafts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0818876" y="3383280"/>
            <a:ext cx="0" cy="19202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0818876" y="4069080"/>
            <a:ext cx="0" cy="23774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10070592" y="4325112"/>
            <a:ext cx="149656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Event store MCP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10818876" y="4764024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10070592" y="4965192"/>
            <a:ext cx="1496568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Control room log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783080" y="3593592"/>
            <a:ext cx="9857232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965960" y="3593592"/>
            <a:ext cx="9491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Enterprise AI control plane: registry • AI gateway • bound approvals • cumulative limits • agent identity • safe defaults • observability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1783080" y="5605272"/>
            <a:ext cx="9857232" cy="566928"/>
          </a:xfrm>
          <a:prstGeom prst="roundRect">
            <a:avLst>
              <a:gd name="adj" fmla="val 9677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2011680" y="5605272"/>
            <a:ext cx="9400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Alert to planned repair in hours instead of days, with a controller approving every change to equipment and the safety systems independent throughout</a:t>
            </a:r>
            <a:endParaRPr lang="en-US" sz="1250" dirty="0"/>
          </a:p>
        </p:txBody>
      </p:sp>
      <p:sp>
        <p:nvSpPr>
          <p:cNvPr id="75" name="Text 73"/>
          <p:cNvSpPr txBox="1"/>
          <p:nvPr/>
        </p:nvSpPr>
        <p:spPr>
          <a:xfrm>
            <a:off x="548640" y="638251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Illustrative. Amber = human decision. Blue = agent and autonomy tier. Every call passes through the control plane.</a:t>
            </a:r>
            <a:endParaRPr lang="en-US" sz="850" dirty="0"/>
          </a:p>
        </p:txBody>
      </p:sp>
      <p:sp>
        <p:nvSpPr>
          <p:cNvPr id="76" name="Text 74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Anomaly to repair with a person on every equipment change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Control Plane, slide 49: Anomaly to repair with a person on every equipment change</dc:title>
  <dc:subject>One slide from The AI Control Plane: Executive Briefing, by John Fisher (2026), CC BY-NC-ND 4.0</dc:subject>
  <dc:creator>John Fisher</dc:creator>
  <cp:lastModifiedBy>John Fisher</cp:lastModifiedBy>
  <cp:revision>1</cp:revision>
  <dcterms:created xsi:type="dcterms:W3CDTF">2026-10-14T20:43:52Z</dcterms:created>
  <dcterms:modified xsi:type="dcterms:W3CDTF">2026-10-14T20:43:52Z</dcterms:modified>
</cp:coreProperties>
</file>