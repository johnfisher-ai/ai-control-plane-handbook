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6" r:id="rId42"/>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2" Type="http://schemas.openxmlformats.org/officeDocument/2006/relationships/slide" Target="slides/slide41.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This is the vendor-neutral solution architecture for settlement exceptions. Only SAP S/4HANA and Snowflake are named products.</a:t>
            </a:r>
          </a:p>
          <a:p>
            <a:pPr>
              <a:spcAft>
                <a:spcPts val="600"/>
              </a:spcAft>
            </a:pPr>
            <a:r>
              <a:rPr lang="en-US" dirty="0"/>
              <a:t>Orchestration model selected: a dedicated orchestration tier for settlement operations, federated under the enterprise control plane. Settlement is latency-sensitive and cutoff-driven, runs in a tightly controlled operations domain and needs every action traceable, so the orchestrator and its agents run close to the trading and settlement systems, while identity, policy, registry, audit and cost stay centrally governed. Orchestration is event-driven (trade, matching and settlement-status events), uses a supervisor pattern over A2A [27], and runs deterministic workflows for regulated actions: SSI changes, payments and borrows above limits always follow maker-checker rules.</a:t>
            </a:r>
          </a:p>
          <a:p>
            <a:pPr>
              <a:spcAft>
                <a:spcPts val="600"/>
              </a:spcAft>
            </a:pPr>
            <a:r>
              <a:rPr lang="en-US" dirty="0"/>
              <a:t>Models and routing: a self-hosted, fine-tuned small language model classifies exceptions and parses SWIFT and ISO 20022 messages and emails. A frontier model on a private endpoint drafts non-standard counterparty messages, with a second provider for failover, which also supports DORA expectations on ICT third-party risk [98]. Fail prediction is conventional machine learning trained on settlement history in Snowflake, and a rules engine applies tolerances and penalty calculations deterministically.</a:t>
            </a:r>
          </a:p>
          <a:p>
            <a:pPr>
              <a:spcAft>
                <a:spcPts val="600"/>
              </a:spcAft>
            </a:pPr>
            <a:r>
              <a:rPr lang="en-US" dirty="0"/>
              <a:t>Data governance covers counterparty and legal-entity golden records keyed by LEI, an instrument master with ISIN, CUSIP and FIGI cross-references, and an SSI golden source with maker-checker stewardship (the EU and UK T+1 programs are setting market standards for SSI management [99]). Semantics align to ISO 20022 [100], FIBO [101] and the Common Domain Model [102], and lineage and data quality follow BCBS 239 [103].</a:t>
            </a:r>
          </a:p>
          <a:p>
            <a:pPr>
              <a:spcAft>
                <a:spcPts val="600"/>
              </a:spcAft>
            </a:pPr>
            <a:r>
              <a:rPr lang="en-US" dirty="0"/>
              <a:t>Security: the same zero-trust baseline as use case 1 [90][91][92][26][93], plus SWIFT PKI signing, HSM-held keys, tokenized account numbers, outbound data-loss prevention, write-once retention of agent-sent communications under SEC Rule 17a-4 [104], information barriers, and fraud screening with call-back verification on SSI changes. Inbound counterparty emails are treated as untrusted input and screened for prompt injection.</a:t>
            </a:r>
          </a:p>
          <a:p>
            <a:pPr>
              <a:spcAft>
                <a:spcPts val="600"/>
              </a:spcAft>
            </a:pPr>
            <a:r>
              <a:rPr lang="en-US" dirty="0"/>
              <a:t>Observability: OpenTelemetry traces tied to a trade reference [94] feed cutoff SLO dashboards, failover and drift alerts.</a:t>
            </a:r>
          </a:p>
          <a:p>
            <a:pPr>
              <a:spcAft>
                <a:spcPts val="600"/>
              </a:spcAft>
            </a:pPr>
            <a:r>
              <a:rPr lang="en-US" dirty="0"/>
              <a:t>Credit: John Fisher, The AI Control Plane: Executive Briefing (2026), slide 41,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41</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2  •  REFERENCE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Vendor-neutral solution architecture</a:t>
            </a:r>
            <a:endParaRPr lang="en-US" sz="2600" dirty="0"/>
          </a:p>
        </p:txBody>
      </p:sp>
      <p:sp>
        <p:nvSpPr>
          <p:cNvPr id="4" name="Shape 2"/>
          <p:cNvSpPr/>
          <p:nvPr/>
        </p:nvSpPr>
        <p:spPr>
          <a:xfrm>
            <a:off x="548640" y="1325880"/>
            <a:ext cx="9427464" cy="566928"/>
          </a:xfrm>
          <a:prstGeom prst="roundRect">
            <a:avLst>
              <a:gd name="adj" fmla="val 9677"/>
            </a:avLst>
          </a:prstGeom>
          <a:solidFill>
            <a:srgbClr val="F1F5F9"/>
          </a:solidFill>
          <a:ln w="9525">
            <a:solidFill>
              <a:srgbClr val="CBD5E1"/>
            </a:solidFill>
            <a:prstDash val="solid"/>
          </a:ln>
        </p:spPr>
      </p:sp>
      <p:sp>
        <p:nvSpPr>
          <p:cNvPr id="5" name="Text 3"/>
          <p:cNvSpPr txBox="1"/>
          <p:nvPr/>
        </p:nvSpPr>
        <p:spPr>
          <a:xfrm>
            <a:off x="640080" y="132588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CLIENTS</a:t>
            </a:r>
            <a:endParaRPr lang="en-US" sz="1200" dirty="0"/>
          </a:p>
        </p:txBody>
      </p:sp>
      <p:sp>
        <p:nvSpPr>
          <p:cNvPr id="6" name="Text 4"/>
          <p:cNvSpPr/>
          <p:nvPr/>
        </p:nvSpPr>
        <p:spPr>
          <a:xfrm>
            <a:off x="1691640"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Ops copilot</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settlement analysts</a:t>
            </a:r>
            <a:endParaRPr lang="en-US" sz="1050" dirty="0"/>
          </a:p>
        </p:txBody>
      </p:sp>
      <p:sp>
        <p:nvSpPr>
          <p:cNvPr id="7" name="Text 5"/>
          <p:cNvSpPr/>
          <p:nvPr/>
        </p:nvSpPr>
        <p:spPr>
          <a:xfrm>
            <a:off x="3765042"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Mobile approvals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supervisors • 4-eyes</a:t>
            </a:r>
            <a:endParaRPr lang="en-US" sz="1050" dirty="0"/>
          </a:p>
        </p:txBody>
      </p:sp>
      <p:sp>
        <p:nvSpPr>
          <p:cNvPr id="8" name="Text 6"/>
          <p:cNvSpPr/>
          <p:nvPr/>
        </p:nvSpPr>
        <p:spPr>
          <a:xfrm>
            <a:off x="5838444"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Control dashboards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ops management</a:t>
            </a:r>
            <a:endParaRPr lang="en-US" sz="1050" dirty="0"/>
          </a:p>
        </p:txBody>
      </p:sp>
      <p:sp>
        <p:nvSpPr>
          <p:cNvPr id="9" name="Text 7"/>
          <p:cNvSpPr/>
          <p:nvPr/>
        </p:nvSpPr>
        <p:spPr>
          <a:xfrm>
            <a:off x="7911846"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Counterparty channels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email • SWIFT • portals</a:t>
            </a:r>
            <a:endParaRPr lang="en-US" sz="1050" dirty="0"/>
          </a:p>
        </p:txBody>
      </p:sp>
      <p:sp>
        <p:nvSpPr>
          <p:cNvPr id="10" name="Shape 8"/>
          <p:cNvSpPr/>
          <p:nvPr/>
        </p:nvSpPr>
        <p:spPr>
          <a:xfrm>
            <a:off x="548640" y="1943100"/>
            <a:ext cx="9427464" cy="566928"/>
          </a:xfrm>
          <a:prstGeom prst="roundRect">
            <a:avLst>
              <a:gd name="adj" fmla="val 9677"/>
            </a:avLst>
          </a:prstGeom>
          <a:solidFill>
            <a:srgbClr val="E0F2FE"/>
          </a:solidFill>
          <a:ln w="9525">
            <a:solidFill>
              <a:srgbClr val="BAE6FD"/>
            </a:solidFill>
            <a:prstDash val="solid"/>
          </a:ln>
        </p:spPr>
      </p:sp>
      <p:sp>
        <p:nvSpPr>
          <p:cNvPr id="11" name="Text 9"/>
          <p:cNvSpPr txBox="1"/>
          <p:nvPr/>
        </p:nvSpPr>
        <p:spPr>
          <a:xfrm>
            <a:off x="640080" y="194310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autonomy tier</a:t>
            </a:r>
            <a:endParaRPr lang="en-US" sz="1200" dirty="0"/>
          </a:p>
        </p:txBody>
      </p:sp>
      <p:sp>
        <p:nvSpPr>
          <p:cNvPr id="12" name="Text 10"/>
          <p:cNvSpPr/>
          <p:nvPr/>
        </p:nvSpPr>
        <p:spPr>
          <a:xfrm>
            <a:off x="1691640" y="1997964"/>
            <a:ext cx="1318260" cy="457200"/>
          </a:xfrm>
          <a:prstGeom prst="roundRect">
            <a:avLst>
              <a:gd name="adj" fmla="val 10000"/>
            </a:avLst>
          </a:prstGeom>
          <a:solidFill>
            <a:srgbClr val="FFFFFF"/>
          </a:solidFill>
          <a:ln w="9525">
            <a:solidFill>
              <a:srgbClr val="7DD3F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Fail Prediction</a:t>
            </a:r>
            <a:endParaRPr lang="en-US" sz="950" dirty="0"/>
          </a:p>
          <a:p>
            <a:pPr algn="ctr" indent="0" marL="0">
              <a:buNone/>
            </a:pPr>
            <a:r>
              <a:rPr lang="en-US" sz="800" dirty="0">
                <a:solidFill>
                  <a:srgbClr val="0369A1"/>
                </a:solidFill>
                <a:latin typeface="Plus Jakarta Sans" pitchFamily="34" charset="0"/>
                <a:ea typeface="Plus Jakarta Sans" pitchFamily="34" charset="-122"/>
                <a:cs typeface="Plus Jakarta Sans" pitchFamily="34" charset="-120"/>
              </a:rPr>
              <a:t>Tier 2 • scores only</a:t>
            </a:r>
            <a:endParaRPr lang="en-US" sz="950" dirty="0"/>
          </a:p>
        </p:txBody>
      </p:sp>
      <p:sp>
        <p:nvSpPr>
          <p:cNvPr id="13" name="Text 11"/>
          <p:cNvSpPr/>
          <p:nvPr/>
        </p:nvSpPr>
        <p:spPr>
          <a:xfrm>
            <a:off x="3073908" y="1997964"/>
            <a:ext cx="1318260" cy="457200"/>
          </a:xfrm>
          <a:prstGeom prst="roundRect">
            <a:avLst>
              <a:gd name="adj" fmla="val 10000"/>
            </a:avLst>
          </a:prstGeom>
          <a:solidFill>
            <a:srgbClr val="FFFFFF"/>
          </a:solidFill>
          <a:ln w="9525">
            <a:solidFill>
              <a:srgbClr val="7DD3F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&amp; Allocation</a:t>
            </a:r>
            <a:endParaRPr lang="en-US" sz="950" dirty="0"/>
          </a:p>
          <a:p>
            <a:pPr algn="ctr" indent="0" marL="0">
              <a:buNone/>
            </a:pPr>
            <a:r>
              <a:rPr lang="en-US" sz="800" dirty="0">
                <a:solidFill>
                  <a:srgbClr val="0369A1"/>
                </a:solidFill>
                <a:latin typeface="Plus Jakarta Sans" pitchFamily="34" charset="0"/>
                <a:ea typeface="Plus Jakarta Sans" pitchFamily="34" charset="-122"/>
                <a:cs typeface="Plus Jakarta Sans" pitchFamily="34" charset="-120"/>
              </a:rPr>
              <a:t>Tier 3 • in tolerance</a:t>
            </a:r>
            <a:endParaRPr lang="en-US" sz="950" dirty="0"/>
          </a:p>
        </p:txBody>
      </p:sp>
      <p:sp>
        <p:nvSpPr>
          <p:cNvPr id="14" name="Text 12"/>
          <p:cNvSpPr/>
          <p:nvPr/>
        </p:nvSpPr>
        <p:spPr>
          <a:xfrm>
            <a:off x="4456176" y="1997964"/>
            <a:ext cx="1318260" cy="457200"/>
          </a:xfrm>
          <a:prstGeom prst="roundRect">
            <a:avLst>
              <a:gd name="adj" fmla="val 10000"/>
            </a:avLst>
          </a:prstGeom>
          <a:solidFill>
            <a:srgbClr val="FFFFFF"/>
          </a:solidFill>
          <a:ln w="9525">
            <a:solidFill>
              <a:srgbClr val="7DD3F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SSI &amp; Reference Data</a:t>
            </a:r>
            <a:endParaRPr lang="en-US" sz="950" dirty="0"/>
          </a:p>
          <a:p>
            <a:pPr algn="ctr" indent="0" marL="0">
              <a:buNone/>
            </a:pPr>
            <a:r>
              <a:rPr lang="en-US" sz="800" dirty="0">
                <a:solidFill>
                  <a:srgbClr val="0369A1"/>
                </a:solidFill>
                <a:latin typeface="Plus Jakarta Sans" pitchFamily="34" charset="0"/>
                <a:ea typeface="Plus Jakarta Sans" pitchFamily="34" charset="-122"/>
                <a:cs typeface="Plus Jakarta Sans" pitchFamily="34" charset="-120"/>
              </a:rPr>
              <a:t>Tier 1 • proposes</a:t>
            </a:r>
            <a:endParaRPr lang="en-US" sz="950" dirty="0"/>
          </a:p>
        </p:txBody>
      </p:sp>
      <p:sp>
        <p:nvSpPr>
          <p:cNvPr id="15" name="Text 13"/>
          <p:cNvSpPr/>
          <p:nvPr/>
        </p:nvSpPr>
        <p:spPr>
          <a:xfrm>
            <a:off x="5838444" y="1997964"/>
            <a:ext cx="1318260" cy="457200"/>
          </a:xfrm>
          <a:prstGeom prst="roundRect">
            <a:avLst>
              <a:gd name="adj" fmla="val 10000"/>
            </a:avLst>
          </a:prstGeom>
          <a:solidFill>
            <a:srgbClr val="FFFFFF"/>
          </a:solidFill>
          <a:ln w="9525">
            <a:solidFill>
              <a:srgbClr val="7DD3F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Inventory &amp; Funding</a:t>
            </a:r>
            <a:endParaRPr lang="en-US" sz="950" dirty="0"/>
          </a:p>
          <a:p>
            <a:pPr algn="ctr" indent="0" marL="0">
              <a:buNone/>
            </a:pPr>
            <a:r>
              <a:rPr lang="en-US" sz="800" dirty="0">
                <a:solidFill>
                  <a:srgbClr val="0369A1"/>
                </a:solidFill>
                <a:latin typeface="Plus Jakarta Sans" pitchFamily="34" charset="0"/>
                <a:ea typeface="Plus Jakarta Sans" pitchFamily="34" charset="-122"/>
                <a:cs typeface="Plus Jakarta Sans" pitchFamily="34" charset="-120"/>
              </a:rPr>
              <a:t>Tier 3 • within limits</a:t>
            </a:r>
            <a:endParaRPr lang="en-US" sz="950" dirty="0"/>
          </a:p>
        </p:txBody>
      </p:sp>
      <p:sp>
        <p:nvSpPr>
          <p:cNvPr id="16" name="Text 14"/>
          <p:cNvSpPr/>
          <p:nvPr/>
        </p:nvSpPr>
        <p:spPr>
          <a:xfrm>
            <a:off x="7220712" y="1997964"/>
            <a:ext cx="1318260" cy="457200"/>
          </a:xfrm>
          <a:prstGeom prst="roundRect">
            <a:avLst>
              <a:gd name="adj" fmla="val 10000"/>
            </a:avLst>
          </a:prstGeom>
          <a:solidFill>
            <a:srgbClr val="FFFFFF"/>
          </a:solidFill>
          <a:ln w="9525">
            <a:solidFill>
              <a:srgbClr val="7DD3F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Counterparty Comms</a:t>
            </a:r>
            <a:endParaRPr lang="en-US" sz="950" dirty="0"/>
          </a:p>
          <a:p>
            <a:pPr algn="ctr" indent="0" marL="0">
              <a:buNone/>
            </a:pPr>
            <a:r>
              <a:rPr lang="en-US" sz="800" dirty="0">
                <a:solidFill>
                  <a:srgbClr val="0369A1"/>
                </a:solidFill>
                <a:latin typeface="Plus Jakarta Sans" pitchFamily="34" charset="0"/>
                <a:ea typeface="Plus Jakarta Sans" pitchFamily="34" charset="-122"/>
                <a:cs typeface="Plus Jakarta Sans" pitchFamily="34" charset="-120"/>
              </a:rPr>
              <a:t>Tier 2 • templates</a:t>
            </a:r>
            <a:endParaRPr lang="en-US" sz="950" dirty="0"/>
          </a:p>
        </p:txBody>
      </p:sp>
      <p:sp>
        <p:nvSpPr>
          <p:cNvPr id="17" name="Text 15"/>
          <p:cNvSpPr/>
          <p:nvPr/>
        </p:nvSpPr>
        <p:spPr>
          <a:xfrm>
            <a:off x="8602980" y="1997964"/>
            <a:ext cx="1318260" cy="457200"/>
          </a:xfrm>
          <a:prstGeom prst="roundRect">
            <a:avLst>
              <a:gd name="adj" fmla="val 10000"/>
            </a:avLst>
          </a:prstGeom>
          <a:solidFill>
            <a:srgbClr val="FFFFFF"/>
          </a:solidFill>
          <a:ln w="9525">
            <a:solidFill>
              <a:srgbClr val="7DD3F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Penalty &amp; Accounting</a:t>
            </a:r>
            <a:endParaRPr lang="en-US" sz="950" dirty="0"/>
          </a:p>
          <a:p>
            <a:pPr algn="ctr" indent="0" marL="0">
              <a:buNone/>
            </a:pPr>
            <a:r>
              <a:rPr lang="en-US" sz="800" dirty="0">
                <a:solidFill>
                  <a:srgbClr val="0369A1"/>
                </a:solidFill>
                <a:latin typeface="Plus Jakarta Sans" pitchFamily="34" charset="0"/>
                <a:ea typeface="Plus Jakarta Sans" pitchFamily="34" charset="-122"/>
                <a:cs typeface="Plus Jakarta Sans" pitchFamily="34" charset="-120"/>
              </a:rPr>
              <a:t>Tier 3 • accruals</a:t>
            </a:r>
            <a:endParaRPr lang="en-US" sz="950" dirty="0"/>
          </a:p>
        </p:txBody>
      </p:sp>
      <p:sp>
        <p:nvSpPr>
          <p:cNvPr id="18" name="Shape 16"/>
          <p:cNvSpPr/>
          <p:nvPr/>
        </p:nvSpPr>
        <p:spPr>
          <a:xfrm>
            <a:off x="548640" y="2560320"/>
            <a:ext cx="9427464" cy="566928"/>
          </a:xfrm>
          <a:prstGeom prst="roundRect">
            <a:avLst>
              <a:gd name="adj" fmla="val 9677"/>
            </a:avLst>
          </a:prstGeom>
          <a:solidFill>
            <a:srgbClr val="F0F9FF"/>
          </a:solidFill>
          <a:ln w="9525">
            <a:solidFill>
              <a:srgbClr val="BAE6FD"/>
            </a:solidFill>
            <a:prstDash val="solid"/>
          </a:ln>
        </p:spPr>
      </p:sp>
      <p:sp>
        <p:nvSpPr>
          <p:cNvPr id="19" name="Text 17"/>
          <p:cNvSpPr txBox="1"/>
          <p:nvPr/>
        </p:nvSpPr>
        <p:spPr>
          <a:xfrm>
            <a:off x="640080" y="256032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dedicated, federated</a:t>
            </a:r>
            <a:endParaRPr lang="en-US" sz="1200" dirty="0"/>
          </a:p>
        </p:txBody>
      </p:sp>
      <p:sp>
        <p:nvSpPr>
          <p:cNvPr id="20" name="Text 18"/>
          <p:cNvSpPr/>
          <p:nvPr/>
        </p:nvSpPr>
        <p:spPr>
          <a:xfrm>
            <a:off x="1691640" y="2615184"/>
            <a:ext cx="2009394" cy="457200"/>
          </a:xfrm>
          <a:prstGeom prst="roundRect">
            <a:avLst>
              <a:gd name="adj" fmla="val 10000"/>
            </a:avLst>
          </a:prstGeom>
          <a:solidFill>
            <a:srgbClr val="FFFFFF"/>
          </a:solidFill>
          <a:ln w="9525">
            <a:solidFill>
              <a:srgbClr val="BAE6FD"/>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Settlement Orchestrator</a:t>
            </a:r>
            <a:endParaRPr lang="en-US" sz="1050" dirty="0"/>
          </a:p>
          <a:p>
            <a:pPr algn="ctr" indent="0" marL="0">
              <a:buNone/>
            </a:pPr>
            <a:r>
              <a:rPr lang="en-US" sz="900" dirty="0">
                <a:solidFill>
                  <a:srgbClr val="0369A1"/>
                </a:solidFill>
                <a:latin typeface="Plus Jakarta Sans" pitchFamily="34" charset="0"/>
                <a:ea typeface="Plus Jakarta Sans" pitchFamily="34" charset="-122"/>
                <a:cs typeface="Plus Jakarta Sans" pitchFamily="34" charset="-120"/>
              </a:rPr>
              <a:t>dedicated ops tier</a:t>
            </a:r>
            <a:endParaRPr lang="en-US" sz="1050" dirty="0"/>
          </a:p>
        </p:txBody>
      </p:sp>
      <p:sp>
        <p:nvSpPr>
          <p:cNvPr id="21" name="Text 19"/>
          <p:cNvSpPr/>
          <p:nvPr/>
        </p:nvSpPr>
        <p:spPr>
          <a:xfrm>
            <a:off x="3765042" y="2615184"/>
            <a:ext cx="2009394" cy="457200"/>
          </a:xfrm>
          <a:prstGeom prst="roundRect">
            <a:avLst>
              <a:gd name="adj" fmla="val 10000"/>
            </a:avLst>
          </a:prstGeom>
          <a:solidFill>
            <a:srgbClr val="FFFFFF"/>
          </a:solidFill>
          <a:ln w="9525">
            <a:solidFill>
              <a:srgbClr val="BAE6FD"/>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Cutoff-aware queue</a:t>
            </a:r>
            <a:endParaRPr lang="en-US" sz="1050" dirty="0"/>
          </a:p>
          <a:p>
            <a:pPr algn="ctr" indent="0" marL="0">
              <a:buNone/>
            </a:pPr>
            <a:r>
              <a:rPr lang="en-US" sz="900" dirty="0">
                <a:solidFill>
                  <a:srgbClr val="0369A1"/>
                </a:solidFill>
                <a:latin typeface="Plus Jakarta Sans" pitchFamily="34" charset="0"/>
                <a:ea typeface="Plus Jakarta Sans" pitchFamily="34" charset="-122"/>
                <a:cs typeface="Plus Jakarta Sans" pitchFamily="34" charset="-120"/>
              </a:rPr>
              <a:t>value • time • risk</a:t>
            </a:r>
            <a:endParaRPr lang="en-US" sz="1050" dirty="0"/>
          </a:p>
        </p:txBody>
      </p:sp>
      <p:sp>
        <p:nvSpPr>
          <p:cNvPr id="22" name="Text 20"/>
          <p:cNvSpPr/>
          <p:nvPr/>
        </p:nvSpPr>
        <p:spPr>
          <a:xfrm>
            <a:off x="5838444" y="2615184"/>
            <a:ext cx="2009394" cy="457200"/>
          </a:xfrm>
          <a:prstGeom prst="roundRect">
            <a:avLst>
              <a:gd name="adj" fmla="val 10000"/>
            </a:avLst>
          </a:prstGeom>
          <a:solidFill>
            <a:srgbClr val="FFFFFF"/>
          </a:solidFill>
          <a:ln w="9525">
            <a:solidFill>
              <a:srgbClr val="BAE6FD"/>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A2A delegation</a:t>
            </a:r>
            <a:endParaRPr lang="en-US" sz="1050" dirty="0"/>
          </a:p>
          <a:p>
            <a:pPr algn="ctr" indent="0" marL="0">
              <a:buNone/>
            </a:pPr>
            <a:r>
              <a:rPr lang="en-US" sz="900" dirty="0">
                <a:solidFill>
                  <a:srgbClr val="0369A1"/>
                </a:solidFill>
                <a:latin typeface="Plus Jakarta Sans" pitchFamily="34" charset="0"/>
                <a:ea typeface="Plus Jakarta Sans" pitchFamily="34" charset="-122"/>
                <a:cs typeface="Plus Jakarta Sans" pitchFamily="34" charset="-120"/>
              </a:rPr>
              <a:t>internal agents</a:t>
            </a:r>
            <a:endParaRPr lang="en-US" sz="1050" dirty="0"/>
          </a:p>
        </p:txBody>
      </p:sp>
      <p:sp>
        <p:nvSpPr>
          <p:cNvPr id="23" name="Text 21"/>
          <p:cNvSpPr/>
          <p:nvPr/>
        </p:nvSpPr>
        <p:spPr>
          <a:xfrm>
            <a:off x="7911846" y="2615184"/>
            <a:ext cx="2009394" cy="457200"/>
          </a:xfrm>
          <a:prstGeom prst="roundRect">
            <a:avLst>
              <a:gd name="adj" fmla="val 10000"/>
            </a:avLst>
          </a:prstGeom>
          <a:solidFill>
            <a:srgbClr val="FFFFFF"/>
          </a:solidFill>
          <a:ln w="9525">
            <a:solidFill>
              <a:srgbClr val="BAE6FD"/>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Event streams</a:t>
            </a:r>
            <a:endParaRPr lang="en-US" sz="1050" dirty="0"/>
          </a:p>
          <a:p>
            <a:pPr algn="ctr" indent="0" marL="0">
              <a:buNone/>
            </a:pPr>
            <a:r>
              <a:rPr lang="en-US" sz="900" dirty="0">
                <a:solidFill>
                  <a:srgbClr val="0369A1"/>
                </a:solidFill>
                <a:latin typeface="Plus Jakarta Sans" pitchFamily="34" charset="0"/>
                <a:ea typeface="Plus Jakarta Sans" pitchFamily="34" charset="-122"/>
                <a:cs typeface="Plus Jakarta Sans" pitchFamily="34" charset="-120"/>
              </a:rPr>
              <a:t>trade • match • status</a:t>
            </a:r>
            <a:endParaRPr lang="en-US" sz="1050" dirty="0"/>
          </a:p>
        </p:txBody>
      </p:sp>
      <p:sp>
        <p:nvSpPr>
          <p:cNvPr id="24" name="Shape 22"/>
          <p:cNvSpPr/>
          <p:nvPr/>
        </p:nvSpPr>
        <p:spPr>
          <a:xfrm>
            <a:off x="548640" y="3177540"/>
            <a:ext cx="9427464" cy="566928"/>
          </a:xfrm>
          <a:prstGeom prst="roundRect">
            <a:avLst>
              <a:gd name="adj" fmla="val 9677"/>
            </a:avLst>
          </a:prstGeom>
          <a:solidFill>
            <a:srgbClr val="0F172A"/>
          </a:solidFill>
          <a:ln w="9525">
            <a:solidFill>
              <a:srgbClr val="0F172A"/>
            </a:solidFill>
            <a:prstDash val="solid"/>
          </a:ln>
        </p:spPr>
      </p:sp>
      <p:sp>
        <p:nvSpPr>
          <p:cNvPr id="25" name="Text 23"/>
          <p:cNvSpPr txBox="1"/>
          <p:nvPr/>
        </p:nvSpPr>
        <p:spPr>
          <a:xfrm>
            <a:off x="640080" y="3177540"/>
            <a:ext cx="1014984" cy="566928"/>
          </a:xfrm>
          <a:prstGeom prst="rect">
            <a:avLst/>
          </a:prstGeom>
          <a:noFill/>
          <a:ln/>
        </p:spPr>
        <p:txBody>
          <a:bodyPr wrap="square" lIns="0" tIns="0" rIns="0" bIns="0" rtlCol="0" anchor="ctr"/>
          <a:lstStyle/>
          <a:p>
            <a:pPr indent="0" marL="0">
              <a:buNone/>
            </a:pPr>
            <a:r>
              <a:rPr lang="en-US" sz="850" b="1" spc="30" kern="0" dirty="0">
                <a:solidFill>
                  <a:srgbClr val="38BDF8"/>
                </a:solidFill>
                <a:latin typeface="Plus Jakarta Sans" pitchFamily="34" charset="0"/>
                <a:ea typeface="Plus Jakarta Sans" pitchFamily="34" charset="-122"/>
                <a:cs typeface="Plus Jakarta Sans" pitchFamily="34" charset="-120"/>
              </a:rPr>
              <a:t>CONTROL PLANE</a:t>
            </a:r>
            <a:endParaRPr lang="en-US" sz="1200" dirty="0"/>
          </a:p>
        </p:txBody>
      </p:sp>
      <p:sp>
        <p:nvSpPr>
          <p:cNvPr id="26" name="Text 24"/>
          <p:cNvSpPr/>
          <p:nvPr/>
        </p:nvSpPr>
        <p:spPr>
          <a:xfrm>
            <a:off x="1691640" y="3232404"/>
            <a:ext cx="1318260" cy="457200"/>
          </a:xfrm>
          <a:prstGeom prst="roundRect">
            <a:avLst>
              <a:gd name="adj" fmla="val 10000"/>
            </a:avLst>
          </a:prstGeom>
          <a:solidFill>
            <a:srgbClr val="1E293B"/>
          </a:solidFill>
          <a:ln w="9525">
            <a:solidFill>
              <a:srgbClr val="334155"/>
            </a:solidFill>
          </a:ln>
        </p:spPr>
        <p:txBody>
          <a:bodyPr wrap="square" lIns="25400" tIns="25400" rIns="25400" bIns="25400" rtlCol="0" anchor="ctr"/>
          <a:lstStyle/>
          <a:p>
            <a:pPr algn="ctr" indent="0" marL="0">
              <a:buNone/>
            </a:pPr>
            <a:r>
              <a:rPr lang="en-US" sz="950" b="1" dirty="0">
                <a:solidFill>
                  <a:srgbClr val="FFFFFF"/>
                </a:solidFill>
                <a:latin typeface="Plus Jakarta Sans" pitchFamily="34" charset="0"/>
                <a:ea typeface="Plus Jakarta Sans" pitchFamily="34" charset="-122"/>
                <a:cs typeface="Plus Jakarta Sans" pitchFamily="34" charset="-120"/>
              </a:rPr>
              <a:t>Registry</a:t>
            </a:r>
            <a:endParaRPr lang="en-US" sz="950" dirty="0"/>
          </a:p>
          <a:p>
            <a:pPr algn="ctr" indent="0" marL="0">
              <a:buNone/>
            </a:pPr>
            <a:r>
              <a:rPr lang="en-US" sz="800" dirty="0">
                <a:solidFill>
                  <a:srgbClr val="7DD3FC"/>
                </a:solidFill>
                <a:latin typeface="Plus Jakarta Sans" pitchFamily="34" charset="0"/>
                <a:ea typeface="Plus Jakarta Sans" pitchFamily="34" charset="-122"/>
                <a:cs typeface="Plus Jakarta Sans" pitchFamily="34" charset="-120"/>
              </a:rPr>
              <a:t>agents • tools</a:t>
            </a:r>
            <a:endParaRPr lang="en-US" sz="950" dirty="0"/>
          </a:p>
        </p:txBody>
      </p:sp>
      <p:sp>
        <p:nvSpPr>
          <p:cNvPr id="27" name="Text 25"/>
          <p:cNvSpPr/>
          <p:nvPr/>
        </p:nvSpPr>
        <p:spPr>
          <a:xfrm>
            <a:off x="3073908" y="3232404"/>
            <a:ext cx="1318260" cy="457200"/>
          </a:xfrm>
          <a:prstGeom prst="roundRect">
            <a:avLst>
              <a:gd name="adj" fmla="val 10000"/>
            </a:avLst>
          </a:prstGeom>
          <a:solidFill>
            <a:srgbClr val="1E293B"/>
          </a:solidFill>
          <a:ln w="9525">
            <a:solidFill>
              <a:srgbClr val="334155"/>
            </a:solidFill>
          </a:ln>
        </p:spPr>
        <p:txBody>
          <a:bodyPr wrap="square" lIns="25400" tIns="25400" rIns="25400" bIns="25400" rtlCol="0" anchor="ctr"/>
          <a:lstStyle/>
          <a:p>
            <a:pPr algn="ctr" indent="0" marL="0">
              <a:buNone/>
            </a:pPr>
            <a:r>
              <a:rPr lang="en-US" sz="950" b="1" dirty="0">
                <a:solidFill>
                  <a:srgbClr val="FFFFFF"/>
                </a:solidFill>
                <a:latin typeface="Plus Jakarta Sans" pitchFamily="34" charset="0"/>
                <a:ea typeface="Plus Jakarta Sans" pitchFamily="34" charset="-122"/>
                <a:cs typeface="Plus Jakarta Sans" pitchFamily="34" charset="-120"/>
              </a:rPr>
              <a:t>AI gateway</a:t>
            </a:r>
            <a:endParaRPr lang="en-US" sz="950" dirty="0"/>
          </a:p>
          <a:p>
            <a:pPr algn="ctr" indent="0" marL="0">
              <a:buNone/>
            </a:pPr>
            <a:r>
              <a:rPr lang="en-US" sz="800" dirty="0">
                <a:solidFill>
                  <a:srgbClr val="7DD3FC"/>
                </a:solidFill>
                <a:latin typeface="Plus Jakarta Sans" pitchFamily="34" charset="0"/>
                <a:ea typeface="Plus Jakarta Sans" pitchFamily="34" charset="-122"/>
                <a:cs typeface="Plus Jakarta Sans" pitchFamily="34" charset="-120"/>
              </a:rPr>
              <a:t>LLM • MCP • A2A • DLP</a:t>
            </a:r>
            <a:endParaRPr lang="en-US" sz="950" dirty="0"/>
          </a:p>
        </p:txBody>
      </p:sp>
      <p:sp>
        <p:nvSpPr>
          <p:cNvPr id="28" name="Text 26"/>
          <p:cNvSpPr/>
          <p:nvPr/>
        </p:nvSpPr>
        <p:spPr>
          <a:xfrm>
            <a:off x="4456176" y="3232404"/>
            <a:ext cx="1318260" cy="457200"/>
          </a:xfrm>
          <a:prstGeom prst="roundRect">
            <a:avLst>
              <a:gd name="adj" fmla="val 10000"/>
            </a:avLst>
          </a:prstGeom>
          <a:solidFill>
            <a:srgbClr val="1E293B"/>
          </a:solidFill>
          <a:ln w="9525">
            <a:solidFill>
              <a:srgbClr val="334155"/>
            </a:solidFill>
          </a:ln>
        </p:spPr>
        <p:txBody>
          <a:bodyPr wrap="square" lIns="25400" tIns="25400" rIns="25400" bIns="25400" rtlCol="0" anchor="ctr"/>
          <a:lstStyle/>
          <a:p>
            <a:pPr algn="ctr" indent="0" marL="0">
              <a:buNone/>
            </a:pPr>
            <a:r>
              <a:rPr lang="en-US" sz="950" b="1" dirty="0">
                <a:solidFill>
                  <a:srgbClr val="FFFFFF"/>
                </a:solidFill>
                <a:latin typeface="Plus Jakarta Sans" pitchFamily="34" charset="0"/>
                <a:ea typeface="Plus Jakarta Sans" pitchFamily="34" charset="-122"/>
                <a:cs typeface="Plus Jakarta Sans" pitchFamily="34" charset="-120"/>
              </a:rPr>
              <a:t>Policy decision point</a:t>
            </a:r>
            <a:endParaRPr lang="en-US" sz="950" dirty="0"/>
          </a:p>
          <a:p>
            <a:pPr algn="ctr" indent="0" marL="0">
              <a:buNone/>
            </a:pPr>
            <a:r>
              <a:rPr lang="en-US" sz="800" dirty="0">
                <a:solidFill>
                  <a:srgbClr val="7DD3FC"/>
                </a:solidFill>
                <a:latin typeface="Plus Jakarta Sans" pitchFamily="34" charset="0"/>
                <a:ea typeface="Plus Jakarta Sans" pitchFamily="34" charset="-122"/>
                <a:cs typeface="Plus Jakarta Sans" pitchFamily="34" charset="-120"/>
              </a:rPr>
              <a:t>limits • 4-eyes</a:t>
            </a:r>
            <a:endParaRPr lang="en-US" sz="950" dirty="0"/>
          </a:p>
        </p:txBody>
      </p:sp>
      <p:sp>
        <p:nvSpPr>
          <p:cNvPr id="29" name="Text 27"/>
          <p:cNvSpPr/>
          <p:nvPr/>
        </p:nvSpPr>
        <p:spPr>
          <a:xfrm>
            <a:off x="5838444" y="3232404"/>
            <a:ext cx="1318260" cy="457200"/>
          </a:xfrm>
          <a:prstGeom prst="roundRect">
            <a:avLst>
              <a:gd name="adj" fmla="val 10000"/>
            </a:avLst>
          </a:prstGeom>
          <a:solidFill>
            <a:srgbClr val="1E293B"/>
          </a:solidFill>
          <a:ln w="9525">
            <a:solidFill>
              <a:srgbClr val="334155"/>
            </a:solidFill>
          </a:ln>
        </p:spPr>
        <p:txBody>
          <a:bodyPr wrap="square" lIns="25400" tIns="25400" rIns="25400" bIns="25400" rtlCol="0" anchor="ctr"/>
          <a:lstStyle/>
          <a:p>
            <a:pPr algn="ctr" indent="0" marL="0">
              <a:buNone/>
            </a:pPr>
            <a:r>
              <a:rPr lang="en-US" sz="950" b="1" dirty="0">
                <a:solidFill>
                  <a:srgbClr val="FFFFFF"/>
                </a:solidFill>
                <a:latin typeface="Plus Jakarta Sans" pitchFamily="34" charset="0"/>
                <a:ea typeface="Plus Jakarta Sans" pitchFamily="34" charset="-122"/>
                <a:cs typeface="Plus Jakarta Sans" pitchFamily="34" charset="-120"/>
              </a:rPr>
              <a:t>Identity &amp; delegation</a:t>
            </a:r>
            <a:endParaRPr lang="en-US" sz="950" dirty="0"/>
          </a:p>
          <a:p>
            <a:pPr algn="ctr" indent="0" marL="0">
              <a:buNone/>
            </a:pPr>
            <a:r>
              <a:rPr lang="en-US" sz="800" dirty="0">
                <a:solidFill>
                  <a:srgbClr val="7DD3FC"/>
                </a:solidFill>
                <a:latin typeface="Plus Jakarta Sans" pitchFamily="34" charset="0"/>
                <a:ea typeface="Plus Jakarta Sans" pitchFamily="34" charset="-122"/>
                <a:cs typeface="Plus Jakarta Sans" pitchFamily="34" charset="-120"/>
              </a:rPr>
              <a:t>agent IDs • OBO</a:t>
            </a:r>
            <a:endParaRPr lang="en-US" sz="950" dirty="0"/>
          </a:p>
        </p:txBody>
      </p:sp>
      <p:sp>
        <p:nvSpPr>
          <p:cNvPr id="30" name="Text 28"/>
          <p:cNvSpPr/>
          <p:nvPr/>
        </p:nvSpPr>
        <p:spPr>
          <a:xfrm>
            <a:off x="7220712" y="3232404"/>
            <a:ext cx="1318260" cy="457200"/>
          </a:xfrm>
          <a:prstGeom prst="roundRect">
            <a:avLst>
              <a:gd name="adj" fmla="val 10000"/>
            </a:avLst>
          </a:prstGeom>
          <a:solidFill>
            <a:srgbClr val="1E293B"/>
          </a:solidFill>
          <a:ln w="9525">
            <a:solidFill>
              <a:srgbClr val="334155"/>
            </a:solidFill>
          </a:ln>
        </p:spPr>
        <p:txBody>
          <a:bodyPr wrap="square" lIns="25400" tIns="25400" rIns="25400" bIns="25400" rtlCol="0" anchor="ctr"/>
          <a:lstStyle/>
          <a:p>
            <a:pPr algn="ctr" indent="0" marL="0">
              <a:buNone/>
            </a:pPr>
            <a:r>
              <a:rPr lang="en-US" sz="950" b="1" dirty="0">
                <a:solidFill>
                  <a:srgbClr val="FFFFFF"/>
                </a:solidFill>
                <a:latin typeface="Plus Jakarta Sans" pitchFamily="34" charset="0"/>
                <a:ea typeface="Plus Jakarta Sans" pitchFamily="34" charset="-122"/>
                <a:cs typeface="Plus Jakarta Sans" pitchFamily="34" charset="-120"/>
              </a:rPr>
              <a:t>Evals, cost &amp; SLOs</a:t>
            </a:r>
            <a:endParaRPr lang="en-US" sz="950" dirty="0"/>
          </a:p>
          <a:p>
            <a:pPr algn="ctr" indent="0" marL="0">
              <a:buNone/>
            </a:pPr>
            <a:r>
              <a:rPr lang="en-US" sz="800" dirty="0">
                <a:solidFill>
                  <a:srgbClr val="7DD3FC"/>
                </a:solidFill>
                <a:latin typeface="Plus Jakarta Sans" pitchFamily="34" charset="0"/>
                <a:ea typeface="Plus Jakarta Sans" pitchFamily="34" charset="-122"/>
                <a:cs typeface="Plus Jakarta Sans" pitchFamily="34" charset="-120"/>
              </a:rPr>
              <a:t>per market cutoff</a:t>
            </a:r>
            <a:endParaRPr lang="en-US" sz="950" dirty="0"/>
          </a:p>
        </p:txBody>
      </p:sp>
      <p:sp>
        <p:nvSpPr>
          <p:cNvPr id="31" name="Text 29"/>
          <p:cNvSpPr/>
          <p:nvPr/>
        </p:nvSpPr>
        <p:spPr>
          <a:xfrm>
            <a:off x="8602980" y="3232404"/>
            <a:ext cx="1318260" cy="457200"/>
          </a:xfrm>
          <a:prstGeom prst="roundRect">
            <a:avLst>
              <a:gd name="adj" fmla="val 10000"/>
            </a:avLst>
          </a:prstGeom>
          <a:solidFill>
            <a:srgbClr val="1E293B"/>
          </a:solidFill>
          <a:ln w="9525">
            <a:solidFill>
              <a:srgbClr val="334155"/>
            </a:solidFill>
          </a:ln>
        </p:spPr>
        <p:txBody>
          <a:bodyPr wrap="square" lIns="25400" tIns="25400" rIns="25400" bIns="25400" rtlCol="0" anchor="ctr"/>
          <a:lstStyle/>
          <a:p>
            <a:pPr algn="ctr" indent="0" marL="0">
              <a:buNone/>
            </a:pPr>
            <a:r>
              <a:rPr lang="en-US" sz="950" b="1" dirty="0">
                <a:solidFill>
                  <a:srgbClr val="FFFFFF"/>
                </a:solidFill>
                <a:latin typeface="Plus Jakarta Sans" pitchFamily="34" charset="0"/>
                <a:ea typeface="Plus Jakarta Sans" pitchFamily="34" charset="-122"/>
                <a:cs typeface="Plus Jakarta Sans" pitchFamily="34" charset="-120"/>
              </a:rPr>
              <a:t>Kill switch &amp; failover</a:t>
            </a:r>
            <a:endParaRPr lang="en-US" sz="950" dirty="0"/>
          </a:p>
          <a:p>
            <a:pPr algn="ctr" indent="0" marL="0">
              <a:buNone/>
            </a:pPr>
            <a:r>
              <a:rPr lang="en-US" sz="800" dirty="0">
                <a:solidFill>
                  <a:srgbClr val="7DD3FC"/>
                </a:solidFill>
                <a:latin typeface="Plus Jakarta Sans" pitchFamily="34" charset="0"/>
                <a:ea typeface="Plus Jakarta Sans" pitchFamily="34" charset="-122"/>
                <a:cs typeface="Plus Jakarta Sans" pitchFamily="34" charset="-120"/>
              </a:rPr>
              <a:t>agent • model</a:t>
            </a:r>
            <a:endParaRPr lang="en-US" sz="950" dirty="0"/>
          </a:p>
        </p:txBody>
      </p:sp>
      <p:sp>
        <p:nvSpPr>
          <p:cNvPr id="32" name="Shape 30"/>
          <p:cNvSpPr/>
          <p:nvPr/>
        </p:nvSpPr>
        <p:spPr>
          <a:xfrm>
            <a:off x="548640" y="3794760"/>
            <a:ext cx="9427464" cy="566928"/>
          </a:xfrm>
          <a:prstGeom prst="roundRect">
            <a:avLst>
              <a:gd name="adj" fmla="val 9677"/>
            </a:avLst>
          </a:prstGeom>
          <a:solidFill>
            <a:srgbClr val="F5F3FF"/>
          </a:solidFill>
          <a:ln w="9525">
            <a:solidFill>
              <a:srgbClr val="DDD6FE"/>
            </a:solidFill>
            <a:prstDash val="solid"/>
          </a:ln>
        </p:spPr>
      </p:sp>
      <p:sp>
        <p:nvSpPr>
          <p:cNvPr id="33" name="Text 31"/>
          <p:cNvSpPr txBox="1"/>
          <p:nvPr/>
        </p:nvSpPr>
        <p:spPr>
          <a:xfrm>
            <a:off x="640080" y="3794760"/>
            <a:ext cx="1014984" cy="56692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routed by policy</a:t>
            </a:r>
            <a:endParaRPr lang="en-US" sz="1200" dirty="0"/>
          </a:p>
        </p:txBody>
      </p:sp>
      <p:sp>
        <p:nvSpPr>
          <p:cNvPr id="34" name="Text 32"/>
          <p:cNvSpPr/>
          <p:nvPr/>
        </p:nvSpPr>
        <p:spPr>
          <a:xfrm>
            <a:off x="1691640" y="3849624"/>
            <a:ext cx="2009394" cy="457200"/>
          </a:xfrm>
          <a:prstGeom prst="roundRect">
            <a:avLst>
              <a:gd name="adj" fmla="val 10000"/>
            </a:avLst>
          </a:prstGeom>
          <a:solidFill>
            <a:srgbClr val="FFFFFF"/>
          </a:solidFill>
          <a:ln w="9525">
            <a:solidFill>
              <a:srgbClr val="DDD6FE"/>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Fine-tuned SLM</a:t>
            </a:r>
            <a:endParaRPr lang="en-US" sz="1050" dirty="0"/>
          </a:p>
          <a:p>
            <a:pPr algn="ctr" indent="0" marL="0">
              <a:buNone/>
            </a:pPr>
            <a:r>
              <a:rPr lang="en-US" sz="900" dirty="0">
                <a:solidFill>
                  <a:srgbClr val="6D28D9"/>
                </a:solidFill>
                <a:latin typeface="Plus Jakarta Sans" pitchFamily="34" charset="0"/>
                <a:ea typeface="Plus Jakarta Sans" pitchFamily="34" charset="-122"/>
                <a:cs typeface="Plus Jakarta Sans" pitchFamily="34" charset="-120"/>
              </a:rPr>
              <a:t>self-hosted • parsing</a:t>
            </a:r>
            <a:endParaRPr lang="en-US" sz="1050" dirty="0"/>
          </a:p>
        </p:txBody>
      </p:sp>
      <p:sp>
        <p:nvSpPr>
          <p:cNvPr id="35" name="Text 33"/>
          <p:cNvSpPr/>
          <p:nvPr/>
        </p:nvSpPr>
        <p:spPr>
          <a:xfrm>
            <a:off x="3765042" y="3849624"/>
            <a:ext cx="2009394" cy="457200"/>
          </a:xfrm>
          <a:prstGeom prst="roundRect">
            <a:avLst>
              <a:gd name="adj" fmla="val 10000"/>
            </a:avLst>
          </a:prstGeom>
          <a:solidFill>
            <a:srgbClr val="FFFFFF"/>
          </a:solidFill>
          <a:ln w="9525">
            <a:solidFill>
              <a:srgbClr val="DDD6FE"/>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Frontier LLM</a:t>
            </a:r>
            <a:endParaRPr lang="en-US" sz="1050" dirty="0"/>
          </a:p>
          <a:p>
            <a:pPr algn="ctr" indent="0" marL="0">
              <a:buNone/>
            </a:pPr>
            <a:r>
              <a:rPr lang="en-US" sz="900" dirty="0">
                <a:solidFill>
                  <a:srgbClr val="6D28D9"/>
                </a:solidFill>
                <a:latin typeface="Plus Jakarta Sans" pitchFamily="34" charset="0"/>
                <a:ea typeface="Plus Jakarta Sans" pitchFamily="34" charset="-122"/>
                <a:cs typeface="Plus Jakarta Sans" pitchFamily="34" charset="-120"/>
              </a:rPr>
              <a:t>private endpoint • drafting</a:t>
            </a:r>
            <a:endParaRPr lang="en-US" sz="1050" dirty="0"/>
          </a:p>
        </p:txBody>
      </p:sp>
      <p:sp>
        <p:nvSpPr>
          <p:cNvPr id="36" name="Text 34"/>
          <p:cNvSpPr/>
          <p:nvPr/>
        </p:nvSpPr>
        <p:spPr>
          <a:xfrm>
            <a:off x="5838444" y="3849624"/>
            <a:ext cx="2009394" cy="457200"/>
          </a:xfrm>
          <a:prstGeom prst="roundRect">
            <a:avLst>
              <a:gd name="adj" fmla="val 10000"/>
            </a:avLst>
          </a:prstGeom>
          <a:solidFill>
            <a:srgbClr val="FFFFFF"/>
          </a:solidFill>
          <a:ln w="9525">
            <a:solidFill>
              <a:srgbClr val="DDD6FE"/>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Fail-prediction ML</a:t>
            </a:r>
            <a:endParaRPr lang="en-US" sz="1050" dirty="0"/>
          </a:p>
          <a:p>
            <a:pPr algn="ctr" indent="0" marL="0">
              <a:buNone/>
            </a:pPr>
            <a:r>
              <a:rPr lang="en-US" sz="900" dirty="0">
                <a:solidFill>
                  <a:srgbClr val="6D28D9"/>
                </a:solidFill>
                <a:latin typeface="Plus Jakarta Sans" pitchFamily="34" charset="0"/>
                <a:ea typeface="Plus Jakarta Sans" pitchFamily="34" charset="-122"/>
                <a:cs typeface="Plus Jakarta Sans" pitchFamily="34" charset="-120"/>
              </a:rPr>
              <a:t>gradient-boosted trees</a:t>
            </a:r>
            <a:endParaRPr lang="en-US" sz="1050" dirty="0"/>
          </a:p>
        </p:txBody>
      </p:sp>
      <p:sp>
        <p:nvSpPr>
          <p:cNvPr id="37" name="Text 35"/>
          <p:cNvSpPr/>
          <p:nvPr/>
        </p:nvSpPr>
        <p:spPr>
          <a:xfrm>
            <a:off x="7911846" y="3849624"/>
            <a:ext cx="2009394" cy="457200"/>
          </a:xfrm>
          <a:prstGeom prst="roundRect">
            <a:avLst>
              <a:gd name="adj" fmla="val 10000"/>
            </a:avLst>
          </a:prstGeom>
          <a:solidFill>
            <a:srgbClr val="FFFFFF"/>
          </a:solidFill>
          <a:ln w="9525">
            <a:solidFill>
              <a:srgbClr val="DDD6FE"/>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Rules engine</a:t>
            </a:r>
            <a:endParaRPr lang="en-US" sz="1050" dirty="0"/>
          </a:p>
          <a:p>
            <a:pPr algn="ctr" indent="0" marL="0">
              <a:buNone/>
            </a:pPr>
            <a:r>
              <a:rPr lang="en-US" sz="900" dirty="0">
                <a:solidFill>
                  <a:srgbClr val="6D28D9"/>
                </a:solidFill>
                <a:latin typeface="Plus Jakarta Sans" pitchFamily="34" charset="0"/>
                <a:ea typeface="Plus Jakarta Sans" pitchFamily="34" charset="-122"/>
                <a:cs typeface="Plus Jakarta Sans" pitchFamily="34" charset="-120"/>
              </a:rPr>
              <a:t>tolerances • penalties</a:t>
            </a:r>
            <a:endParaRPr lang="en-US" sz="1050" dirty="0"/>
          </a:p>
        </p:txBody>
      </p:sp>
      <p:sp>
        <p:nvSpPr>
          <p:cNvPr id="38" name="Shape 36"/>
          <p:cNvSpPr/>
          <p:nvPr/>
        </p:nvSpPr>
        <p:spPr>
          <a:xfrm>
            <a:off x="548640" y="4411980"/>
            <a:ext cx="9427464" cy="566928"/>
          </a:xfrm>
          <a:prstGeom prst="roundRect">
            <a:avLst>
              <a:gd name="adj" fmla="val 9677"/>
            </a:avLst>
          </a:prstGeom>
          <a:solidFill>
            <a:srgbClr val="F0FDFA"/>
          </a:solidFill>
          <a:ln w="9525">
            <a:solidFill>
              <a:srgbClr val="99F6E4"/>
            </a:solidFill>
            <a:prstDash val="solid"/>
          </a:ln>
        </p:spPr>
      </p:sp>
      <p:sp>
        <p:nvSpPr>
          <p:cNvPr id="39" name="Text 37"/>
          <p:cNvSpPr txBox="1"/>
          <p:nvPr/>
        </p:nvSpPr>
        <p:spPr>
          <a:xfrm>
            <a:off x="640080" y="4411980"/>
            <a:ext cx="1014984" cy="56692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0" name="Text 38"/>
          <p:cNvSpPr/>
          <p:nvPr/>
        </p:nvSpPr>
        <p:spPr>
          <a:xfrm>
            <a:off x="1691640" y="4466844"/>
            <a:ext cx="1318260" cy="457200"/>
          </a:xfrm>
          <a:prstGeom prst="roundRect">
            <a:avLst>
              <a:gd name="adj" fmla="val 10000"/>
            </a:avLst>
          </a:prstGeom>
          <a:solidFill>
            <a:srgbClr val="FFFFFF"/>
          </a:solidFill>
          <a:ln w="9525">
            <a:solidFill>
              <a:srgbClr val="99F6E4"/>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Trade &amp; booking</a:t>
            </a:r>
            <a:endParaRPr lang="en-US" sz="950" dirty="0"/>
          </a:p>
          <a:p>
            <a:pPr algn="ctr" indent="0" marL="0">
              <a:buNone/>
            </a:pPr>
            <a:r>
              <a:rPr lang="en-US" sz="800" dirty="0">
                <a:solidFill>
                  <a:srgbClr val="0F766E"/>
                </a:solidFill>
                <a:latin typeface="Plus Jakarta Sans" pitchFamily="34" charset="0"/>
                <a:ea typeface="Plus Jakarta Sans" pitchFamily="34" charset="-122"/>
                <a:cs typeface="Plus Jakarta Sans" pitchFamily="34" charset="-120"/>
              </a:rPr>
              <a:t>read • gated amend</a:t>
            </a:r>
            <a:endParaRPr lang="en-US" sz="950" dirty="0"/>
          </a:p>
        </p:txBody>
      </p:sp>
      <p:sp>
        <p:nvSpPr>
          <p:cNvPr id="41" name="Text 39"/>
          <p:cNvSpPr/>
          <p:nvPr/>
        </p:nvSpPr>
        <p:spPr>
          <a:xfrm>
            <a:off x="3073908" y="4466844"/>
            <a:ext cx="1318260" cy="457200"/>
          </a:xfrm>
          <a:prstGeom prst="roundRect">
            <a:avLst>
              <a:gd name="adj" fmla="val 10000"/>
            </a:avLst>
          </a:prstGeom>
          <a:solidFill>
            <a:srgbClr val="FFFFFF"/>
          </a:solidFill>
          <a:ln w="9525">
            <a:solidFill>
              <a:srgbClr val="99F6E4"/>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platform</a:t>
            </a:r>
            <a:endParaRPr lang="en-US" sz="950" dirty="0"/>
          </a:p>
          <a:p>
            <a:pPr algn="ctr" indent="0" marL="0">
              <a:buNone/>
            </a:pPr>
            <a:r>
              <a:rPr lang="en-US" sz="800" dirty="0">
                <a:solidFill>
                  <a:srgbClr val="0F766E"/>
                </a:solidFill>
                <a:latin typeface="Plus Jakarta Sans" pitchFamily="34" charset="0"/>
                <a:ea typeface="Plus Jakarta Sans" pitchFamily="34" charset="-122"/>
                <a:cs typeface="Plus Jakarta Sans" pitchFamily="34" charset="-120"/>
              </a:rPr>
              <a:t>confirm • affirm</a:t>
            </a:r>
            <a:endParaRPr lang="en-US" sz="950" dirty="0"/>
          </a:p>
        </p:txBody>
      </p:sp>
      <p:sp>
        <p:nvSpPr>
          <p:cNvPr id="42" name="Text 40"/>
          <p:cNvSpPr/>
          <p:nvPr/>
        </p:nvSpPr>
        <p:spPr>
          <a:xfrm>
            <a:off x="4456176" y="4466844"/>
            <a:ext cx="1318260" cy="457200"/>
          </a:xfrm>
          <a:prstGeom prst="roundRect">
            <a:avLst>
              <a:gd name="adj" fmla="val 10000"/>
            </a:avLst>
          </a:prstGeom>
          <a:solidFill>
            <a:srgbClr val="FFFFFF"/>
          </a:solidFill>
          <a:ln w="9525">
            <a:solidFill>
              <a:srgbClr val="99F6E4"/>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Settlement &amp; SWIFT</a:t>
            </a:r>
            <a:endParaRPr lang="en-US" sz="950" dirty="0"/>
          </a:p>
          <a:p>
            <a:pPr algn="ctr" indent="0" marL="0">
              <a:buNone/>
            </a:pPr>
            <a:r>
              <a:rPr lang="en-US" sz="800" dirty="0">
                <a:solidFill>
                  <a:srgbClr val="0F766E"/>
                </a:solidFill>
                <a:latin typeface="Plus Jakarta Sans" pitchFamily="34" charset="0"/>
                <a:ea typeface="Plus Jakarta Sans" pitchFamily="34" charset="-122"/>
                <a:cs typeface="Plus Jakarta Sans" pitchFamily="34" charset="-120"/>
              </a:rPr>
              <a:t>ISO 20022 messages</a:t>
            </a:r>
            <a:endParaRPr lang="en-US" sz="950" dirty="0"/>
          </a:p>
        </p:txBody>
      </p:sp>
      <p:sp>
        <p:nvSpPr>
          <p:cNvPr id="43" name="Text 41"/>
          <p:cNvSpPr/>
          <p:nvPr/>
        </p:nvSpPr>
        <p:spPr>
          <a:xfrm>
            <a:off x="5838444" y="4466844"/>
            <a:ext cx="1318260" cy="457200"/>
          </a:xfrm>
          <a:prstGeom prst="roundRect">
            <a:avLst>
              <a:gd name="adj" fmla="val 10000"/>
            </a:avLst>
          </a:prstGeom>
          <a:solidFill>
            <a:srgbClr val="FFFFFF"/>
          </a:solidFill>
          <a:ln w="9525">
            <a:solidFill>
              <a:srgbClr val="99F6E4"/>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Positions &amp; lending</a:t>
            </a:r>
            <a:endParaRPr lang="en-US" sz="950" dirty="0"/>
          </a:p>
          <a:p>
            <a:pPr algn="ctr" indent="0" marL="0">
              <a:buNone/>
            </a:pPr>
            <a:r>
              <a:rPr lang="en-US" sz="800" dirty="0">
                <a:solidFill>
                  <a:srgbClr val="0F766E"/>
                </a:solidFill>
                <a:latin typeface="Plus Jakarta Sans" pitchFamily="34" charset="0"/>
                <a:ea typeface="Plus Jakarta Sans" pitchFamily="34" charset="-122"/>
                <a:cs typeface="Plus Jakarta Sans" pitchFamily="34" charset="-120"/>
              </a:rPr>
              <a:t>inventory • borrows</a:t>
            </a:r>
            <a:endParaRPr lang="en-US" sz="950" dirty="0"/>
          </a:p>
        </p:txBody>
      </p:sp>
      <p:sp>
        <p:nvSpPr>
          <p:cNvPr id="44" name="Text 42"/>
          <p:cNvSpPr/>
          <p:nvPr/>
        </p:nvSpPr>
        <p:spPr>
          <a:xfrm>
            <a:off x="7220712" y="4466844"/>
            <a:ext cx="1318260" cy="457200"/>
          </a:xfrm>
          <a:prstGeom prst="roundRect">
            <a:avLst>
              <a:gd name="adj" fmla="val 10000"/>
            </a:avLst>
          </a:prstGeom>
          <a:solidFill>
            <a:srgbClr val="FFFFFF"/>
          </a:solidFill>
          <a:ln w="9525">
            <a:solidFill>
              <a:srgbClr val="99F6E4"/>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a:t>
            </a:r>
            <a:endParaRPr lang="en-US" sz="950" dirty="0"/>
          </a:p>
          <a:p>
            <a:pPr algn="ctr" indent="0" marL="0">
              <a:buNone/>
            </a:pPr>
            <a:r>
              <a:rPr lang="en-US" sz="800" dirty="0">
                <a:solidFill>
                  <a:srgbClr val="0F766E"/>
                </a:solidFill>
                <a:latin typeface="Plus Jakarta Sans" pitchFamily="34" charset="0"/>
                <a:ea typeface="Plus Jakarta Sans" pitchFamily="34" charset="-122"/>
                <a:cs typeface="Plus Jakarta Sans" pitchFamily="34" charset="-120"/>
              </a:rPr>
              <a:t>GL postings</a:t>
            </a:r>
            <a:endParaRPr lang="en-US" sz="950" dirty="0"/>
          </a:p>
        </p:txBody>
      </p:sp>
      <p:sp>
        <p:nvSpPr>
          <p:cNvPr id="45" name="Text 43"/>
          <p:cNvSpPr/>
          <p:nvPr/>
        </p:nvSpPr>
        <p:spPr>
          <a:xfrm>
            <a:off x="8602980" y="4466844"/>
            <a:ext cx="1318260" cy="457200"/>
          </a:xfrm>
          <a:prstGeom prst="roundRect">
            <a:avLst>
              <a:gd name="adj" fmla="val 10000"/>
            </a:avLst>
          </a:prstGeom>
          <a:solidFill>
            <a:srgbClr val="FFFFFF"/>
          </a:solidFill>
          <a:ln w="9525">
            <a:solidFill>
              <a:srgbClr val="99F6E4"/>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a:t>
            </a:r>
            <a:endParaRPr lang="en-US" sz="950" dirty="0"/>
          </a:p>
          <a:p>
            <a:pPr algn="ctr" indent="0" marL="0">
              <a:buNone/>
            </a:pPr>
            <a:r>
              <a:rPr lang="en-US" sz="800" dirty="0">
                <a:solidFill>
                  <a:srgbClr val="0F766E"/>
                </a:solidFill>
                <a:latin typeface="Plus Jakarta Sans" pitchFamily="34" charset="0"/>
                <a:ea typeface="Plus Jakarta Sans" pitchFamily="34" charset="-122"/>
                <a:cs typeface="Plus Jakarta Sans" pitchFamily="34" charset="-120"/>
              </a:rPr>
              <a:t>history • features</a:t>
            </a:r>
            <a:endParaRPr lang="en-US" sz="950" dirty="0"/>
          </a:p>
        </p:txBody>
      </p:sp>
      <p:sp>
        <p:nvSpPr>
          <p:cNvPr id="46" name="Shape 44"/>
          <p:cNvSpPr/>
          <p:nvPr/>
        </p:nvSpPr>
        <p:spPr>
          <a:xfrm>
            <a:off x="548640" y="5029200"/>
            <a:ext cx="9427464" cy="566928"/>
          </a:xfrm>
          <a:prstGeom prst="roundRect">
            <a:avLst>
              <a:gd name="adj" fmla="val 9677"/>
            </a:avLst>
          </a:prstGeom>
          <a:solidFill>
            <a:srgbClr val="F0FDF4"/>
          </a:solidFill>
          <a:ln w="9525">
            <a:solidFill>
              <a:srgbClr val="BBF7D0"/>
            </a:solidFill>
            <a:prstDash val="solid"/>
          </a:ln>
        </p:spPr>
      </p:sp>
      <p:sp>
        <p:nvSpPr>
          <p:cNvPr id="47" name="Text 45"/>
          <p:cNvSpPr txBox="1"/>
          <p:nvPr/>
        </p:nvSpPr>
        <p:spPr>
          <a:xfrm>
            <a:off x="640080" y="5029200"/>
            <a:ext cx="1014984" cy="56692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MDM &amp; semantics</a:t>
            </a:r>
            <a:endParaRPr lang="en-US" sz="1200" dirty="0"/>
          </a:p>
        </p:txBody>
      </p:sp>
      <p:sp>
        <p:nvSpPr>
          <p:cNvPr id="48" name="Text 46"/>
          <p:cNvSpPr/>
          <p:nvPr/>
        </p:nvSpPr>
        <p:spPr>
          <a:xfrm>
            <a:off x="1691640" y="5084064"/>
            <a:ext cx="1318260" cy="457200"/>
          </a:xfrm>
          <a:prstGeom prst="roundRect">
            <a:avLst>
              <a:gd name="adj" fmla="val 10000"/>
            </a:avLst>
          </a:prstGeom>
          <a:solidFill>
            <a:srgbClr val="FFFFFF"/>
          </a:solidFill>
          <a:ln w="9525">
            <a:solidFill>
              <a:srgbClr val="BBF7D0"/>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Counterparty master</a:t>
            </a:r>
            <a:endParaRPr lang="en-US" sz="950" dirty="0"/>
          </a:p>
          <a:p>
            <a:pPr algn="ctr" indent="0" marL="0">
              <a:buNone/>
            </a:pPr>
            <a:r>
              <a:rPr lang="en-US" sz="800" dirty="0">
                <a:solidFill>
                  <a:srgbClr val="15803D"/>
                </a:solidFill>
                <a:latin typeface="Plus Jakarta Sans" pitchFamily="34" charset="0"/>
                <a:ea typeface="Plus Jakarta Sans" pitchFamily="34" charset="-122"/>
                <a:cs typeface="Plus Jakarta Sans" pitchFamily="34" charset="-120"/>
              </a:rPr>
              <a:t>LEI • hierarchy</a:t>
            </a:r>
            <a:endParaRPr lang="en-US" sz="950" dirty="0"/>
          </a:p>
        </p:txBody>
      </p:sp>
      <p:sp>
        <p:nvSpPr>
          <p:cNvPr id="49" name="Text 47"/>
          <p:cNvSpPr/>
          <p:nvPr/>
        </p:nvSpPr>
        <p:spPr>
          <a:xfrm>
            <a:off x="3073908" y="5084064"/>
            <a:ext cx="1318260" cy="457200"/>
          </a:xfrm>
          <a:prstGeom prst="roundRect">
            <a:avLst>
              <a:gd name="adj" fmla="val 10000"/>
            </a:avLst>
          </a:prstGeom>
          <a:solidFill>
            <a:srgbClr val="FFFFFF"/>
          </a:solidFill>
          <a:ln w="9525">
            <a:solidFill>
              <a:srgbClr val="BBF7D0"/>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Security master</a:t>
            </a:r>
            <a:endParaRPr lang="en-US" sz="950" dirty="0"/>
          </a:p>
          <a:p>
            <a:pPr algn="ctr" indent="0" marL="0">
              <a:buNone/>
            </a:pPr>
            <a:r>
              <a:rPr lang="en-US" sz="800" dirty="0">
                <a:solidFill>
                  <a:srgbClr val="15803D"/>
                </a:solidFill>
                <a:latin typeface="Plus Jakarta Sans" pitchFamily="34" charset="0"/>
                <a:ea typeface="Plus Jakarta Sans" pitchFamily="34" charset="-122"/>
                <a:cs typeface="Plus Jakarta Sans" pitchFamily="34" charset="-120"/>
              </a:rPr>
              <a:t>ISIN • CUSIP • FIGI</a:t>
            </a:r>
            <a:endParaRPr lang="en-US" sz="950" dirty="0"/>
          </a:p>
        </p:txBody>
      </p:sp>
      <p:sp>
        <p:nvSpPr>
          <p:cNvPr id="50" name="Text 48"/>
          <p:cNvSpPr/>
          <p:nvPr/>
        </p:nvSpPr>
        <p:spPr>
          <a:xfrm>
            <a:off x="4456176" y="5084064"/>
            <a:ext cx="1318260" cy="457200"/>
          </a:xfrm>
          <a:prstGeom prst="roundRect">
            <a:avLst>
              <a:gd name="adj" fmla="val 10000"/>
            </a:avLst>
          </a:prstGeom>
          <a:solidFill>
            <a:srgbClr val="FFFFFF"/>
          </a:solidFill>
          <a:ln w="9525">
            <a:solidFill>
              <a:srgbClr val="BBF7D0"/>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SSI golden source</a:t>
            </a:r>
            <a:endParaRPr lang="en-US" sz="950" dirty="0"/>
          </a:p>
          <a:p>
            <a:pPr algn="ctr" indent="0" marL="0">
              <a:buNone/>
            </a:pPr>
            <a:r>
              <a:rPr lang="en-US" sz="800" dirty="0">
                <a:solidFill>
                  <a:srgbClr val="15803D"/>
                </a:solidFill>
                <a:latin typeface="Plus Jakarta Sans" pitchFamily="34" charset="0"/>
                <a:ea typeface="Plus Jakarta Sans" pitchFamily="34" charset="-122"/>
                <a:cs typeface="Plus Jakarta Sans" pitchFamily="34" charset="-120"/>
              </a:rPr>
              <a:t>maker-checker</a:t>
            </a:r>
            <a:endParaRPr lang="en-US" sz="950" dirty="0"/>
          </a:p>
        </p:txBody>
      </p:sp>
      <p:sp>
        <p:nvSpPr>
          <p:cNvPr id="51" name="Text 49"/>
          <p:cNvSpPr/>
          <p:nvPr/>
        </p:nvSpPr>
        <p:spPr>
          <a:xfrm>
            <a:off x="5838444" y="5084064"/>
            <a:ext cx="1318260" cy="457200"/>
          </a:xfrm>
          <a:prstGeom prst="roundRect">
            <a:avLst>
              <a:gd name="adj" fmla="val 10000"/>
            </a:avLst>
          </a:prstGeom>
          <a:solidFill>
            <a:srgbClr val="FFFFFF"/>
          </a:solidFill>
          <a:ln w="9525">
            <a:solidFill>
              <a:srgbClr val="BBF7D0"/>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Semantic standards</a:t>
            </a:r>
            <a:endParaRPr lang="en-US" sz="950" dirty="0"/>
          </a:p>
          <a:p>
            <a:pPr algn="ctr" indent="0" marL="0">
              <a:buNone/>
            </a:pPr>
            <a:r>
              <a:rPr lang="en-US" sz="800" dirty="0">
                <a:solidFill>
                  <a:srgbClr val="15803D"/>
                </a:solidFill>
                <a:latin typeface="Plus Jakarta Sans" pitchFamily="34" charset="0"/>
                <a:ea typeface="Plus Jakarta Sans" pitchFamily="34" charset="-122"/>
                <a:cs typeface="Plus Jakarta Sans" pitchFamily="34" charset="-120"/>
              </a:rPr>
              <a:t>ISO 20022 • FIBO • CDM</a:t>
            </a:r>
            <a:endParaRPr lang="en-US" sz="950" dirty="0"/>
          </a:p>
        </p:txBody>
      </p:sp>
      <p:sp>
        <p:nvSpPr>
          <p:cNvPr id="52" name="Text 50"/>
          <p:cNvSpPr/>
          <p:nvPr/>
        </p:nvSpPr>
        <p:spPr>
          <a:xfrm>
            <a:off x="7220712" y="5084064"/>
            <a:ext cx="1318260" cy="457200"/>
          </a:xfrm>
          <a:prstGeom prst="roundRect">
            <a:avLst>
              <a:gd name="adj" fmla="val 10000"/>
            </a:avLst>
          </a:prstGeom>
          <a:solidFill>
            <a:srgbClr val="FFFFFF"/>
          </a:solidFill>
          <a:ln w="9525">
            <a:solidFill>
              <a:srgbClr val="BBF7D0"/>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Lineage &amp; quality</a:t>
            </a:r>
            <a:endParaRPr lang="en-US" sz="950" dirty="0"/>
          </a:p>
          <a:p>
            <a:pPr algn="ctr" indent="0" marL="0">
              <a:buNone/>
            </a:pPr>
            <a:r>
              <a:rPr lang="en-US" sz="800" dirty="0">
                <a:solidFill>
                  <a:srgbClr val="15803D"/>
                </a:solidFill>
                <a:latin typeface="Plus Jakarta Sans" pitchFamily="34" charset="0"/>
                <a:ea typeface="Plus Jakarta Sans" pitchFamily="34" charset="-122"/>
                <a:cs typeface="Plus Jakarta Sans" pitchFamily="34" charset="-120"/>
              </a:rPr>
              <a:t>BCBS 239 aligned</a:t>
            </a:r>
            <a:endParaRPr lang="en-US" sz="950" dirty="0"/>
          </a:p>
        </p:txBody>
      </p:sp>
      <p:sp>
        <p:nvSpPr>
          <p:cNvPr id="53" name="Text 51"/>
          <p:cNvSpPr/>
          <p:nvPr/>
        </p:nvSpPr>
        <p:spPr>
          <a:xfrm>
            <a:off x="8602980" y="5084064"/>
            <a:ext cx="1318260" cy="457200"/>
          </a:xfrm>
          <a:prstGeom prst="roundRect">
            <a:avLst>
              <a:gd name="adj" fmla="val 10000"/>
            </a:avLst>
          </a:prstGeom>
          <a:solidFill>
            <a:srgbClr val="FFFFFF"/>
          </a:solidFill>
          <a:ln w="9525">
            <a:solidFill>
              <a:srgbClr val="BBF7D0"/>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Access policies</a:t>
            </a:r>
            <a:endParaRPr lang="en-US" sz="950" dirty="0"/>
          </a:p>
          <a:p>
            <a:pPr algn="ctr" indent="0" marL="0">
              <a:buNone/>
            </a:pPr>
            <a:r>
              <a:rPr lang="en-US" sz="800" dirty="0">
                <a:solidFill>
                  <a:srgbClr val="15803D"/>
                </a:solidFill>
                <a:latin typeface="Plus Jakarta Sans" pitchFamily="34" charset="0"/>
                <a:ea typeface="Plus Jakarta Sans" pitchFamily="34" charset="-122"/>
                <a:cs typeface="Plus Jakarta Sans" pitchFamily="34" charset="-120"/>
              </a:rPr>
              <a:t>entity • region • walls</a:t>
            </a:r>
            <a:endParaRPr lang="en-US" sz="950" dirty="0"/>
          </a:p>
        </p:txBody>
      </p:sp>
      <p:sp>
        <p:nvSpPr>
          <p:cNvPr id="54" name="Shape 52"/>
          <p:cNvSpPr/>
          <p:nvPr/>
        </p:nvSpPr>
        <p:spPr>
          <a:xfrm>
            <a:off x="548640" y="5646420"/>
            <a:ext cx="9427464" cy="566928"/>
          </a:xfrm>
          <a:prstGeom prst="roundRect">
            <a:avLst>
              <a:gd name="adj" fmla="val 9677"/>
            </a:avLst>
          </a:prstGeom>
          <a:solidFill>
            <a:srgbClr val="F8FAFC"/>
          </a:solidFill>
          <a:ln w="9525">
            <a:solidFill>
              <a:srgbClr val="E2E8F0"/>
            </a:solidFill>
            <a:prstDash val="solid"/>
          </a:ln>
        </p:spPr>
      </p:sp>
      <p:sp>
        <p:nvSpPr>
          <p:cNvPr id="55" name="Text 53"/>
          <p:cNvSpPr txBox="1"/>
          <p:nvPr/>
        </p:nvSpPr>
        <p:spPr>
          <a:xfrm>
            <a:off x="640080" y="564642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56" name="Text 54"/>
          <p:cNvSpPr/>
          <p:nvPr/>
        </p:nvSpPr>
        <p:spPr>
          <a:xfrm>
            <a:off x="1691640" y="5701284"/>
            <a:ext cx="1318260" cy="457200"/>
          </a:xfrm>
          <a:prstGeom prst="roundRect">
            <a:avLst>
              <a:gd name="adj" fmla="val 10000"/>
            </a:avLst>
          </a:prstGeom>
          <a:solidFill>
            <a:srgbClr val="F1F5F9"/>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OMS &amp; booking</a:t>
            </a:r>
            <a:endParaRPr lang="en-US" sz="950" dirty="0"/>
          </a:p>
        </p:txBody>
      </p:sp>
      <p:sp>
        <p:nvSpPr>
          <p:cNvPr id="57" name="Text 55"/>
          <p:cNvSpPr/>
          <p:nvPr/>
        </p:nvSpPr>
        <p:spPr>
          <a:xfrm>
            <a:off x="3073908" y="5701284"/>
            <a:ext cx="1318260" cy="457200"/>
          </a:xfrm>
          <a:prstGeom prst="roundRect">
            <a:avLst>
              <a:gd name="adj" fmla="val 10000"/>
            </a:avLst>
          </a:prstGeom>
          <a:solidFill>
            <a:srgbClr val="F1F5F9"/>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platform</a:t>
            </a:r>
            <a:endParaRPr lang="en-US" sz="950" dirty="0"/>
          </a:p>
        </p:txBody>
      </p:sp>
      <p:sp>
        <p:nvSpPr>
          <p:cNvPr id="58" name="Text 56"/>
          <p:cNvSpPr/>
          <p:nvPr/>
        </p:nvSpPr>
        <p:spPr>
          <a:xfrm>
            <a:off x="4456176" y="5701284"/>
            <a:ext cx="1318260" cy="457200"/>
          </a:xfrm>
          <a:prstGeom prst="roundRect">
            <a:avLst>
              <a:gd name="adj" fmla="val 10000"/>
            </a:avLst>
          </a:prstGeom>
          <a:solidFill>
            <a:srgbClr val="F1F5F9"/>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Settlement engine</a:t>
            </a:r>
            <a:endParaRPr lang="en-US" sz="950" dirty="0"/>
          </a:p>
        </p:txBody>
      </p:sp>
      <p:sp>
        <p:nvSpPr>
          <p:cNvPr id="59" name="Text 57"/>
          <p:cNvSpPr/>
          <p:nvPr/>
        </p:nvSpPr>
        <p:spPr>
          <a:xfrm>
            <a:off x="5838444" y="5701284"/>
            <a:ext cx="1318260" cy="457200"/>
          </a:xfrm>
          <a:prstGeom prst="roundRect">
            <a:avLst>
              <a:gd name="adj" fmla="val 10000"/>
            </a:avLst>
          </a:prstGeom>
          <a:solidFill>
            <a:srgbClr val="F1F5F9"/>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Custodians &amp; CSDs</a:t>
            </a:r>
            <a:endParaRPr lang="en-US" sz="950" dirty="0"/>
          </a:p>
        </p:txBody>
      </p:sp>
      <p:sp>
        <p:nvSpPr>
          <p:cNvPr id="60" name="Text 58"/>
          <p:cNvSpPr/>
          <p:nvPr/>
        </p:nvSpPr>
        <p:spPr>
          <a:xfrm>
            <a:off x="7220712" y="5701284"/>
            <a:ext cx="1318260" cy="457200"/>
          </a:xfrm>
          <a:prstGeom prst="roundRect">
            <a:avLst>
              <a:gd name="adj" fmla="val 10000"/>
            </a:avLst>
          </a:prstGeom>
          <a:solidFill>
            <a:srgbClr val="F1F5F9"/>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a:t>
            </a:r>
            <a:endParaRPr lang="en-US" sz="950" dirty="0"/>
          </a:p>
        </p:txBody>
      </p:sp>
      <p:sp>
        <p:nvSpPr>
          <p:cNvPr id="61" name="Text 59"/>
          <p:cNvSpPr/>
          <p:nvPr/>
        </p:nvSpPr>
        <p:spPr>
          <a:xfrm>
            <a:off x="8602980" y="5701284"/>
            <a:ext cx="1318260" cy="457200"/>
          </a:xfrm>
          <a:prstGeom prst="roundRect">
            <a:avLst>
              <a:gd name="adj" fmla="val 10000"/>
            </a:avLst>
          </a:prstGeom>
          <a:solidFill>
            <a:srgbClr val="F1F5F9"/>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a:t>
            </a:r>
            <a:endParaRPr lang="en-US" sz="950" dirty="0"/>
          </a:p>
        </p:txBody>
      </p:sp>
      <p:sp>
        <p:nvSpPr>
          <p:cNvPr id="62" name="Shape 60"/>
          <p:cNvSpPr/>
          <p:nvPr/>
        </p:nvSpPr>
        <p:spPr>
          <a:xfrm>
            <a:off x="10058400" y="1325880"/>
            <a:ext cx="1581912" cy="2685776"/>
          </a:xfrm>
          <a:prstGeom prst="roundRect">
            <a:avLst>
              <a:gd name="adj" fmla="val 3468"/>
            </a:avLst>
          </a:prstGeom>
          <a:solidFill>
            <a:srgbClr val="FEF2F2"/>
          </a:solidFill>
          <a:ln w="9525">
            <a:solidFill>
              <a:srgbClr val="FECACA"/>
            </a:solidFill>
            <a:prstDash val="solid"/>
          </a:ln>
        </p:spPr>
      </p:sp>
      <p:sp>
        <p:nvSpPr>
          <p:cNvPr id="63" name="Text 61"/>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SECURITY AT EVERY LAYER</a:t>
            </a:r>
            <a:endParaRPr lang="en-US" sz="850" dirty="0"/>
          </a:p>
        </p:txBody>
      </p:sp>
      <p:sp>
        <p:nvSpPr>
          <p:cNvPr id="64" name="Text 62"/>
          <p:cNvSpPr txBox="1"/>
          <p:nvPr/>
        </p:nvSpPr>
        <p:spPr>
          <a:xfrm>
            <a:off x="10113264" y="1746504"/>
            <a:ext cx="1490472" cy="2210288"/>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Phishing-resistant MFA</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Per-agent identity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mTLS • TLS 1.3</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SWIFT PKI signing</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HSM keys • AES-256</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Tokenized account data</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SSI changes: 4-eyes + call-back</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Outbound DLP</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WORM records per Rule 17a-4</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Information barriers</a:t>
            </a:r>
            <a:endParaRPr lang="en-US" sz="900" dirty="0"/>
          </a:p>
        </p:txBody>
      </p:sp>
      <p:sp>
        <p:nvSpPr>
          <p:cNvPr id="65" name="Shape 63"/>
          <p:cNvSpPr/>
          <p:nvPr/>
        </p:nvSpPr>
        <p:spPr>
          <a:xfrm>
            <a:off x="10058400" y="4103096"/>
            <a:ext cx="1581912" cy="2110252"/>
          </a:xfrm>
          <a:prstGeom prst="roundRect">
            <a:avLst>
              <a:gd name="adj" fmla="val 3468"/>
            </a:avLst>
          </a:prstGeom>
          <a:solidFill>
            <a:srgbClr val="FFFBEB"/>
          </a:solidFill>
          <a:ln w="9525">
            <a:solidFill>
              <a:srgbClr val="FDE68A"/>
            </a:solidFill>
            <a:prstDash val="solid"/>
          </a:ln>
        </p:spPr>
      </p:sp>
      <p:sp>
        <p:nvSpPr>
          <p:cNvPr id="66" name="Text 64"/>
          <p:cNvSpPr txBox="1"/>
          <p:nvPr/>
        </p:nvSpPr>
        <p:spPr>
          <a:xfrm>
            <a:off x="10149840" y="4194536"/>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GOVERNANCE &amp; OBSERVABILITY</a:t>
            </a:r>
            <a:endParaRPr lang="en-US" sz="850" dirty="0"/>
          </a:p>
        </p:txBody>
      </p:sp>
      <p:sp>
        <p:nvSpPr>
          <p:cNvPr id="67" name="Text 65"/>
          <p:cNvSpPr txBox="1"/>
          <p:nvPr/>
        </p:nvSpPr>
        <p:spPr>
          <a:xfrm>
            <a:off x="10113264" y="4523720"/>
            <a:ext cx="1490472" cy="1634764"/>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Autonomy tiers &amp; limits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Model risk validation</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DORA ICT provider register</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OpenTelemetry traces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Cutoff SLO dashboards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Failover &amp; drift alerts</a:t>
            </a:r>
            <a:endParaRPr lang="en-US" sz="900" dirty="0"/>
          </a:p>
        </p:txBody>
      </p:sp>
      <p:sp>
        <p:nvSpPr>
          <p:cNvPr id="68" name="Text 6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Vendor-neutral: only SAP S/4HANA and Snowflake are named products. Standards and rules: endnotes 26, 27, 90–94, 98–104.</a:t>
            </a:r>
            <a:endParaRPr lang="en-US" sz="850" dirty="0"/>
          </a:p>
        </p:txBody>
      </p:sp>
      <p:sp>
        <p:nvSpPr>
          <p:cNvPr id="69" name="Text 6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41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Vendor-neutral solution architecture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41: Vendor-neutral solution architecture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