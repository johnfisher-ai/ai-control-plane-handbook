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00" r:id="rId46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46" Type="http://schemas.openxmlformats.org/officeDocument/2006/relationships/slide" Target="slides/slide45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62000"/>
            <a:ext cx="5943600" cy="33432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457200" y="4419600"/>
            <a:ext cx="5943600" cy="67056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Business case, illustrative for a broker-dealer settling 50,000 trades a day with a 3% exception rate (about 1,500 exceptions a day) and an average handling time of 18 minutes (about 450 analyst hours a day):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Analyst capacity: agents close about 40% of exceptions and halve handling time for the rest, so daily effort falls from about 450 to 135 hours. 315 hours × 250 days × $125 is about $9.8M a year.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Fewer fails and penalties: fail prediction plus pre-emptive SSI and inventory fixes could cut the fail rate by about a third (illustrative). Model the value on the firm's penalty and fail-cost history. EU penalties on T2S averaged about €70M a month in 2024 [97].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Lower funding and borrow costs: earlier visibility of shortfalls allows cheaper internal borrows and planned funding. The value is firm-specific and typically material for fixed income and cross-border flows.</a:t>
            </a:r>
          </a:p>
          <a:p>
            <a:pPr marL="228600" indent="-228600">
              <a:spcAft>
                <a:spcPts val="300"/>
              </a:spcAft>
              <a:buFont typeface="Arial"/>
              <a:buChar char="•"/>
            </a:pPr>
            <a:r>
              <a:rPr lang="en-US" dirty="0"/>
              <a:t>Regulatory and client outcomes: higher same-day affirmation, complete audit trails, faster answers to clients and readiness for T+1 in Europe in October 2027.</a:t>
            </a:r>
          </a:p>
          <a:p>
            <a:pPr>
              <a:spcAft>
                <a:spcPts val="600"/>
              </a:spcAft>
            </a:pPr>
            <a:r>
              <a:rPr lang="en-US" dirty="0"/>
              <a:t>KPIs: baselines are illustrative. The SSI-related share of fails reflects the industry survey [97]. Communications retained measures the share of agent-sent messages archived to WORM storage before sending. Retaining business communications is a records requirement [104]. Archiving before sending is how this design meets it.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45,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6200" y="11430000"/>
            <a:ext cx="2514600" cy="457200"/>
          </a:xfrm>
        </p:spPr>
        <p:txBody>
          <a:bodyPr/>
          <a:lstStyle/>
          <a:p>
            <a:r>
              <a:rPr lang="en-US"/>
              <a:t>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USE CASE 2  •  BUSINESS CASE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 and KPIs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16152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Illustrative for a broker-dealer settling 50,000 trades a day with a 3% exception rate. Replace with the firm’s own baseline.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01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EXPECTED BUSINESS OUTCOMES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08483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1762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Analyst capacity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Agents close about 40% of exceptions and halve handling time for the rest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$9.8M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315 h/day × 250 days × $125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90779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" y="29992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Fewer fails and penalties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73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Prediction plus early SSI and inventory fixes cut fails by about a third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296265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~1/3 fewer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3649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model on the firm’s penalty history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73075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31520" y="382219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Lower funding costs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096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Earlier sight of shortfalls enables cheaper internal borrows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11880" y="378561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Firm-specific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6118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material in fixed income, cross-border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4553712"/>
            <a:ext cx="502920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1905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6451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Regulatory outcomes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9194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Same-day affirmation, complete audit trails, faster client answers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460857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369A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Risk reduction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3611880" y="50109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T+1 ready for October 2027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5376672"/>
            <a:ext cx="5029200" cy="795528"/>
          </a:xfrm>
          <a:prstGeom prst="roundRect">
            <a:avLst>
              <a:gd name="adj" fmla="val 9195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376672"/>
            <a:ext cx="461772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~$9.8M a year in analyst capacity alone, before penalty, funding and risk benefits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806440" y="1801368"/>
            <a:ext cx="5760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284C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KEY PERFORMANCE INDICATORS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2084832"/>
          <a:ext cx="5833872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1371600"/>
                <a:gridCol w="1581912"/>
              </a:tblGrid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KPI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Baseline*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Target (12 months)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Same-day affirmation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88%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97% or higher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Settlement fail rate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2.0%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Auto-resolved exceptions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Average handling time (minutes)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18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SSI-related share of fails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About 21%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Below 7%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Net CSDR penalties per month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Firm baseline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Down 30%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Fail-prediction precision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70% or higher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Time to contain (minutes)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 5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0873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Agent messages archived to WORM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Not measured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5803D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105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*</a:t>
            </a:r>
            <a:r>
              <a:rPr lang="en-US" sz="85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Baselines and values are illustrative. The SSI share reflects an industry survey (endnote 97). Measure the firm’s baseline during discovery.</a:t>
            </a:r>
            <a:endParaRPr lang="en-US" sz="850" dirty="0"/>
          </a:p>
        </p:txBody>
      </p:sp>
      <p:sp>
        <p:nvSpPr>
          <p:cNvPr id="31" name="Text 2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Expected business outcomes and KPIs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45: Expected business outcomes and KPIs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