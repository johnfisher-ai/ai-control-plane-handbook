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300" r:id="rId46"/>
  </p:sldIdLst>
  <p:notesMasterIdLst>
    <p:notesMasterId r:id="rId68"/>
  </p:notesMasterIdLst>
  <p:sldSz cx="12192000" cy="6858000"/>
  <p:notesSz cx="6858000" cy="12192000"/>
  <p:embeddedFontLst>
    <p:embeddedFont>
      <p:font typeface="Plus Jakarta Sans"/>
      <p:regular r:id="rId73"/>
      <p:bold r:id="rId74"/>
      <p:italic r:id="rId7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46" Type="http://schemas.openxmlformats.org/officeDocument/2006/relationships/slide" Target="slides/slide45.xml"/><Relationship Id="rId68" Type="http://schemas.openxmlformats.org/officeDocument/2006/relationships/notesMaster" Target="notesMasters/notesMaster1.xml"/><Relationship Id="rId69" Type="http://schemas.openxmlformats.org/officeDocument/2006/relationships/presProps" Target="presProps.xml"/><Relationship Id="rId70" Type="http://schemas.openxmlformats.org/officeDocument/2006/relationships/viewProps" Target="viewProps.xml"/><Relationship Id="rId71" Type="http://schemas.openxmlformats.org/officeDocument/2006/relationships/theme" Target="theme/theme1.xml"/><Relationship Id="rId72" Type="http://schemas.openxmlformats.org/officeDocument/2006/relationships/tableStyles" Target="tableStyles.xml"/><Relationship Id="rId73" Type="http://schemas.openxmlformats.org/officeDocument/2006/relationships/font" Target="fonts/e1a8fda2-a427-4cdb-9ef2-8a6782d58009.fntdata"/><Relationship Id="rId74" Type="http://schemas.openxmlformats.org/officeDocument/2006/relationships/font" Target="fonts/9542d0bb-6ad7-45dd-89ef-a406bd0490d1.fntdata"/><Relationship Id="rId75" Type="http://schemas.openxmlformats.org/officeDocument/2006/relationships/font" Target="fonts/f16f000a-8ac0-4436-b98c-e748fe425de0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Relationship Id="rId3" Type="http://schemas.openxmlformats.org/officeDocument/2006/relationships/hyperlink" Target="https://creativecommons.org/licenses/by-nc-nd/4.0/" TargetMode="External"/><Relationship Id="rId4" Type="http://schemas.openxmlformats.org/officeDocument/2006/relationships/hyperlink" Target="https://johnfisher-ai.github.io/ai-control-plane-handbook/deck/" TargetMode="External"/><Relationship Id="rId5" Type="http://schemas.openxmlformats.org/officeDocument/2006/relationships/hyperlink" Target="https://johnfisher-ai.github.io/ai-control-plane-handbook/handbook/appendix-b.html" TargetMode="External"/></Relationship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/>
              <a:t>Business case, illustrative for a broker-dealer settling 50,000 trades a day with a 3% exception rate (about 1,500 exceptions a day) and an average handling time of 18 minutes (about 450 analyst hours a day):</a:t>
            </a:r>
          </a:p>
          <a:p>
            <a:pPr marL="228600" indent="-228600">
              <a:spcAft>
                <a:spcPts val="300"/>
              </a:spcAft>
              <a:buFont typeface="Arial"/>
              <a:buChar char="•"/>
            </a:pPr>
            <a:r>
              <a:rPr lang="en-US" dirty="0"/>
              <a:t>Analyst capacity: agents close about 40% of exceptions and halve handling time for the rest, so daily effort falls from about 450 to 135 hours. 315 hours × 250 days × $125 is about $9.8M a year.</a:t>
            </a:r>
          </a:p>
          <a:p>
            <a:pPr marL="228600" indent="-228600">
              <a:spcAft>
                <a:spcPts val="300"/>
              </a:spcAft>
              <a:buFont typeface="Arial"/>
              <a:buChar char="•"/>
            </a:pPr>
            <a:r>
              <a:rPr lang="en-US" dirty="0"/>
              <a:t>Fewer fails and penalties: fail prediction plus pre-emptive SSI and inventory fixes could cut the fail rate by about a third (illustrative). Model the value on the firm's penalty and fail-cost history. EU penalties on T2S averaged about €70M a month in 2024 [97].</a:t>
            </a:r>
          </a:p>
          <a:p>
            <a:pPr marL="228600" indent="-228600">
              <a:spcAft>
                <a:spcPts val="300"/>
              </a:spcAft>
              <a:buFont typeface="Arial"/>
              <a:buChar char="•"/>
            </a:pPr>
            <a:r>
              <a:rPr lang="en-US" dirty="0"/>
              <a:t>Lower funding and borrow costs: earlier visibility of shortfalls allows cheaper internal borrows and planned funding. The value is firm-specific and typically material for fixed income and cross-border flows.</a:t>
            </a:r>
          </a:p>
          <a:p>
            <a:pPr marL="228600" indent="-228600">
              <a:spcAft>
                <a:spcPts val="300"/>
              </a:spcAft>
              <a:buFont typeface="Arial"/>
              <a:buChar char="•"/>
            </a:pPr>
            <a:r>
              <a:rPr lang="en-US" dirty="0"/>
              <a:t>Regulatory and client outcomes: higher same-day affirmation, complete audit trails, faster answers to clients and readiness for T+1 in Europe in October 2027.</a:t>
            </a:r>
          </a:p>
          <a:p>
            <a:pPr>
              <a:spcAft>
                <a:spcPts val="600"/>
              </a:spcAft>
            </a:pPr>
            <a:r>
              <a:rPr lang="en-US" dirty="0"/>
              <a:t>KPIs: baselines are illustrative. The SSI-related share of fails reflects the industry survey [97]. Communications retained measures the share of agent-sent messages archived to WORM storage before sending. Retaining business communications is a records requirement [104]. Archiving before sending is how this design meets it.</a:t>
            </a:r>
          </a:p>
          <a:p>
            <a:pPr>
              <a:spcAft>
                <a:spcPts val="600"/>
              </a:spcAft>
            </a:pPr>
            <a:r>
              <a:rPr lang="en-US" dirty="0"/>
              <a:t>Credit: John Fisher, The AI Control Plane: Executive Briefing (2026), slide 45, licensed under CC BY-NC-ND 4.0: </a:t>
            </a:r>
            <a:r>
              <a:rPr lang="en-US" dirty="0">
                <a:hlinkClick r:id="rId3"/>
              </a:rPr>
              <a:t>https://creativecommons.org/licenses/by-nc-nd/4.0/</a:t>
            </a:r>
            <a:r>
              <a:rPr lang="en-US" dirty="0"/>
              <a:t>. The full deck, with its speaker notes and notices: </a:t>
            </a:r>
            <a:r>
              <a:rPr lang="en-US" dirty="0">
                <a:hlinkClick r:id="rId4"/>
              </a:rPr>
              <a:t>https://johnfisher-ai.github.io/ai-control-plane-handbook/deck/</a:t>
            </a:r>
            <a:r>
              <a:rPr lang="en-US" dirty="0"/>
              <a:t>.</a:t>
            </a:r>
          </a:p>
          <a:p>
            <a:pPr>
              <a:spcAft>
                <a:spcPts val="600"/>
              </a:spcAft>
            </a:pPr>
            <a:r>
              <a:rPr lang="en-US" dirty="0"/>
              <a:t>Bracketed numbers in these notes, and endnote numbers on the slide, refer to the endnotes in Appendix B of The AI Control Plane Handbook: </a:t>
            </a:r>
            <a:r>
              <a:rPr lang="en-US" dirty="0">
                <a:hlinkClick r:id="rId5"/>
              </a:rPr>
              <a:t>https://johnfisher-ai.github.io/ai-control-plane-handbook/handbook/appendix-b.html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45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284C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USE CASE 2  •  BUSINESS CASE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Expected business outcomes and KPIs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1615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Illustrative for a broker-dealer settling 50,000 trades a day with a 3% exception rate. Replace with the firm’s own baseline.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0136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284C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EXPECTED BUSINESS OUTCOMES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2084832"/>
            <a:ext cx="50292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31520" y="21762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Analyst capacity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4505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Agents close about 40% of exceptions and halve handling time for the rest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213969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369A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$9.8M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2542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315 h/day × 250 days × $125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48640" y="2907792"/>
            <a:ext cx="50292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31520" y="29992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Fewer fails and penalties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27355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Prediction plus early SSI and inventory fixes cut fails by about a third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611880" y="296265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369A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~1/3 fewer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611880" y="33649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model on the firm’s penalty history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48640" y="3730752"/>
            <a:ext cx="50292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31520" y="38221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Lower funding costs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09651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Earlier sight of shortfalls enables cheaper internal borrows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3611880" y="378561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369A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Firm-specific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611880" y="4187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material in fixed income, cross-border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48640" y="4553712"/>
            <a:ext cx="50292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731520" y="46451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Regulatory outcomes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49194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Same-day affirmation, complete audit trails, faster client answers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3611880" y="460857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369A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Risk reduction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3611880" y="50109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T+1 ready for October 2027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48640" y="5376672"/>
            <a:ext cx="5029200" cy="795528"/>
          </a:xfrm>
          <a:prstGeom prst="roundRect">
            <a:avLst>
              <a:gd name="adj" fmla="val 9195"/>
            </a:avLst>
          </a:prstGeom>
          <a:solidFill>
            <a:srgbClr val="0F172A"/>
          </a:solidFill>
          <a:ln w="9525">
            <a:solidFill>
              <a:srgbClr val="0F172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" y="5376672"/>
            <a:ext cx="46177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~$9.8M a year in analyst capacity alone, before penalty, funding and risk benefits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806440" y="1801368"/>
            <a:ext cx="5760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284C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KEY PERFORMANCE INDICATORS</a:t>
            </a:r>
            <a:endParaRPr lang="en-US" sz="105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06440" y="2084832"/>
          <a:ext cx="5833872" cy="914400"/>
        </p:xfrm>
        <a:graphic>
          <a:graphicData uri="http://schemas.openxmlformats.org/drawingml/2006/table">
            <a:tbl>
              <a:tblPr/>
              <a:tblGrid>
                <a:gridCol w="2880360"/>
                <a:gridCol w="1371600"/>
                <a:gridCol w="1581912"/>
              </a:tblGrid>
              <a:tr h="4087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KPI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Baseline*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Target (12 months)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087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Same-day affirmation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88%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803D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97% or higher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87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Settlement fail rate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2.0%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803D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1.3%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087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Auto-resolved exceptions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0%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803D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40%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87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Average handling time (minutes)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18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803D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9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087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SSI-related share of fails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About 21%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803D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Below 7%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87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Net CSDR penalties per month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Firm baseline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803D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Down 30%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087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Fail-prediction precision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Not measured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803D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70% or higher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87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Time to contain (minutes)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Not measured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803D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Under 5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087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Agent messages archived to WORM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Not measured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803D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100%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Text 27"/>
          <p:cNvSpPr txBox="1"/>
          <p:nvPr/>
        </p:nvSpPr>
        <p:spPr>
          <a:xfrm>
            <a:off x="548640" y="638251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*</a:t>
            </a:r>
            <a:r>
              <a:rPr lang="en-US" sz="85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Baselines and values are illustrative. The SSI share reflects an industry survey (endnote 97). Measure the firm’s baseline during discovery.</a:t>
            </a:r>
            <a:endParaRPr lang="en-US" sz="850" dirty="0"/>
          </a:p>
        </p:txBody>
      </p:sp>
      <p:sp>
        <p:nvSpPr>
          <p:cNvPr id="31" name="Text 28"/>
          <p:cNvSpPr txBox="1"/>
          <p:nvPr/>
        </p:nvSpPr>
        <p:spPr>
          <a:xfrm>
            <a:off x="11183112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Expected business outcomes and KPIs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AI Control Plane, slide 45: Expected business outcomes and KPIs</dc:title>
  <dc:subject>One slide from The AI Control Plane: Executive Briefing, by John Fisher (2026), CC BY-NC-ND 4.0</dc:subject>
  <dc:creator>John Fisher</dc:creator>
  <cp:lastModifiedBy>John Fisher</cp:lastModifiedBy>
  <cp:revision>1</cp:revision>
  <dcterms:created xsi:type="dcterms:W3CDTF">2026-10-14T20:43:52Z</dcterms:created>
  <dcterms:modified xsi:type="dcterms:W3CDTF">2026-10-14T20:43:52Z</dcterms:modified>
</cp:coreProperties>
</file>