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5" r:id="rId51"/>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1" Type="http://schemas.openxmlformats.org/officeDocument/2006/relationships/slide" Target="slides/slide50.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 Id="rId6" Type="http://schemas.openxmlformats.org/officeDocument/2006/relationships/hyperlink" Target="https://johnfisher-ai.github.io/ai-control-plane-handbook/deck/notices.html#permission" TargetMode="External"/></Relationship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This is the vendor-neutral solution architecture, aligned to the north-star reference architecture, with one addition: a safety and OT layer beneath the systems of record that the agents cannot reach. Only the systems of record are named products.</a:t>
            </a:r>
          </a:p>
          <a:p>
            <a:pPr>
              <a:spcAft>
                <a:spcPts val="600"/>
              </a:spcAft>
            </a:pPr>
            <a:r>
              <a:rPr lang="en-US" dirty="0"/>
              <a:t>Orchestration model selected: a dedicated orchestration tier for operations, federated under the enterprise control plane. Operations data and agents stay in the operator's own environment, close to the historian, while identity, policy, registry, audit and cost remain centrally governed. Orchestration is event-driven, with a supervisor pattern over A2A [27] and deterministic workflows for anything that touches equipment: a setpoint request always needs a controller's approval, and larger changes need a supervisor's confirmation.</a:t>
            </a:r>
          </a:p>
          <a:p>
            <a:pPr>
              <a:spcAft>
                <a:spcPts val="600"/>
              </a:spcAft>
            </a:pPr>
            <a:r>
              <a:rPr lang="en-US" dirty="0"/>
              <a:t>Models and routing: anomaly models are conventional machine learning on time series. The operator's hydraulic model checks every proposed load shift deterministically and has the final word. A self-hosted small language model reads and drafts text, and a frontier model on a private endpoint summarizes diagnostics. Advice that rests on data that has since gone stale is discarded.</a:t>
            </a:r>
          </a:p>
          <a:p>
            <a:pPr>
              <a:spcAft>
                <a:spcPts val="600"/>
              </a:spcAft>
            </a:pPr>
            <a:r>
              <a:rPr lang="en-US" dirty="0"/>
              <a:t>Control plane and policy: each approval is bound to the exact change and valid for ten minutes by the gateway's clock, with a supervisor as separate attester above a threshold. Cumulative caps limit flow re-allocation per hour and per shift across agents and sessions. Stale data (a feed more than 60 seconds old) drops the advisor to advice-only and voids pending requests, and alert budgets keep agent notifications within alarm-management limits. The binding and cumulative limits are custom Omni Gateway policies [78].</a:t>
            </a:r>
          </a:p>
          <a:p>
            <a:pPr>
              <a:spcAft>
                <a:spcPts val="600"/>
              </a:spcAft>
            </a:pPr>
            <a:r>
              <a:rPr lang="en-US" dirty="0"/>
              <a:t>Security at every level: the design applies zero trust [90], with zones and conduits following ISA/IEC 62443 and NIST's OT security guide [68][69]. The only write path into operations is a setpoint-request service in the DMZ. Safety instrumented systems, emergency shutdown and interlocks stay independent of the agent path [66], and honeytokens and decoy tools in the DMZ flag any agent outside the governed path.</a:t>
            </a:r>
          </a:p>
          <a:p>
            <a:pPr>
              <a:spcAft>
                <a:spcPts val="600"/>
              </a:spcAft>
            </a:pPr>
            <a:r>
              <a:rPr lang="en-US" dirty="0"/>
              <a:t>Credit: John Fisher, The AI Control Plane: Executive Briefing (2026), slide 50,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 You may adapt this slide, with credit, under the additional permission in the deck’s notices: </a:t>
            </a:r>
            <a:r>
              <a:rPr lang="en-US" dirty="0">
                <a:hlinkClick r:id="rId6"/>
              </a:rPr>
              <a:t>https://johnfisher-ai.github.io/ai-control-plane-handbook/deck/notices.html#permission</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50</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REFERENCE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Vendor-neutral architecture with the safety layer out of reach</a:t>
            </a:r>
            <a:endParaRPr lang="en-US" sz="2600" dirty="0"/>
          </a:p>
        </p:txBody>
      </p:sp>
      <p:sp>
        <p:nvSpPr>
          <p:cNvPr id="4" name="Shape 2"/>
          <p:cNvSpPr/>
          <p:nvPr/>
        </p:nvSpPr>
        <p:spPr>
          <a:xfrm>
            <a:off x="548640" y="1325880"/>
            <a:ext cx="9427464" cy="498348"/>
          </a:xfrm>
          <a:prstGeom prst="roundRect">
            <a:avLst>
              <a:gd name="adj" fmla="val 11009"/>
            </a:avLst>
          </a:prstGeom>
          <a:solidFill>
            <a:srgbClr val="F1F5F9"/>
          </a:solidFill>
          <a:ln w="9525">
            <a:solidFill>
              <a:srgbClr val="CBD5E1"/>
            </a:solidFill>
            <a:prstDash val="solid"/>
          </a:ln>
        </p:spPr>
      </p:sp>
      <p:sp>
        <p:nvSpPr>
          <p:cNvPr id="5" name="Text 3"/>
          <p:cNvSpPr txBox="1"/>
          <p:nvPr/>
        </p:nvSpPr>
        <p:spPr>
          <a:xfrm>
            <a:off x="640080" y="132588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OPERATORS</a:t>
            </a:r>
            <a:endParaRPr lang="en-US" sz="1200" dirty="0"/>
          </a:p>
        </p:txBody>
      </p:sp>
      <p:sp>
        <p:nvSpPr>
          <p:cNvPr id="6" name="Text 4"/>
          <p:cNvSpPr/>
          <p:nvPr/>
        </p:nvSpPr>
        <p:spPr>
          <a:xfrm>
            <a:off x="1691640"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room console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gas controllers</a:t>
            </a:r>
            <a:endParaRPr lang="en-US" sz="1000" dirty="0"/>
          </a:p>
        </p:txBody>
      </p:sp>
      <p:sp>
        <p:nvSpPr>
          <p:cNvPr id="7" name="Text 5"/>
          <p:cNvSpPr/>
          <p:nvPr/>
        </p:nvSpPr>
        <p:spPr>
          <a:xfrm>
            <a:off x="3765042"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copilot</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engineers • planners</a:t>
            </a:r>
            <a:endParaRPr lang="en-US" sz="1000" dirty="0"/>
          </a:p>
        </p:txBody>
      </p:sp>
      <p:sp>
        <p:nvSpPr>
          <p:cNvPr id="8" name="Text 6"/>
          <p:cNvSpPr/>
          <p:nvPr/>
        </p:nvSpPr>
        <p:spPr>
          <a:xfrm>
            <a:off x="5838444"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Mobile approvals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supervisors • step-up MFA</a:t>
            </a:r>
            <a:endParaRPr lang="en-US" sz="1000" dirty="0"/>
          </a:p>
        </p:txBody>
      </p:sp>
      <p:sp>
        <p:nvSpPr>
          <p:cNvPr id="9" name="Text 7"/>
          <p:cNvSpPr/>
          <p:nvPr/>
        </p:nvSpPr>
        <p:spPr>
          <a:xfrm>
            <a:off x="7911846"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Compliance workspace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records • reviews</a:t>
            </a:r>
            <a:endParaRPr lang="en-US" sz="1000" dirty="0"/>
          </a:p>
        </p:txBody>
      </p:sp>
      <p:sp>
        <p:nvSpPr>
          <p:cNvPr id="10" name="Shape 8"/>
          <p:cNvSpPr/>
          <p:nvPr/>
        </p:nvSpPr>
        <p:spPr>
          <a:xfrm>
            <a:off x="548640" y="1874520"/>
            <a:ext cx="9427464" cy="498348"/>
          </a:xfrm>
          <a:prstGeom prst="roundRect">
            <a:avLst>
              <a:gd name="adj" fmla="val 11009"/>
            </a:avLst>
          </a:prstGeom>
          <a:solidFill>
            <a:srgbClr val="E0F2FE"/>
          </a:solidFill>
          <a:ln w="9525">
            <a:solidFill>
              <a:srgbClr val="BAE6FD"/>
            </a:solidFill>
            <a:prstDash val="solid"/>
          </a:ln>
        </p:spPr>
      </p:sp>
      <p:sp>
        <p:nvSpPr>
          <p:cNvPr id="11" name="Text 9"/>
          <p:cNvSpPr txBox="1"/>
          <p:nvPr/>
        </p:nvSpPr>
        <p:spPr>
          <a:xfrm>
            <a:off x="640080" y="187452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autonomy tier</a:t>
            </a:r>
            <a:endParaRPr lang="en-US" sz="1200" dirty="0"/>
          </a:p>
        </p:txBody>
      </p:sp>
      <p:sp>
        <p:nvSpPr>
          <p:cNvPr id="12" name="Text 10"/>
          <p:cNvSpPr/>
          <p:nvPr/>
        </p:nvSpPr>
        <p:spPr>
          <a:xfrm>
            <a:off x="1691640"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Condition Monitoring</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scores</a:t>
            </a:r>
            <a:endParaRPr lang="en-US" sz="900" dirty="0"/>
          </a:p>
        </p:txBody>
      </p:sp>
      <p:sp>
        <p:nvSpPr>
          <p:cNvPr id="13" name="Text 11"/>
          <p:cNvSpPr/>
          <p:nvPr/>
        </p:nvSpPr>
        <p:spPr>
          <a:xfrm>
            <a:off x="3073908"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Diagnostics</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1 • advises</a:t>
            </a:r>
            <a:endParaRPr lang="en-US" sz="900" dirty="0"/>
          </a:p>
        </p:txBody>
      </p:sp>
      <p:sp>
        <p:nvSpPr>
          <p:cNvPr id="14" name="Text 12"/>
          <p:cNvSpPr/>
          <p:nvPr/>
        </p:nvSpPr>
        <p:spPr>
          <a:xfrm>
            <a:off x="4456176"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Flow &amp; Load Advisor</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1 • proposes</a:t>
            </a:r>
            <a:endParaRPr lang="en-US" sz="900" dirty="0"/>
          </a:p>
        </p:txBody>
      </p:sp>
      <p:sp>
        <p:nvSpPr>
          <p:cNvPr id="15" name="Text 13"/>
          <p:cNvSpPr/>
          <p:nvPr/>
        </p:nvSpPr>
        <p:spPr>
          <a:xfrm>
            <a:off x="5838444"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Maintenance Planning</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3 • notifications</a:t>
            </a:r>
            <a:endParaRPr lang="en-US" sz="900" dirty="0"/>
          </a:p>
        </p:txBody>
      </p:sp>
      <p:sp>
        <p:nvSpPr>
          <p:cNvPr id="16" name="Text 14"/>
          <p:cNvSpPr/>
          <p:nvPr/>
        </p:nvSpPr>
        <p:spPr>
          <a:xfrm>
            <a:off x="7220712"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Crew &amp; Permit</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proposes</a:t>
            </a:r>
            <a:endParaRPr lang="en-US" sz="900" dirty="0"/>
          </a:p>
        </p:txBody>
      </p:sp>
      <p:sp>
        <p:nvSpPr>
          <p:cNvPr id="17" name="Text 15"/>
          <p:cNvSpPr/>
          <p:nvPr/>
        </p:nvSpPr>
        <p:spPr>
          <a:xfrm>
            <a:off x="8602980"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Compliance Records</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drafts</a:t>
            </a:r>
            <a:endParaRPr lang="en-US" sz="900" dirty="0"/>
          </a:p>
        </p:txBody>
      </p:sp>
      <p:sp>
        <p:nvSpPr>
          <p:cNvPr id="18" name="Shape 16"/>
          <p:cNvSpPr/>
          <p:nvPr/>
        </p:nvSpPr>
        <p:spPr>
          <a:xfrm>
            <a:off x="548640" y="2423160"/>
            <a:ext cx="9427464" cy="498348"/>
          </a:xfrm>
          <a:prstGeom prst="roundRect">
            <a:avLst>
              <a:gd name="adj" fmla="val 11009"/>
            </a:avLst>
          </a:prstGeom>
          <a:solidFill>
            <a:srgbClr val="F0F9FF"/>
          </a:solidFill>
          <a:ln w="9525">
            <a:solidFill>
              <a:srgbClr val="BAE6FD"/>
            </a:solidFill>
            <a:prstDash val="solid"/>
          </a:ln>
        </p:spPr>
      </p:sp>
      <p:sp>
        <p:nvSpPr>
          <p:cNvPr id="19" name="Text 17"/>
          <p:cNvSpPr txBox="1"/>
          <p:nvPr/>
        </p:nvSpPr>
        <p:spPr>
          <a:xfrm>
            <a:off x="640080" y="242316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dedicated, federated</a:t>
            </a:r>
            <a:endParaRPr lang="en-US" sz="1200" dirty="0"/>
          </a:p>
        </p:txBody>
      </p:sp>
      <p:sp>
        <p:nvSpPr>
          <p:cNvPr id="20" name="Text 18"/>
          <p:cNvSpPr/>
          <p:nvPr/>
        </p:nvSpPr>
        <p:spPr>
          <a:xfrm>
            <a:off x="1691640"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Orchestrator</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dedicated ops tier</a:t>
            </a:r>
            <a:endParaRPr lang="en-US" sz="1000" dirty="0"/>
          </a:p>
        </p:txBody>
      </p:sp>
      <p:sp>
        <p:nvSpPr>
          <p:cNvPr id="21" name="Text 19"/>
          <p:cNvSpPr/>
          <p:nvPr/>
        </p:nvSpPr>
        <p:spPr>
          <a:xfrm>
            <a:off x="3765042"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Deterministic gates</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approvals • confirmations</a:t>
            </a:r>
            <a:endParaRPr lang="en-US" sz="1000" dirty="0"/>
          </a:p>
        </p:txBody>
      </p:sp>
      <p:sp>
        <p:nvSpPr>
          <p:cNvPr id="22" name="Text 20"/>
          <p:cNvSpPr/>
          <p:nvPr/>
        </p:nvSpPr>
        <p:spPr>
          <a:xfrm>
            <a:off x="5838444"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A2A delegation</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internal agents</a:t>
            </a:r>
            <a:endParaRPr lang="en-US" sz="1000" dirty="0"/>
          </a:p>
        </p:txBody>
      </p:sp>
      <p:sp>
        <p:nvSpPr>
          <p:cNvPr id="23" name="Text 21"/>
          <p:cNvSpPr/>
          <p:nvPr/>
        </p:nvSpPr>
        <p:spPr>
          <a:xfrm>
            <a:off x="7911846"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Event triggers</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historian • alarms • orders</a:t>
            </a:r>
            <a:endParaRPr lang="en-US" sz="1000" dirty="0"/>
          </a:p>
        </p:txBody>
      </p:sp>
      <p:sp>
        <p:nvSpPr>
          <p:cNvPr id="24" name="Shape 22"/>
          <p:cNvSpPr/>
          <p:nvPr/>
        </p:nvSpPr>
        <p:spPr>
          <a:xfrm>
            <a:off x="548640" y="2971800"/>
            <a:ext cx="9427464" cy="498348"/>
          </a:xfrm>
          <a:prstGeom prst="roundRect">
            <a:avLst>
              <a:gd name="adj" fmla="val 11009"/>
            </a:avLst>
          </a:prstGeom>
          <a:solidFill>
            <a:srgbClr val="0F172A"/>
          </a:solidFill>
          <a:ln w="9525">
            <a:solidFill>
              <a:srgbClr val="0F172A"/>
            </a:solidFill>
            <a:prstDash val="solid"/>
          </a:ln>
        </p:spPr>
      </p:sp>
      <p:sp>
        <p:nvSpPr>
          <p:cNvPr id="25" name="Text 23"/>
          <p:cNvSpPr txBox="1"/>
          <p:nvPr/>
        </p:nvSpPr>
        <p:spPr>
          <a:xfrm>
            <a:off x="640080" y="2971800"/>
            <a:ext cx="1014984" cy="498348"/>
          </a:xfrm>
          <a:prstGeom prst="rect">
            <a:avLst/>
          </a:prstGeom>
          <a:noFill/>
          <a:ln/>
        </p:spPr>
        <p:txBody>
          <a:bodyPr wrap="square" lIns="0" tIns="0" rIns="0" bIns="0" rtlCol="0" anchor="ctr"/>
          <a:lstStyle/>
          <a:p>
            <a:pPr indent="0" marL="0">
              <a:buNone/>
            </a:pPr>
            <a:r>
              <a:rPr lang="en-US" sz="850" b="1" spc="30" kern="0" dirty="0">
                <a:solidFill>
                  <a:srgbClr val="38BDF8"/>
                </a:solidFill>
                <a:latin typeface="Plus Jakarta Sans" pitchFamily="34" charset="0"/>
                <a:ea typeface="Plus Jakarta Sans" pitchFamily="34" charset="-122"/>
                <a:cs typeface="Plus Jakarta Sans" pitchFamily="34" charset="-120"/>
              </a:rPr>
              <a:t>CONTROL PLANE</a:t>
            </a:r>
            <a:endParaRPr lang="en-US" sz="1200" dirty="0"/>
          </a:p>
        </p:txBody>
      </p:sp>
      <p:sp>
        <p:nvSpPr>
          <p:cNvPr id="26" name="Text 24"/>
          <p:cNvSpPr/>
          <p:nvPr/>
        </p:nvSpPr>
        <p:spPr>
          <a:xfrm>
            <a:off x="1691640"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Registry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agents • tools • limits</a:t>
            </a:r>
            <a:endParaRPr lang="en-US" sz="900" dirty="0"/>
          </a:p>
        </p:txBody>
      </p:sp>
      <p:sp>
        <p:nvSpPr>
          <p:cNvPr id="27" name="Text 25"/>
          <p:cNvSpPr/>
          <p:nvPr/>
        </p:nvSpPr>
        <p:spPr>
          <a:xfrm>
            <a:off x="3073908"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AI gateway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LLM • MCP • A2A</a:t>
            </a:r>
            <a:endParaRPr lang="en-US" sz="900" dirty="0"/>
          </a:p>
        </p:txBody>
      </p:sp>
      <p:sp>
        <p:nvSpPr>
          <p:cNvPr id="28" name="Text 26"/>
          <p:cNvSpPr/>
          <p:nvPr/>
        </p:nvSpPr>
        <p:spPr>
          <a:xfrm>
            <a:off x="4456176"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Approval binding</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exact change • 10 min</a:t>
            </a:r>
            <a:endParaRPr lang="en-US" sz="900" dirty="0"/>
          </a:p>
        </p:txBody>
      </p:sp>
      <p:sp>
        <p:nvSpPr>
          <p:cNvPr id="29" name="Text 27"/>
          <p:cNvSpPr/>
          <p:nvPr/>
        </p:nvSpPr>
        <p:spPr>
          <a:xfrm>
            <a:off x="5838444"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Cumulative limits</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per hour • per shift</a:t>
            </a:r>
            <a:endParaRPr lang="en-US" sz="900" dirty="0"/>
          </a:p>
        </p:txBody>
      </p:sp>
      <p:sp>
        <p:nvSpPr>
          <p:cNvPr id="30" name="Text 28"/>
          <p:cNvSpPr/>
          <p:nvPr/>
        </p:nvSpPr>
        <p:spPr>
          <a:xfrm>
            <a:off x="7220712"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Identity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agent IDs • OBO</a:t>
            </a:r>
            <a:endParaRPr lang="en-US" sz="900" dirty="0"/>
          </a:p>
        </p:txBody>
      </p:sp>
      <p:sp>
        <p:nvSpPr>
          <p:cNvPr id="31" name="Text 29"/>
          <p:cNvSpPr/>
          <p:nvPr/>
        </p:nvSpPr>
        <p:spPr>
          <a:xfrm>
            <a:off x="8602980"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Safe defaults</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stale data • kill switch</a:t>
            </a:r>
            <a:endParaRPr lang="en-US" sz="900" dirty="0"/>
          </a:p>
        </p:txBody>
      </p:sp>
      <p:sp>
        <p:nvSpPr>
          <p:cNvPr id="32" name="Shape 30"/>
          <p:cNvSpPr/>
          <p:nvPr/>
        </p:nvSpPr>
        <p:spPr>
          <a:xfrm>
            <a:off x="548640" y="3520440"/>
            <a:ext cx="9427464" cy="498348"/>
          </a:xfrm>
          <a:prstGeom prst="roundRect">
            <a:avLst>
              <a:gd name="adj" fmla="val 11009"/>
            </a:avLst>
          </a:prstGeom>
          <a:solidFill>
            <a:srgbClr val="F5F3FF"/>
          </a:solidFill>
          <a:ln w="9525">
            <a:solidFill>
              <a:srgbClr val="DDD6FE"/>
            </a:solidFill>
            <a:prstDash val="solid"/>
          </a:ln>
        </p:spPr>
      </p:sp>
      <p:sp>
        <p:nvSpPr>
          <p:cNvPr id="33" name="Text 31"/>
          <p:cNvSpPr txBox="1"/>
          <p:nvPr/>
        </p:nvSpPr>
        <p:spPr>
          <a:xfrm>
            <a:off x="640080" y="3520440"/>
            <a:ext cx="1014984" cy="49834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routed by policy</a:t>
            </a:r>
            <a:endParaRPr lang="en-US" sz="1200" dirty="0"/>
          </a:p>
        </p:txBody>
      </p:sp>
      <p:sp>
        <p:nvSpPr>
          <p:cNvPr id="34" name="Text 32"/>
          <p:cNvSpPr/>
          <p:nvPr/>
        </p:nvSpPr>
        <p:spPr>
          <a:xfrm>
            <a:off x="1691640"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Anomaly models</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ML • time series</a:t>
            </a:r>
            <a:endParaRPr lang="en-US" sz="1000" dirty="0"/>
          </a:p>
        </p:txBody>
      </p:sp>
      <p:sp>
        <p:nvSpPr>
          <p:cNvPr id="35" name="Text 33"/>
          <p:cNvSpPr/>
          <p:nvPr/>
        </p:nvSpPr>
        <p:spPr>
          <a:xfrm>
            <a:off x="3765042"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Hydraulic model</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deterministic check</a:t>
            </a:r>
            <a:endParaRPr lang="en-US" sz="1000" dirty="0"/>
          </a:p>
        </p:txBody>
      </p:sp>
      <p:sp>
        <p:nvSpPr>
          <p:cNvPr id="36" name="Text 34"/>
          <p:cNvSpPr/>
          <p:nvPr/>
        </p:nvSpPr>
        <p:spPr>
          <a:xfrm>
            <a:off x="5838444"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Fine-tuned SLM</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self-hosted • text</a:t>
            </a:r>
            <a:endParaRPr lang="en-US" sz="1000" dirty="0"/>
          </a:p>
        </p:txBody>
      </p:sp>
      <p:sp>
        <p:nvSpPr>
          <p:cNvPr id="37" name="Text 35"/>
          <p:cNvSpPr/>
          <p:nvPr/>
        </p:nvSpPr>
        <p:spPr>
          <a:xfrm>
            <a:off x="7911846"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Frontier LLM</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private endpoint</a:t>
            </a:r>
            <a:endParaRPr lang="en-US" sz="1000" dirty="0"/>
          </a:p>
        </p:txBody>
      </p:sp>
      <p:sp>
        <p:nvSpPr>
          <p:cNvPr id="38" name="Shape 36"/>
          <p:cNvSpPr/>
          <p:nvPr/>
        </p:nvSpPr>
        <p:spPr>
          <a:xfrm>
            <a:off x="548640" y="4069080"/>
            <a:ext cx="9427464" cy="498348"/>
          </a:xfrm>
          <a:prstGeom prst="roundRect">
            <a:avLst>
              <a:gd name="adj" fmla="val 11009"/>
            </a:avLst>
          </a:prstGeom>
          <a:solidFill>
            <a:srgbClr val="F0FDFA"/>
          </a:solidFill>
          <a:ln w="9525">
            <a:solidFill>
              <a:srgbClr val="99F6E4"/>
            </a:solidFill>
            <a:prstDash val="solid"/>
          </a:ln>
        </p:spPr>
      </p:sp>
      <p:sp>
        <p:nvSpPr>
          <p:cNvPr id="39" name="Text 37"/>
          <p:cNvSpPr txBox="1"/>
          <p:nvPr/>
        </p:nvSpPr>
        <p:spPr>
          <a:xfrm>
            <a:off x="640080" y="4069080"/>
            <a:ext cx="1014984" cy="49834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0" name="Text 38"/>
          <p:cNvSpPr/>
          <p:nvPr/>
        </p:nvSpPr>
        <p:spPr>
          <a:xfrm>
            <a:off x="1691640"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Historian replica</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read • DMZ</a:t>
            </a:r>
            <a:endParaRPr lang="en-US" sz="900" dirty="0"/>
          </a:p>
        </p:txBody>
      </p:sp>
      <p:sp>
        <p:nvSpPr>
          <p:cNvPr id="41" name="Text 39"/>
          <p:cNvSpPr/>
          <p:nvPr/>
        </p:nvSpPr>
        <p:spPr>
          <a:xfrm>
            <a:off x="3073908"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Setpoint requests</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gated write • DMZ</a:t>
            </a:r>
            <a:endParaRPr lang="en-US" sz="900" dirty="0"/>
          </a:p>
        </p:txBody>
      </p:sp>
      <p:sp>
        <p:nvSpPr>
          <p:cNvPr id="42" name="Text 40"/>
          <p:cNvSpPr/>
          <p:nvPr/>
        </p:nvSpPr>
        <p:spPr>
          <a:xfrm>
            <a:off x="4456176"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orders • parts</a:t>
            </a:r>
            <a:endParaRPr lang="en-US" sz="900" dirty="0"/>
          </a:p>
        </p:txBody>
      </p:sp>
      <p:sp>
        <p:nvSpPr>
          <p:cNvPr id="43" name="Text 41"/>
          <p:cNvSpPr/>
          <p:nvPr/>
        </p:nvSpPr>
        <p:spPr>
          <a:xfrm>
            <a:off x="5838444"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people • crews</a:t>
            </a:r>
            <a:endParaRPr lang="en-US" sz="900" dirty="0"/>
          </a:p>
        </p:txBody>
      </p:sp>
      <p:sp>
        <p:nvSpPr>
          <p:cNvPr id="44" name="Text 42"/>
          <p:cNvSpPr/>
          <p:nvPr/>
        </p:nvSpPr>
        <p:spPr>
          <a:xfrm>
            <a:off x="7220712"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Permits &amp; quals</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permit-to-work</a:t>
            </a:r>
            <a:endParaRPr lang="en-US" sz="900" dirty="0"/>
          </a:p>
        </p:txBody>
      </p:sp>
      <p:sp>
        <p:nvSpPr>
          <p:cNvPr id="45" name="Text 43"/>
          <p:cNvSpPr/>
          <p:nvPr/>
        </p:nvSpPr>
        <p:spPr>
          <a:xfrm>
            <a:off x="8602980"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sensor history</a:t>
            </a:r>
            <a:endParaRPr lang="en-US" sz="900" dirty="0"/>
          </a:p>
        </p:txBody>
      </p:sp>
      <p:sp>
        <p:nvSpPr>
          <p:cNvPr id="46" name="Shape 44"/>
          <p:cNvSpPr/>
          <p:nvPr/>
        </p:nvSpPr>
        <p:spPr>
          <a:xfrm>
            <a:off x="548640" y="4617720"/>
            <a:ext cx="9427464" cy="498348"/>
          </a:xfrm>
          <a:prstGeom prst="roundRect">
            <a:avLst>
              <a:gd name="adj" fmla="val 11009"/>
            </a:avLst>
          </a:prstGeom>
          <a:solidFill>
            <a:srgbClr val="F0FDF4"/>
          </a:solidFill>
          <a:ln w="9525">
            <a:solidFill>
              <a:srgbClr val="BBF7D0"/>
            </a:solidFill>
            <a:prstDash val="solid"/>
          </a:ln>
        </p:spPr>
      </p:sp>
      <p:sp>
        <p:nvSpPr>
          <p:cNvPr id="47" name="Text 45"/>
          <p:cNvSpPr txBox="1"/>
          <p:nvPr/>
        </p:nvSpPr>
        <p:spPr>
          <a:xfrm>
            <a:off x="640080" y="4617720"/>
            <a:ext cx="1014984" cy="49834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MDM &amp; semantics</a:t>
            </a:r>
            <a:endParaRPr lang="en-US" sz="1200" dirty="0"/>
          </a:p>
        </p:txBody>
      </p:sp>
      <p:sp>
        <p:nvSpPr>
          <p:cNvPr id="48" name="Text 46"/>
          <p:cNvSpPr/>
          <p:nvPr/>
        </p:nvSpPr>
        <p:spPr>
          <a:xfrm>
            <a:off x="1691640"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Asset master</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stations • units</a:t>
            </a:r>
            <a:endParaRPr lang="en-US" sz="1000" dirty="0"/>
          </a:p>
        </p:txBody>
      </p:sp>
      <p:sp>
        <p:nvSpPr>
          <p:cNvPr id="49" name="Text 47"/>
          <p:cNvSpPr/>
          <p:nvPr/>
        </p:nvSpPr>
        <p:spPr>
          <a:xfrm>
            <a:off x="3765042"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Tag master</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tags to assets</a:t>
            </a:r>
            <a:endParaRPr lang="en-US" sz="1000" dirty="0"/>
          </a:p>
        </p:txBody>
      </p:sp>
      <p:sp>
        <p:nvSpPr>
          <p:cNvPr id="50" name="Text 48"/>
          <p:cNvSpPr/>
          <p:nvPr/>
        </p:nvSpPr>
        <p:spPr>
          <a:xfrm>
            <a:off x="5838444"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Limits &amp; MOC</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read-only to agents</a:t>
            </a:r>
            <a:endParaRPr lang="en-US" sz="1000" dirty="0"/>
          </a:p>
        </p:txBody>
      </p:sp>
      <p:sp>
        <p:nvSpPr>
          <p:cNvPr id="51" name="Text 49"/>
          <p:cNvSpPr/>
          <p:nvPr/>
        </p:nvSpPr>
        <p:spPr>
          <a:xfrm>
            <a:off x="7911846"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Glossary &amp; lineage</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tags to decisions</a:t>
            </a:r>
            <a:endParaRPr lang="en-US" sz="1000" dirty="0"/>
          </a:p>
        </p:txBody>
      </p:sp>
      <p:sp>
        <p:nvSpPr>
          <p:cNvPr id="52" name="Shape 50"/>
          <p:cNvSpPr/>
          <p:nvPr/>
        </p:nvSpPr>
        <p:spPr>
          <a:xfrm>
            <a:off x="548640" y="5166360"/>
            <a:ext cx="9427464" cy="498348"/>
          </a:xfrm>
          <a:prstGeom prst="roundRect">
            <a:avLst>
              <a:gd name="adj" fmla="val 11009"/>
            </a:avLst>
          </a:prstGeom>
          <a:solidFill>
            <a:srgbClr val="F8FAFC"/>
          </a:solidFill>
          <a:ln w="9525">
            <a:solidFill>
              <a:srgbClr val="E2E8F0"/>
            </a:solidFill>
            <a:prstDash val="solid"/>
          </a:ln>
        </p:spPr>
      </p:sp>
      <p:sp>
        <p:nvSpPr>
          <p:cNvPr id="53" name="Text 51"/>
          <p:cNvSpPr txBox="1"/>
          <p:nvPr/>
        </p:nvSpPr>
        <p:spPr>
          <a:xfrm>
            <a:off x="640080" y="516636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54" name="Text 52"/>
          <p:cNvSpPr/>
          <p:nvPr/>
        </p:nvSpPr>
        <p:spPr>
          <a:xfrm>
            <a:off x="1691640"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SCADA &amp; historian</a:t>
            </a:r>
            <a:endParaRPr lang="en-US" sz="900" dirty="0"/>
          </a:p>
        </p:txBody>
      </p:sp>
      <p:sp>
        <p:nvSpPr>
          <p:cNvPr id="55" name="Text 53"/>
          <p:cNvSpPr/>
          <p:nvPr/>
        </p:nvSpPr>
        <p:spPr>
          <a:xfrm>
            <a:off x="3073908"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p:txBody>
      </p:sp>
      <p:sp>
        <p:nvSpPr>
          <p:cNvPr id="56" name="Text 54"/>
          <p:cNvSpPr/>
          <p:nvPr/>
        </p:nvSpPr>
        <p:spPr>
          <a:xfrm>
            <a:off x="4456176"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HCM</a:t>
            </a:r>
            <a:endParaRPr lang="en-US" sz="900" dirty="0"/>
          </a:p>
        </p:txBody>
      </p:sp>
      <p:sp>
        <p:nvSpPr>
          <p:cNvPr id="57" name="Text 55"/>
          <p:cNvSpPr/>
          <p:nvPr/>
        </p:nvSpPr>
        <p:spPr>
          <a:xfrm>
            <a:off x="5838444"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Permit-to-work</a:t>
            </a:r>
            <a:endParaRPr lang="en-US" sz="900" dirty="0"/>
          </a:p>
        </p:txBody>
      </p:sp>
      <p:sp>
        <p:nvSpPr>
          <p:cNvPr id="58" name="Text 56"/>
          <p:cNvSpPr/>
          <p:nvPr/>
        </p:nvSpPr>
        <p:spPr>
          <a:xfrm>
            <a:off x="7220712"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GIS &amp; assets</a:t>
            </a:r>
            <a:endParaRPr lang="en-US" sz="900" dirty="0"/>
          </a:p>
        </p:txBody>
      </p:sp>
      <p:sp>
        <p:nvSpPr>
          <p:cNvPr id="59" name="Text 57"/>
          <p:cNvSpPr/>
          <p:nvPr/>
        </p:nvSpPr>
        <p:spPr>
          <a:xfrm>
            <a:off x="8602980"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p:txBody>
      </p:sp>
      <p:sp>
        <p:nvSpPr>
          <p:cNvPr id="60" name="Shape 58"/>
          <p:cNvSpPr/>
          <p:nvPr/>
        </p:nvSpPr>
        <p:spPr>
          <a:xfrm>
            <a:off x="548640" y="5715000"/>
            <a:ext cx="9427464" cy="498348"/>
          </a:xfrm>
          <a:prstGeom prst="roundRect">
            <a:avLst>
              <a:gd name="adj" fmla="val 11009"/>
            </a:avLst>
          </a:prstGeom>
          <a:solidFill>
            <a:srgbClr val="FFF7ED"/>
          </a:solidFill>
          <a:ln w="9525">
            <a:solidFill>
              <a:srgbClr val="FED7AA"/>
            </a:solidFill>
            <a:prstDash val="solid"/>
          </a:ln>
        </p:spPr>
      </p:sp>
      <p:sp>
        <p:nvSpPr>
          <p:cNvPr id="61" name="Text 59"/>
          <p:cNvSpPr txBox="1"/>
          <p:nvPr/>
        </p:nvSpPr>
        <p:spPr>
          <a:xfrm>
            <a:off x="640080" y="5715000"/>
            <a:ext cx="1014984" cy="498348"/>
          </a:xfrm>
          <a:prstGeom prst="rect">
            <a:avLst/>
          </a:prstGeom>
          <a:noFill/>
          <a:ln/>
        </p:spPr>
        <p:txBody>
          <a:bodyPr wrap="square" lIns="0" tIns="0" rIns="0" bIns="0" rtlCol="0" anchor="ctr"/>
          <a:lstStyle/>
          <a:p>
            <a:pPr indent="0" marL="0">
              <a:buNone/>
            </a:pPr>
            <a:r>
              <a:rPr lang="en-US" sz="850" b="1" spc="30" kern="0" dirty="0">
                <a:solidFill>
                  <a:srgbClr val="9A3412"/>
                </a:solidFill>
                <a:latin typeface="Plus Jakarta Sans" pitchFamily="34" charset="0"/>
                <a:ea typeface="Plus Jakarta Sans" pitchFamily="34" charset="-122"/>
                <a:cs typeface="Plus Jakarta Sans" pitchFamily="34" charset="-120"/>
              </a:rPr>
              <a:t>SAFETY &amp; OT</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independent</a:t>
            </a:r>
            <a:endParaRPr lang="en-US" sz="1200" dirty="0"/>
          </a:p>
        </p:txBody>
      </p:sp>
      <p:sp>
        <p:nvSpPr>
          <p:cNvPr id="62" name="Text 60"/>
          <p:cNvSpPr/>
          <p:nvPr/>
        </p:nvSpPr>
        <p:spPr>
          <a:xfrm>
            <a:off x="1691640"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SIS &amp; ESD</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act on their own</a:t>
            </a:r>
            <a:endParaRPr lang="en-US" sz="1000" dirty="0"/>
          </a:p>
        </p:txBody>
      </p:sp>
      <p:sp>
        <p:nvSpPr>
          <p:cNvPr id="63" name="Text 61"/>
          <p:cNvSpPr/>
          <p:nvPr/>
        </p:nvSpPr>
        <p:spPr>
          <a:xfrm>
            <a:off x="3765042"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Interlocks &amp; relief</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hardwired • mechanical</a:t>
            </a:r>
            <a:endParaRPr lang="en-US" sz="1000" dirty="0"/>
          </a:p>
        </p:txBody>
      </p:sp>
      <p:sp>
        <p:nvSpPr>
          <p:cNvPr id="64" name="Text 62"/>
          <p:cNvSpPr/>
          <p:nvPr/>
        </p:nvSpPr>
        <p:spPr>
          <a:xfrm>
            <a:off x="5838444"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limits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engineering limits</a:t>
            </a:r>
            <a:endParaRPr lang="en-US" sz="1000" dirty="0"/>
          </a:p>
        </p:txBody>
      </p:sp>
      <p:sp>
        <p:nvSpPr>
          <p:cNvPr id="65" name="Text 63"/>
          <p:cNvSpPr/>
          <p:nvPr/>
        </p:nvSpPr>
        <p:spPr>
          <a:xfrm>
            <a:off x="7911846"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Zones &amp; conduits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IEC 62443</a:t>
            </a:r>
            <a:endParaRPr lang="en-US" sz="1000" dirty="0"/>
          </a:p>
        </p:txBody>
      </p:sp>
      <p:sp>
        <p:nvSpPr>
          <p:cNvPr id="66" name="Shape 64"/>
          <p:cNvSpPr/>
          <p:nvPr/>
        </p:nvSpPr>
        <p:spPr>
          <a:xfrm>
            <a:off x="10058400" y="1325880"/>
            <a:ext cx="1581912" cy="2302093"/>
          </a:xfrm>
          <a:prstGeom prst="roundRect">
            <a:avLst>
              <a:gd name="adj" fmla="val 3468"/>
            </a:avLst>
          </a:prstGeom>
          <a:solidFill>
            <a:srgbClr val="FEF2F2"/>
          </a:solidFill>
          <a:ln w="9525">
            <a:solidFill>
              <a:srgbClr val="FECACA"/>
            </a:solidFill>
            <a:prstDash val="solid"/>
          </a:ln>
        </p:spPr>
      </p:sp>
      <p:sp>
        <p:nvSpPr>
          <p:cNvPr id="67" name="Text 65"/>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SECURITY AT EVERY LAYER</a:t>
            </a:r>
            <a:endParaRPr lang="en-US" sz="850" dirty="0"/>
          </a:p>
        </p:txBody>
      </p:sp>
      <p:sp>
        <p:nvSpPr>
          <p:cNvPr id="68" name="Text 66"/>
          <p:cNvSpPr txBox="1"/>
          <p:nvPr/>
        </p:nvSpPr>
        <p:spPr>
          <a:xfrm>
            <a:off x="10113264" y="1746504"/>
            <a:ext cx="1490472" cy="1826605"/>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Phishing-resistant MFA</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Per-agent identity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No agent path to safety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Bound, expiring approvals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Honeytokens &amp; decoys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mTLS • TLS 1.3</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HSM keys • AES-256</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Tamper-evident logs</a:t>
            </a:r>
            <a:endParaRPr lang="en-US" sz="900" dirty="0"/>
          </a:p>
        </p:txBody>
      </p:sp>
      <p:sp>
        <p:nvSpPr>
          <p:cNvPr id="69" name="Shape 67"/>
          <p:cNvSpPr/>
          <p:nvPr/>
        </p:nvSpPr>
        <p:spPr>
          <a:xfrm>
            <a:off x="10058400" y="3719413"/>
            <a:ext cx="1581912" cy="2493935"/>
          </a:xfrm>
          <a:prstGeom prst="roundRect">
            <a:avLst>
              <a:gd name="adj" fmla="val 3468"/>
            </a:avLst>
          </a:prstGeom>
          <a:solidFill>
            <a:srgbClr val="FFFBEB"/>
          </a:solidFill>
          <a:ln w="9525">
            <a:solidFill>
              <a:srgbClr val="FDE68A"/>
            </a:solidFill>
            <a:prstDash val="solid"/>
          </a:ln>
        </p:spPr>
      </p:sp>
      <p:sp>
        <p:nvSpPr>
          <p:cNvPr id="70" name="Text 68"/>
          <p:cNvSpPr txBox="1"/>
          <p:nvPr/>
        </p:nvSpPr>
        <p:spPr>
          <a:xfrm>
            <a:off x="10149840" y="3810853"/>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GOVERNANCE &amp; OBSERVABILITY</a:t>
            </a:r>
            <a:endParaRPr lang="en-US" sz="850" dirty="0"/>
          </a:p>
        </p:txBody>
      </p:sp>
      <p:sp>
        <p:nvSpPr>
          <p:cNvPr id="71" name="Text 69"/>
          <p:cNvSpPr txBox="1"/>
          <p:nvPr/>
        </p:nvSpPr>
        <p:spPr>
          <a:xfrm>
            <a:off x="10113264" y="4140037"/>
            <a:ext cx="1490472" cy="2018447"/>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Autonomy tiers &amp; limits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Alert budget per controller</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Stale-data safe defaults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Model risk validation</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Control room management</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OpenTelemetry traces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Kill-switch drills</a:t>
            </a:r>
            <a:endParaRPr lang="en-US" sz="900" dirty="0"/>
          </a:p>
        </p:txBody>
      </p:sp>
      <p:sp>
        <p:nvSpPr>
          <p:cNvPr id="72" name="Text 70"/>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Vendor-neutral: only systems of record are named products. Standards: endnotes 26, 27, 66, 68, 69, 90–94.</a:t>
            </a:r>
            <a:endParaRPr lang="en-US" sz="850" dirty="0"/>
          </a:p>
        </p:txBody>
      </p:sp>
      <p:sp>
        <p:nvSpPr>
          <p:cNvPr id="73" name="Text 71"/>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Vendor-neutral architecture with the safety layer out of reach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50: Vendor-neutral architecture with the safety layer out of reach</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