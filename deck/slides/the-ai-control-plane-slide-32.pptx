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87" r:id="rId33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3" Type="http://schemas.openxmlformats.org/officeDocument/2006/relationships/slide" Target="slides/slide32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This is the vendor-neutral solution architecture, aligned to the north-star reference architecture. Only the systems of record are named products. Everything else is replaceable.</a:t>
            </a:r>
          </a:p>
          <a:p>
            <a:pPr>
              <a:spcAft>
                <a:spcPts val="600"/>
              </a:spcAft>
            </a:pPr>
            <a:r>
              <a:rPr lang="en-US" dirty="0"/>
              <a:t>Orchestration model selected: hybrid/federated. The control plane governs identity, policy, cost and audit centrally, while Risk &amp; Quality, Finance and Talent own their agents. Within a launch, a supervisor pattern applies: the orchestrator delegates tasks to specialist agents over A2A [27], and agents reach tools and data only through MCP servers [26]. The regulated sequence is deterministic and does not depend on model reasoning: no letter before independence is cleared, no SAP write before partner approval and client signature.</a:t>
            </a:r>
          </a:p>
          <a:p>
            <a:pPr>
              <a:spcAft>
                <a:spcPts val="600"/>
              </a:spcAft>
            </a:pPr>
            <a:r>
              <a:rPr lang="en-US" dirty="0"/>
              <a:t>Models and routing: a frontier model under enterprise terms with zero data retention drafts letters and summarizes findings, with a second provider for failover. A self-hosted open-weight small language model handles extraction, classification and personal-data detection, and embeddings run on a private endpoint. The AI gateway sends client-confidential payloads only to private models or approved regions and sets token budgets per launch.</a:t>
            </a:r>
          </a:p>
          <a:p>
            <a:pPr>
              <a:spcAft>
                <a:spcPts val="600"/>
              </a:spcAft>
            </a:pPr>
            <a:r>
              <a:rPr lang="en-US" dirty="0"/>
              <a:t>Data governance covers client and legal-entity, worker and engagement golden records and a semantic layer (glossary, metric definitions and a data contract for each MCP tool). A catalog with lineage lets a reviewer see which records drove an independence finding, and access policies enforce masking and information barriers between engagements.</a:t>
            </a:r>
          </a:p>
          <a:p>
            <a:pPr>
              <a:spcAft>
                <a:spcPts val="600"/>
              </a:spcAft>
            </a:pPr>
            <a:r>
              <a:rPr lang="en-US" dirty="0"/>
              <a:t>Security at every level: the design follows zero-trust principles [90] and gives each agent instance a unique workload identity [91]. A2A calls use on-behalf-of token exchange with narrowed scopes [92]. MCP servers are OAuth-protected, with per-tool scopes and no token pass-through [26], and as firm practice their tool definitions are reviewed and pinned. The design also uses prompt-injection screening and output validation [93]. Data at rest uses AES-256 with customer-managed keys, and data in motion uses TLS 1.3 and mTLS.</a:t>
            </a:r>
          </a:p>
          <a:p>
            <a:pPr>
              <a:spcAft>
                <a:spcPts val="600"/>
              </a:spcAft>
            </a:pPr>
            <a:r>
              <a:rPr lang="en-US" dirty="0"/>
              <a:t>Observability: every hop emits OpenTelemetry traces using the generative-AI semantic conventions, tied to one engagement correlation ID [94].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32,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32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REFERENCE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Vendor-neutral solution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9427464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" kern="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&amp; CLIENTS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91640" y="138074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Chat copilot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engagement managers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765042" y="138074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Mobile approvals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partners • step-up MFA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838444" y="138074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workspace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reviewers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11846" y="138074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E-signature portal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signatories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1943100"/>
            <a:ext cx="9427464" cy="566928"/>
          </a:xfrm>
          <a:prstGeom prst="roundRect">
            <a:avLst>
              <a:gd name="adj" fmla="val 9677"/>
            </a:avLst>
          </a:prstGeom>
          <a:solidFill>
            <a:srgbClr val="E0F2FE"/>
          </a:solidFill>
          <a:ln w="9525">
            <a:solidFill>
              <a:srgbClr val="BAE6F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43100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" kern="0" dirty="0">
                <a:solidFill>
                  <a:srgbClr val="07598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</a:t>
            </a:r>
            <a:endParaRPr lang="en-US" sz="12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autonomy tier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91640" y="19979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DD3F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Entity Resolution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read-only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073908" y="19979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DD3F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Conflicts &amp; Independence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Risk decides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56176" y="19979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DD3F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Scoping &amp; Letter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drafts only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838444" y="19979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DD3F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Pricing &amp; Budget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proposes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220712" y="19979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DD3F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Staffing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proposes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602980" y="19979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DD3F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Engagement Setup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• gated writes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2560320"/>
            <a:ext cx="9427464" cy="566928"/>
          </a:xfrm>
          <a:prstGeom prst="roundRect">
            <a:avLst>
              <a:gd name="adj" fmla="val 9677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2560320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" kern="0" dirty="0">
                <a:solidFill>
                  <a:srgbClr val="07598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ORCHESTRATION</a:t>
            </a:r>
            <a:endParaRPr lang="en-US" sz="12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hybrid / federated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691640" y="261518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AE6F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Launch Orchestrator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supervisor agent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65042" y="261518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AE6F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Deterministic gates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• approvals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838444" y="261518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AE6F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A2A delegation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cards • task state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11846" y="261518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AE6F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Event triggers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CRM • e-signature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177540"/>
            <a:ext cx="9427464" cy="566928"/>
          </a:xfrm>
          <a:prstGeom prst="roundRect">
            <a:avLst>
              <a:gd name="adj" fmla="val 967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177540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PLANE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91640" y="323240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Registry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• tools • APIs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073908" y="323240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gateway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LLM • MCP • A2A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456176" y="323240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Policy decision point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policy-as-code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38444" y="323240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Identity &amp; delegation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IDs • OBO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20712" y="323240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Evals &amp; cost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tests • budgets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602980" y="323240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Kill switch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circuit breakers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3794760"/>
            <a:ext cx="9427464" cy="566928"/>
          </a:xfrm>
          <a:prstGeom prst="roundRect">
            <a:avLst>
              <a:gd name="adj" fmla="val 9677"/>
            </a:avLst>
          </a:prstGeom>
          <a:solidFill>
            <a:srgbClr val="F5F3FF"/>
          </a:solidFill>
          <a:ln w="9525">
            <a:solidFill>
              <a:srgbClr val="DDD6F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3794760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" kern="0" dirty="0">
                <a:solidFill>
                  <a:srgbClr val="5B21B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MODELS</a:t>
            </a:r>
            <a:endParaRPr lang="en-US" sz="12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routed by policy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691640" y="384962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Frontier LLM A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drafting • zero retention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765042" y="384962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Frontier LLM B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failover provider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838444" y="384962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Open-weight SLM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self-hosted • extraction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11846" y="3849624"/>
            <a:ext cx="200939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Embeddings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private endpoint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4411980"/>
            <a:ext cx="9427464" cy="566928"/>
          </a:xfrm>
          <a:prstGeom prst="roundRect">
            <a:avLst>
              <a:gd name="adj" fmla="val 9677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" y="4411980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" kern="0" dirty="0">
                <a:solidFill>
                  <a:srgbClr val="0F766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SERVERS &amp; APIs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691640" y="446684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CRM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opportunity • account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073908" y="446684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search • clearance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456176" y="446684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Knowledge &amp; DMS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walls enforced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38444" y="446684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skills • availability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220712" y="446684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rates • WBS • billing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602980" y="446684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Snowflake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semantic views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48640" y="5029200"/>
            <a:ext cx="9427464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0080" y="5029200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" kern="0" dirty="0">
                <a:solidFill>
                  <a:srgbClr val="16653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GOVERNANCE</a:t>
            </a:r>
            <a:endParaRPr lang="en-US" sz="12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MDM &amp; semantics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691640" y="50840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MDM golden records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• worker • engagement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073908" y="50840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Semantic layer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glossary • metrics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456176" y="50840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Catalog &amp; lineage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 to answer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838444" y="50840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quality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hierarchy • duplicates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220712" y="50840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Access policies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masking • walls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602980" y="508406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contracts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per MCP tool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48640" y="5646420"/>
            <a:ext cx="9427464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40080" y="5646420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" kern="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SYSTEMS OF RECORD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691640" y="570128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CRM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3073908" y="570128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system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4456176" y="570128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DMS &amp; e-signature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838444" y="570128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HCM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220712" y="570128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602980" y="5701284"/>
            <a:ext cx="131826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Snowflake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0058400" y="1325880"/>
            <a:ext cx="1581912" cy="2616015"/>
          </a:xfrm>
          <a:prstGeom prst="roundRect">
            <a:avLst>
              <a:gd name="adj" fmla="val 3468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149840" y="1417320"/>
            <a:ext cx="1399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B91C1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SECURITY AT EVERY LAYER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10113264" y="1746504"/>
            <a:ext cx="1490472" cy="2140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Phishing-resistant MFA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Per-agent identity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OAuth scopes per tool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A2A: mTLS + signed cards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 threat protection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PII masked in prompts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TLS 1.3 in motion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At rest: AES-256 + CMK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Tamper-evident audit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0058400" y="4033335"/>
            <a:ext cx="1581912" cy="2180013"/>
          </a:xfrm>
          <a:prstGeom prst="roundRect">
            <a:avLst>
              <a:gd name="adj" fmla="val 3468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149840" y="4124775"/>
            <a:ext cx="1399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GOVERNANCE &amp; OBSERVABILITY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10113264" y="4453959"/>
            <a:ext cx="1490472" cy="1704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Autonomy tiers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Human approval gates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owners in registry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OpenTelemetry traces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Token cost per launch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 scores &amp; drift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Policy-block alerts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Vendor-neutral: only systems of record are named products. Standards: endnotes 26, 27, 90–94.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Vendor-neutral solution architecture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32: Vendor-neutral solution architecture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