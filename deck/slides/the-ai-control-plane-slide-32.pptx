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87" r:id="rId33"/>
  </p:sldIdLst>
  <p:notesMasterIdLst>
    <p:notesMasterId r:id="rId68"/>
  </p:notesMasterIdLst>
  <p:sldSz cx="12192000" cy="6858000"/>
  <p:notesSz cx="6858000" cy="12192000"/>
  <p:embeddedFontLst>
    <p:embeddedFont>
      <p:font typeface="Plus Jakarta Sans"/>
      <p:regular r:id="rId73"/>
      <p:bold r:id="rId74"/>
      <p:italic r:id="rId7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33" Type="http://schemas.openxmlformats.org/officeDocument/2006/relationships/slide" Target="slides/slide32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Relationship Id="rId73" Type="http://schemas.openxmlformats.org/officeDocument/2006/relationships/font" Target="fonts/e1a8fda2-a427-4cdb-9ef2-8a6782d58009.fntdata"/><Relationship Id="rId74" Type="http://schemas.openxmlformats.org/officeDocument/2006/relationships/font" Target="fonts/9542d0bb-6ad7-45dd-89ef-a406bd0490d1.fntdata"/><Relationship Id="rId75" Type="http://schemas.openxmlformats.org/officeDocument/2006/relationships/font" Target="fonts/f16f000a-8ac0-4436-b98c-e748fe425de0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Relationship Id="rId3" Type="http://schemas.openxmlformats.org/officeDocument/2006/relationships/hyperlink" Target="https://creativecommons.org/licenses/by-nc-nd/4.0/" TargetMode="External"/><Relationship Id="rId4" Type="http://schemas.openxmlformats.org/officeDocument/2006/relationships/hyperlink" Target="https://johnfisher-ai.github.io/ai-control-plane-handbook/deck/" TargetMode="External"/><Relationship Id="rId5" Type="http://schemas.openxmlformats.org/officeDocument/2006/relationships/hyperlink" Target="https://johnfisher-ai.github.io/ai-control-plane-handbook/handbook/appendix-b.html" TargetMode="External"/></Relationship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62000"/>
            <a:ext cx="5943600" cy="3343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457200" y="4419600"/>
            <a:ext cx="5943600" cy="67056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This is the vendor-neutral solution architecture, aligned to the north-star reference architecture. Only the systems of record are named products. Everything else is replaceable.</a:t>
            </a:r>
          </a:p>
          <a:p>
            <a:pPr>
              <a:spcAft>
                <a:spcPts val="600"/>
              </a:spcAft>
            </a:pPr>
            <a:r>
              <a:rPr lang="en-US" dirty="0"/>
              <a:t>Orchestration model selected: hybrid/federated. The control plane governs identity, policy, cost and audit centrally, while Risk &amp; Quality, Finance and Talent own their agents. Within a launch, a supervisor pattern applies: the orchestrator delegates tasks to specialist agents over A2A [27], and agents reach tools and data only through MCP servers [26]. The regulated sequence is deterministic and does not depend on model reasoning: no letter before independence is cleared, no SAP write before partner approval and client signature.</a:t>
            </a:r>
          </a:p>
          <a:p>
            <a:pPr>
              <a:spcAft>
                <a:spcPts val="600"/>
              </a:spcAft>
            </a:pPr>
            <a:r>
              <a:rPr lang="en-US" dirty="0"/>
              <a:t>Models and routing: a frontier model under enterprise terms with zero data retention drafts letters and summarizes findings, with a second provider for failover. A self-hosted open-weight small language model handles extraction, classification and personal-data detection, and embeddings run on a private endpoint. The AI gateway sends client-confidential payloads only to private models or approved regions and sets token budgets per launch.</a:t>
            </a:r>
          </a:p>
          <a:p>
            <a:pPr>
              <a:spcAft>
                <a:spcPts val="600"/>
              </a:spcAft>
            </a:pPr>
            <a:r>
              <a:rPr lang="en-US" dirty="0"/>
              <a:t>Data governance covers client and legal-entity, worker and engagement golden records and a semantic layer (glossary, metric definitions and a data contract for each MCP tool). A catalog with lineage lets a reviewer see which records drove an independence finding, and access policies enforce masking and information barriers between engagements.</a:t>
            </a:r>
          </a:p>
          <a:p>
            <a:pPr>
              <a:spcAft>
                <a:spcPts val="600"/>
              </a:spcAft>
            </a:pPr>
            <a:r>
              <a:rPr lang="en-US" dirty="0"/>
              <a:t>Security at every level: the design follows zero-trust principles [90] and gives each agent instance a unique workload identity [91]. A2A calls use on-behalf-of token exchange with narrowed scopes [92]. MCP servers are OAuth-protected, with per-tool scopes and no token pass-through [26], and as firm practice their tool definitions are reviewed and pinned. The design also uses prompt-injection screening and output validation [93]. Data at rest uses AES-256 with customer-managed keys, and data in motion uses TLS 1.3 and mTLS.</a:t>
            </a:r>
          </a:p>
          <a:p>
            <a:pPr>
              <a:spcAft>
                <a:spcPts val="600"/>
              </a:spcAft>
            </a:pPr>
            <a:r>
              <a:rPr lang="en-US" dirty="0"/>
              <a:t>Observability: every hop emits OpenTelemetry traces using the generative-AI semantic conventions, tied to one engagement correlation ID [94].</a:t>
            </a:r>
          </a:p>
          <a:p>
            <a:pPr>
              <a:spcAft>
                <a:spcPts val="600"/>
              </a:spcAft>
            </a:pPr>
            <a:r>
              <a:rPr lang="en-US" dirty="0"/>
              <a:t>Credit: John Fisher, The AI Control Plane: Executive Briefing (2026), slide 32, licensed under CC BY-NC-ND 4.0: </a:t>
            </a:r>
            <a:r>
              <a:rPr lang="en-US" dirty="0">
                <a:hlinkClick r:id="rId3"/>
              </a:rPr>
              <a:t>https://creativecommons.org/licenses/by-nc-nd/4.0/</a:t>
            </a:r>
            <a:r>
              <a:rPr lang="en-US" dirty="0"/>
              <a:t>. The full deck, with its speaker notes and notices: </a:t>
            </a:r>
            <a:r>
              <a:rPr lang="en-US" dirty="0">
                <a:hlinkClick r:id="rId4"/>
              </a:rPr>
              <a:t>https://johnfisher-ai.github.io/ai-control-plane-handbook/deck/</a:t>
            </a:r>
            <a:r>
              <a:rPr lang="en-US" dirty="0"/>
              <a:t>.</a:t>
            </a:r>
          </a:p>
          <a:p>
            <a:pPr>
              <a:spcAft>
                <a:spcPts val="600"/>
              </a:spcAft>
            </a:pPr>
            <a:r>
              <a:rPr lang="en-US" dirty="0"/>
              <a:t>Bracketed numbers in these notes, and endnote numbers on the slide, refer to the endnotes in Appendix B of The AI Control Plane Handbook: </a:t>
            </a:r>
            <a:r>
              <a:rPr lang="en-US" dirty="0">
                <a:hlinkClick r:id="rId5"/>
              </a:rPr>
              <a:t>https://johnfisher-ai.github.io/ai-control-plane-handbook/handbook/appendix-b.html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6200" y="11430000"/>
            <a:ext cx="2514600" cy="457200"/>
          </a:xfrm>
        </p:spPr>
        <p:txBody>
          <a:bodyPr/>
          <a:lstStyle/>
          <a:p>
            <a:r>
              <a:rPr lang="en-US"/>
              <a:t>32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284C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 CASE 1  •  REFERENCE ARCHITECTURE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Vendor-neutral solution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9427464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1014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" kern="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USERS &amp; CLIENTS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91640" y="1380744"/>
            <a:ext cx="200939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Chat copilot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engagement managers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765042" y="1380744"/>
            <a:ext cx="200939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Mobile approvals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partners • step-up MFA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838444" y="1380744"/>
            <a:ext cx="200939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Risk workspace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independence reviewers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911846" y="1380744"/>
            <a:ext cx="200939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E-signature portal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client signatories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1943100"/>
            <a:ext cx="9427464" cy="566928"/>
          </a:xfrm>
          <a:prstGeom prst="roundRect">
            <a:avLst>
              <a:gd name="adj" fmla="val 9677"/>
            </a:avLst>
          </a:prstGeom>
          <a:solidFill>
            <a:srgbClr val="E0F2FE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1943100"/>
            <a:ext cx="1014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" kern="0" dirty="0">
                <a:solidFill>
                  <a:srgbClr val="07598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AGENTS</a:t>
            </a:r>
            <a:endParaRPr lang="en-US" sz="1200" dirty="0"/>
          </a:p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autonomy tier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91640" y="1997964"/>
            <a:ext cx="13182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7DD3F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Entity Resolution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369A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Tier 2 • read-only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073908" y="1997964"/>
            <a:ext cx="13182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7DD3F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Conflicts &amp; Independence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369A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Tier 1 • Risk decides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56176" y="1997964"/>
            <a:ext cx="13182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7DD3F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Scoping &amp; Letter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369A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Tier 1 • drafts only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838444" y="1997964"/>
            <a:ext cx="13182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7DD3F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Pricing &amp; Budget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369A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Tier 2 • proposes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220712" y="1997964"/>
            <a:ext cx="13182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7DD3F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Staffing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369A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Tier 2 • proposes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602980" y="1997964"/>
            <a:ext cx="13182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7DD3F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Engagement Setup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369A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Tier 3 • gated writes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2560320"/>
            <a:ext cx="9427464" cy="566928"/>
          </a:xfrm>
          <a:prstGeom prst="roundRect">
            <a:avLst>
              <a:gd name="adj" fmla="val 9677"/>
            </a:avLst>
          </a:prstGeom>
          <a:solidFill>
            <a:srgbClr val="F0F9FF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2560320"/>
            <a:ext cx="1014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" kern="0" dirty="0">
                <a:solidFill>
                  <a:srgbClr val="07598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ORCHESTRATION</a:t>
            </a:r>
            <a:endParaRPr lang="en-US" sz="1200" dirty="0"/>
          </a:p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hybrid / federated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91640" y="2615184"/>
            <a:ext cx="200939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Launch Orchestrator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supervisor agent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765042" y="2615184"/>
            <a:ext cx="200939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Deterministic gates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independence • approvals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838444" y="2615184"/>
            <a:ext cx="200939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A2A delegation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agent cards • task state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911846" y="2615184"/>
            <a:ext cx="200939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Event triggers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CRM • e-signature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177540"/>
            <a:ext cx="9427464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3177540"/>
            <a:ext cx="1014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" kern="0" dirty="0">
                <a:solidFill>
                  <a:srgbClr val="38BDF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CONTROL PLANE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691640" y="3232404"/>
            <a:ext cx="1318260" cy="4572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Registry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agents • tools • APIs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073908" y="3232404"/>
            <a:ext cx="1318260" cy="4572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gateway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LLM • MCP • A2A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456176" y="3232404"/>
            <a:ext cx="1318260" cy="4572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Policy decision point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policy-as-code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38444" y="3232404"/>
            <a:ext cx="1318260" cy="4572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Identity &amp; delegation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agent IDs • OBO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220712" y="3232404"/>
            <a:ext cx="1318260" cy="4572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Evals &amp; cost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tests • budgets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602980" y="3232404"/>
            <a:ext cx="1318260" cy="4572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Kill switch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circuit breakers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" y="3794760"/>
            <a:ext cx="9427464" cy="566928"/>
          </a:xfrm>
          <a:prstGeom prst="roundRect">
            <a:avLst>
              <a:gd name="adj" fmla="val 9677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" y="3794760"/>
            <a:ext cx="1014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" kern="0" dirty="0">
                <a:solidFill>
                  <a:srgbClr val="5B21B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MODELS</a:t>
            </a:r>
            <a:endParaRPr lang="en-US" sz="1200" dirty="0"/>
          </a:p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routed by policy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691640" y="3849624"/>
            <a:ext cx="200939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Frontier LLM A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D28D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drafting • zero retention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765042" y="3849624"/>
            <a:ext cx="200939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Frontier LLM B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D28D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failover provider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838444" y="3849624"/>
            <a:ext cx="200939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Open-weight SLM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D28D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self-hosted • extraction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911846" y="3849624"/>
            <a:ext cx="200939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Embeddings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D28D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private endpoint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4411980"/>
            <a:ext cx="9427464" cy="566928"/>
          </a:xfrm>
          <a:prstGeom prst="roundRect">
            <a:avLst>
              <a:gd name="adj" fmla="val 9677"/>
            </a:avLst>
          </a:prstGeom>
          <a:solidFill>
            <a:srgbClr val="F0FDFA"/>
          </a:solidFill>
          <a:ln w="9525">
            <a:solidFill>
              <a:srgbClr val="99F6E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0080" y="4411980"/>
            <a:ext cx="1014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" kern="0" dirty="0">
                <a:solidFill>
                  <a:srgbClr val="0F76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MCP SERVERS &amp; APIs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691640" y="4466844"/>
            <a:ext cx="13182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99F6E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CRM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opportunity • account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073908" y="4466844"/>
            <a:ext cx="13182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99F6E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Independence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search • clearance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456176" y="4466844"/>
            <a:ext cx="13182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99F6E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Knowledge &amp; DMS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walls enforced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838444" y="4466844"/>
            <a:ext cx="13182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99F6E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Workday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skills • availability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220712" y="4466844"/>
            <a:ext cx="13182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99F6E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SAP S/4HANA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rates • WBS • billing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602980" y="4466844"/>
            <a:ext cx="13182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99F6E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Snowflake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semantic views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48640" y="5029200"/>
            <a:ext cx="9427464" cy="566928"/>
          </a:xfrm>
          <a:prstGeom prst="roundRect">
            <a:avLst>
              <a:gd name="adj" fmla="val 9677"/>
            </a:avLst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40080" y="5029200"/>
            <a:ext cx="1014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" kern="0" dirty="0">
                <a:solidFill>
                  <a:srgbClr val="16653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DATA GOVERNANCE</a:t>
            </a:r>
            <a:endParaRPr lang="en-US" sz="1200" dirty="0"/>
          </a:p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MDM &amp; semantics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691640" y="5084064"/>
            <a:ext cx="13182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MDM golden records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5803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client • worker • engagement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073908" y="5084064"/>
            <a:ext cx="13182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Semantic layer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5803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glossary • metrics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456176" y="5084064"/>
            <a:ext cx="13182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Catalog &amp; lineage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5803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source to answer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838444" y="5084064"/>
            <a:ext cx="13182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Data quality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5803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hierarchy • duplicates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220712" y="5084064"/>
            <a:ext cx="13182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Access policies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5803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masking • walls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8602980" y="5084064"/>
            <a:ext cx="13182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Data contracts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5803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per MCP tool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48640" y="5646420"/>
            <a:ext cx="9427464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40080" y="5646420"/>
            <a:ext cx="1014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" kern="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SYSTEMS OF RECORD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691640" y="5701284"/>
            <a:ext cx="1318260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CRM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3073908" y="5701284"/>
            <a:ext cx="1318260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Independence system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456176" y="5701284"/>
            <a:ext cx="1318260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DMS &amp; e-signature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5838444" y="5701284"/>
            <a:ext cx="1318260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Workday HCM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220712" y="5701284"/>
            <a:ext cx="1318260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SAP S/4HANA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8602980" y="5701284"/>
            <a:ext cx="1318260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Snowflake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10058400" y="1325880"/>
            <a:ext cx="1581912" cy="2616015"/>
          </a:xfrm>
          <a:prstGeom prst="roundRect">
            <a:avLst>
              <a:gd name="adj" fmla="val 3468"/>
            </a:avLst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10149840" y="141732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B91C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SECURITY AT EVERY LAYER</a:t>
            </a:r>
            <a:endParaRPr lang="en-US" sz="850" dirty="0"/>
          </a:p>
        </p:txBody>
      </p:sp>
      <p:sp>
        <p:nvSpPr>
          <p:cNvPr id="64" name="Text 62"/>
          <p:cNvSpPr txBox="1"/>
          <p:nvPr/>
        </p:nvSpPr>
        <p:spPr>
          <a:xfrm>
            <a:off x="10113264" y="1746504"/>
            <a:ext cx="1490472" cy="2140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Phishing-resistant MFA</a:t>
            </a:r>
            <a:endParaRPr lang="en-US" sz="9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Per-agent identity</a:t>
            </a:r>
            <a:endParaRPr lang="en-US" sz="9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OAuth scopes per tool</a:t>
            </a:r>
            <a:endParaRPr lang="en-US" sz="9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A2A: mTLS + signed cards</a:t>
            </a:r>
            <a:endParaRPr lang="en-US" sz="9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API threat protection</a:t>
            </a:r>
            <a:endParaRPr lang="en-US" sz="9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PII masked in prompts</a:t>
            </a:r>
            <a:endParaRPr lang="en-US" sz="9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TLS 1.3 in motion</a:t>
            </a:r>
            <a:endParaRPr lang="en-US" sz="9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At rest: AES-256 + CMK</a:t>
            </a:r>
            <a:endParaRPr lang="en-US" sz="9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Tamper-evident audit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10058400" y="4033335"/>
            <a:ext cx="1581912" cy="2180013"/>
          </a:xfrm>
          <a:prstGeom prst="roundRect">
            <a:avLst>
              <a:gd name="adj" fmla="val 3468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10149840" y="4124775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B4530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GOVERNANCE &amp; OBSERVABILITY</a:t>
            </a:r>
            <a:endParaRPr lang="en-US" sz="850" dirty="0"/>
          </a:p>
        </p:txBody>
      </p:sp>
      <p:sp>
        <p:nvSpPr>
          <p:cNvPr id="67" name="Text 65"/>
          <p:cNvSpPr txBox="1"/>
          <p:nvPr/>
        </p:nvSpPr>
        <p:spPr>
          <a:xfrm>
            <a:off x="10113264" y="4453959"/>
            <a:ext cx="1490472" cy="1704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Autonomy tiers</a:t>
            </a:r>
            <a:endParaRPr lang="en-US" sz="9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Human approval gates</a:t>
            </a:r>
            <a:endParaRPr lang="en-US" sz="9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Agent owners in registry</a:t>
            </a:r>
            <a:endParaRPr lang="en-US" sz="9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OpenTelemetry traces</a:t>
            </a:r>
            <a:endParaRPr lang="en-US" sz="9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Token cost per launch</a:t>
            </a:r>
            <a:endParaRPr lang="en-US" sz="9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Eval scores &amp; drift</a:t>
            </a:r>
            <a:endParaRPr lang="en-US" sz="9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Policy-block alerts</a:t>
            </a:r>
            <a:endParaRPr lang="en-US" sz="900" dirty="0"/>
          </a:p>
        </p:txBody>
      </p:sp>
      <p:sp>
        <p:nvSpPr>
          <p:cNvPr id="68" name="Text 66"/>
          <p:cNvSpPr txBox="1"/>
          <p:nvPr/>
        </p:nvSpPr>
        <p:spPr>
          <a:xfrm>
            <a:off x="548640" y="638251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Vendor-neutral: only systems of record are named products. Standards: endnotes 26, 27, 90–94.</a:t>
            </a:r>
            <a:endParaRPr lang="en-US" sz="850" dirty="0"/>
          </a:p>
        </p:txBody>
      </p:sp>
      <p:sp>
        <p:nvSpPr>
          <p:cNvPr id="69" name="Text 67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Vendor-neutral solution architecture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AI Control Plane, slide 32: Vendor-neutral solution architecture</dc:title>
  <dc:subject>One slide from The AI Control Plane: Executive Briefing, by John Fisher (2026), CC BY-NC-ND 4.0</dc:subject>
  <dc:creator>John Fisher</dc:creator>
  <cp:lastModifiedBy>John Fisher</cp:lastModifiedBy>
  <cp:revision>1</cp:revision>
  <dcterms:created xsi:type="dcterms:W3CDTF">2026-10-14T20:43:52Z</dcterms:created>
  <dcterms:modified xsi:type="dcterms:W3CDTF">2026-10-14T20:43:52Z</dcterms:modified>
</cp:coreProperties>
</file>