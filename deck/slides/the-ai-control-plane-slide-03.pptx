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8" r:id="rId4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Emphasize the urgency: organizations that wait 24 months to address agent orchestration risk severe technical debt. Industry evidence shows point-to-point LLM integrations are already straining under production cost and compliance pressures, so leaders must establish an enterprise control layer now.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Supporting data: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2026 Connectivity Benchmark (Salesforce/MuleSoft, 1,050 IT leaders surveyed late 2025) [2][5]: 96% say agent success depends on integration across systems. Organizations use an average of 12 agents, a number projected to climb 67% within two years, and 50% of agents operate in isolated silos. Of those surveyed, 86% agree that without proper integration agents add complexity rather than value, and 82% cite data integration as one of their biggest AI challenges.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Gartner predicts that more than 40% of agentic AI projects will be canceled by the end of 2027 because of escalating costs, unclear business value or inadequate risk controls [6].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Agentic enterprises need a "horizon architecture": a two- to five-year vision tied to business priorities and maturity gaps [15]. The 12- to 24-month priority is architecting the controls [1].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The next slide adds four large 2026 studies that point the same way, and the size of the prize for orchestrating well.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STRATEGIC DRIVERS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infrastructure inflection point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adoption is outpacing the integration and governance needed to run it safely.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96%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IT leaders say AI agent success depends on integration across systems</a:t>
            </a:r>
            <a:pPr indent="0" marL="0">
              <a:buNone/>
            </a:pP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74136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48456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in use at the average enterprise, projected to grow 67% within two years</a:t>
            </a:r>
            <a:pPr indent="0" marL="0">
              <a:buNone/>
            </a:pP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73952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473952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agents still run in silos, outside any coordinated multi-agent system</a:t>
            </a: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25128" y="1874520"/>
            <a:ext cx="2596896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9448" y="2057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40%+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299448" y="285292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agentic AI projects are expected to be canceled by end-2027 over cost, value or risk controls</a:t>
            </a:r>
            <a:pPr indent="0" marL="0">
              <a:buNone/>
            </a:pPr>
            <a:r>
              <a:rPr lang="en-US" sz="11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31536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8680" y="4434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2–5 yrs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Horizon architecture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800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Replace a point-in-time target state with a two- to five-year architecture vision tied to business priorities and maturity gaps.</a:t>
            </a:r>
            <a:pPr indent="0" marL="0">
              <a:buNone/>
            </a:pPr>
            <a:r>
              <a:rPr lang="en-US" sz="115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15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8776" y="4160520"/>
            <a:ext cx="5431536" cy="1965960"/>
          </a:xfrm>
          <a:prstGeom prst="roundRect">
            <a:avLst>
              <a:gd name="adj" fmla="val 372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28816" y="4434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12–24 mo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8540496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Execution window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540496" y="48006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Spend the next 12 to 24 months building the controls that keep options open as the agentic transition unfolds.</a:t>
            </a:r>
            <a:r>
              <a:rPr lang="en-US" sz="1150" baseline="30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2, 5, 6, 15.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The infrastructure inflection 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3: The infrastructure inflection point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