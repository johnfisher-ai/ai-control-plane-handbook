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70" r:id="rId16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15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The tiers are portable. Organizations may already classify agents with AWS's Agentic AI Security Scoping Matrix (four scopes: No Agency, Prescribed Agency, Supervised Agency, Full Agency) [33], BCG's four autonomy stages (shadow mode, supervised mode, guided autonomy, full autonomy) [34] or KPMG's TACO agent types (taskers, automators, collaborators, orchestrators) [35]. The table shows the closest equivalents. Because it is an approximate mapping, present it as a translation aid, not an equivalence.</a:t>
            </a:r>
          </a:p>
          <a:p>
            <a:pPr>
              <a:spcAft>
                <a:spcPts val="600"/>
              </a:spcAft>
            </a:pPr>
            <a:r>
              <a:rPr lang="en-US" dirty="0"/>
              <a:t>Tiers move in both directions, with the rules set in advance: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Promote on evidence: evaluations meet the next tier's thresholds over a sustained period, red-team findings are closed, the impact assessment is up to date, and the owner and risk function agree. BCG describes each stage as earned through demonstrated performance [34]. AWS advises expanding autonomy on demonstrated performance rather than by default [33].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Demote automatically: a security event, evaluation scores below threshold, an approval that fails its binding check, stale telemetry or a lost sponsor drops the agent a tier, or to propose-only, without waiting for a meeting. AWS recommends designing systems to reduce autonomy automatically when security events are detected [33].</a:t>
            </a:r>
          </a:p>
          <a:p>
            <a:pPr>
              <a:spcAft>
                <a:spcPts val="600"/>
              </a:spcAft>
            </a:pPr>
            <a:r>
              <a:rPr lang="en-US" dirty="0"/>
              <a:t>Delegation chains: research from Google DeepMind on intelligent delegation suggests four rules for every hop: split work into verifiable units (contract first), route each unit to the least costly model that meets its bar, give a sub-agent only the permissions its task needs, and challenge the delegator or ask a person when a request is ambiguous [36]. Never grant privilege on the strength of a role an agent claims for itself [37]. In the control plane, that means on-behalf-of tokens narrowed at each hop and one trace that joins every hop.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15,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GOVERNANCE TIERS  •  PORTABLE AND REVERSIBLE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Tiers that travel, and move in both directions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Map the tiers to frameworks clients already use, then set the rules for promotion and demotion in advance.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812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331720"/>
                <a:gridCol w="146304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AWS scoping matrix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BCG autonomy stage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KPMG agent types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Level 1: Assisted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Scope 1, No Agency (read-only); Scope 2, Prescribed Agency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Shadow; supervised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Taskers; collaborators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Level 2: Supervised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Scope 3, Supervised Agency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Supervised; guided autonomy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Taskers; automators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Level 3: Autonomous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Scope 3, or Scope 4 for bounded operations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Guided autonomy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Automators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Level 4: Multi-agent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Scope 4, Full Agency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Full autonomy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Orchestrators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5371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Closest equivalents, mapped approximately by the author.</a:t>
            </a:r>
            <a:r>
              <a:rPr lang="en-US" sz="900" i="1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33–35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589520" y="1810512"/>
            <a:ext cx="4050792" cy="1572768"/>
          </a:xfrm>
          <a:prstGeom prst="roundRect">
            <a:avLst>
              <a:gd name="adj" fmla="val 465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901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PROMOTE ON EVIDENCE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1579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Evaluations meet the next tier’s thresholds over a sustained period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Red-team findings closed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Impact assessment up to date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 and risk function agree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0175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stage is earned through demonstrated performance.</a:t>
            </a:r>
            <a:pPr indent="0" marL="0">
              <a:buNone/>
            </a:pPr>
            <a:r>
              <a:rPr lang="en-US" sz="850" i="1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33,34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589520" y="3474720"/>
            <a:ext cx="4050792" cy="1572768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DEMOTE AUTOMATICALLY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38221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Security event detected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Evaluation scores below threshold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 approval fails its binding 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Stale telemetry, or no sponsor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46817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Reduce autonomy on security events so work continues safely while people investigate.</a:t>
            </a:r>
            <a:pPr indent="0" marL="0">
              <a:buNone/>
            </a:pPr>
            <a:r>
              <a:rPr lang="en-US" sz="850" i="1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8640" y="5120640"/>
            <a:ext cx="11091672" cy="1060704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5212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DELEGATION CHAINS: NARROW AUTHORITY AT EVERY HOP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5504688"/>
            <a:ext cx="2542032" cy="512064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Split work into verifiable units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02152" y="5504688"/>
            <a:ext cx="2542032" cy="512064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Right-size each unit’s model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81344" y="5504688"/>
            <a:ext cx="2542032" cy="512064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Narrow permissions at every hop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860536" y="5504688"/>
            <a:ext cx="2542032" cy="512064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Stop and ask when unclear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Sources: endnotes 33–37.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Tiers that travel, and move in both directions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15: Tiers that travel, and move in both directions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