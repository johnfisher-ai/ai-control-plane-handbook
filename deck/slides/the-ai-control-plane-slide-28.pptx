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83" r:id="rId29"/>
  </p:sldIdLst>
  <p:notesMasterIdLst>
    <p:notesMasterId r:id="rId68"/>
  </p:notesMasterIdLst>
  <p:sldSz cx="12192000" cy="6858000"/>
  <p:notesSz cx="6858000" cy="12192000"/>
  <p:embeddedFontLst>
    <p:embeddedFont>
      <p:font typeface="Plus Jakarta Sans"/>
      <p:regular r:id="rId73"/>
      <p:bold r:id="rId74"/>
      <p:italic r:id="rId7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9" Type="http://schemas.openxmlformats.org/officeDocument/2006/relationships/slide" Target="slides/slide28.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font" Target="fonts/e1a8fda2-a427-4cdb-9ef2-8a6782d58009.fntdata"/><Relationship Id="rId74" Type="http://schemas.openxmlformats.org/officeDocument/2006/relationships/font" Target="fonts/9542d0bb-6ad7-45dd-89ef-a406bd0490d1.fntdata"/><Relationship Id="rId75" Type="http://schemas.openxmlformats.org/officeDocument/2006/relationships/font" Target="fonts/f16f000a-8ac0-4436-b98c-e748fe425de0.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 Id="rId3" Type="http://schemas.openxmlformats.org/officeDocument/2006/relationships/hyperlink" Target="https://creativecommons.org/licenses/by-nc-nd/4.0/" TargetMode="External"/><Relationship Id="rId4" Type="http://schemas.openxmlformats.org/officeDocument/2006/relationships/hyperlink" Target="https://johnfisher-ai.github.io/ai-control-plane-handbook/deck/" TargetMode="External"/><Relationship Id="rId5" Type="http://schemas.openxmlformats.org/officeDocument/2006/relationships/hyperlink" Target="https://johnfisher-ai.github.io/ai-control-plane-handbook/handbook/appendix-b.html" TargetMode="External"/></Relationship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62000"/>
            <a:ext cx="5943600" cy="3343275"/>
          </a:xfrm>
        </p:spPr>
      </p:sp>
      <p:sp>
        <p:nvSpPr>
          <p:cNvPr id="3" name="Notes Placeholder 2"/>
          <p:cNvSpPr>
            <a:spLocks noGrp="1"/>
          </p:cNvSpPr>
          <p:nvPr>
            <p:ph type="body" idx="1"/>
          </p:nvPr>
        </p:nvSpPr>
        <p:spPr>
          <a:xfrm>
            <a:off x="457200" y="4419600"/>
            <a:ext cx="5943600" cy="6705600"/>
          </a:xfrm>
        </p:spPr>
        <p:txBody>
          <a:bodyPr/>
          <a:lstStyle/>
          <a:p>
            <a:pPr>
              <a:spcAft>
                <a:spcPts val="600"/>
              </a:spcAft>
            </a:pPr>
            <a:r>
              <a:rPr lang="en-US" dirty="0"/>
              <a:t>The plan names one accountable executive and a governance council. This slide shows the day-to-day model beneath them.</a:t>
            </a:r>
          </a:p>
          <a:p>
            <a:pPr>
              <a:spcAft>
                <a:spcPts val="600"/>
              </a:spcAft>
            </a:pPr>
            <a:r>
              <a:rPr lang="en-US" dirty="0"/>
              <a:t>Why it matters: BCG estimates that becoming AI-first "involves 30% technology and 70% people and organization" [85]. In Microsoft's 2026 Work Trend Index (20,000 people using AI at work in 10 countries), only one in four said their leadership is clearly and consistently aligned on AI, and organizational factors accounted for more than twice the reported impact of individual ones [86]. In Google Cloud's 2026 survey, 48% of the organizations whose AI returns are accelerating had "extremely clear" ownership and decision rights for AI and agentic initiatives, and 38% built required AI training into roles [84].</a:t>
            </a:r>
          </a:p>
          <a:p>
            <a:pPr>
              <a:spcAft>
                <a:spcPts val="600"/>
              </a:spcAft>
            </a:pPr>
            <a:r>
              <a:rPr lang="en-US" dirty="0"/>
              <a:t>The roles: the accountable executive owns the program and decides which phases proceed. The AI governance council (architecture, security, risk, data, finance and the business) owns policy, tiers and no-go zones. The business owner is accountable for value and decides which steps stay human. Each agent has a sponsor who owns it from registration to retirement and recertifies it. The platform team runs the control plane as a product. Security and risk can block a release or demote an agent, and finance owns cost attribution and how value is reported.</a:t>
            </a:r>
          </a:p>
          <a:p>
            <a:pPr>
              <a:spcAft>
                <a:spcPts val="600"/>
              </a:spcAft>
            </a:pPr>
            <a:r>
              <a:rPr lang="en-US" dirty="0"/>
              <a:t>Could AI, should AI: BCG suggests sorting work into human-led, AI-assisted and AI-led by asking whether AI could do each step as well as or better than people, and whether it should, given regulatory risk, customer trust, ethics and safety [85]. Record the answer before any decision on roles: Deloitte's 2026 Human Capital Trends found that 57% of leaders who cut staff because of AI have come to question that decision [87]. Build skills in step with the plan: approvers on what they approve, sponsors on the lifecycle, business teams on working alongside agents.</a:t>
            </a:r>
          </a:p>
          <a:p>
            <a:pPr>
              <a:spcAft>
                <a:spcPts val="600"/>
              </a:spcAft>
            </a:pPr>
            <a:r>
              <a:rPr lang="en-US" dirty="0"/>
              <a:t>Credit: John Fisher, The AI Control Plane: Executive Briefing (2026), slide 28, licensed under CC BY-NC-ND 4.0: </a:t>
            </a:r>
            <a:r>
              <a:rPr lang="en-US" dirty="0">
                <a:hlinkClick r:id="rId3"/>
              </a:rPr>
              <a:t>https://creativecommons.org/licenses/by-nc-nd/4.0/</a:t>
            </a:r>
            <a:r>
              <a:rPr lang="en-US" dirty="0"/>
              <a:t>. The full deck, with its speaker notes and notices: </a:t>
            </a:r>
            <a:r>
              <a:rPr lang="en-US" dirty="0">
                <a:hlinkClick r:id="rId4"/>
              </a:rPr>
              <a:t>https://johnfisher-ai.github.io/ai-control-plane-handbook/deck/</a:t>
            </a:r>
            <a:r>
              <a:rPr lang="en-US" dirty="0"/>
              <a:t>.</a:t>
            </a:r>
          </a:p>
          <a:p>
            <a:pPr>
              <a:spcAft>
                <a:spcPts val="600"/>
              </a:spcAft>
            </a:pPr>
            <a:r>
              <a:rPr lang="en-US" dirty="0"/>
              <a:t>Bracketed numbers in these notes, and endnote numbers on the slide, refer to the endnotes in Appendix B of The AI Control Plane Handbook: </a:t>
            </a:r>
            <a:r>
              <a:rPr lang="en-US" dirty="0">
                <a:hlinkClick r:id="rId5"/>
              </a:rPr>
              <a:t>https://johnfisher-ai.github.io/ai-control-plane-handbook/handbook/appendix-b.html</a:t>
            </a:r>
            <a:r>
              <a:rPr lang="en-US" dirty="0"/>
              <a:t>.</a:t>
            </a:r>
          </a:p>
        </p:txBody>
      </p:sp>
      <p:sp>
        <p:nvSpPr>
          <p:cNvPr id="4" name="Slide Number Placeholder 3"/>
          <p:cNvSpPr>
            <a:spLocks noGrp="1"/>
          </p:cNvSpPr>
          <p:nvPr>
            <p:ph type="sldNum" sz="quarter" idx="10"/>
          </p:nvPr>
        </p:nvSpPr>
        <p:spPr>
          <a:xfrm>
            <a:off x="3886200" y="11430000"/>
            <a:ext cx="2514600" cy="457200"/>
          </a:xfrm>
        </p:spPr>
        <p:txBody>
          <a:bodyPr/>
          <a:lstStyle/>
          <a:p>
            <a:r>
              <a:rPr lang="en-US"/>
              <a:t>28</a:t>
            </a:r>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256032"/>
          </a:xfrm>
          <a:prstGeom prst="rect">
            <a:avLst/>
          </a:prstGeom>
          <a:noFill/>
          <a:ln/>
        </p:spPr>
        <p:txBody>
          <a:bodyPr wrap="square" lIns="0" tIns="0" rIns="0" bIns="0" rtlCol="0" anchor="t"/>
          <a:lstStyle/>
          <a:p>
            <a:pPr indent="0" marL="0">
              <a:buNone/>
            </a:pPr>
            <a:r>
              <a:rPr lang="en-US" sz="1050" b="1" spc="150" kern="0" dirty="0">
                <a:solidFill>
                  <a:srgbClr val="0284C7"/>
                </a:solidFill>
                <a:latin typeface="Plus Jakarta Sans" pitchFamily="34" charset="0"/>
                <a:ea typeface="Plus Jakarta Sans" pitchFamily="34" charset="-122"/>
                <a:cs typeface="Plus Jakarta Sans" pitchFamily="34" charset="-120"/>
              </a:rPr>
              <a:t>OPERATING MODEL</a:t>
            </a:r>
            <a:endParaRPr lang="en-US" sz="1050" dirty="0"/>
          </a:p>
        </p:txBody>
      </p:sp>
      <p:sp>
        <p:nvSpPr>
          <p:cNvPr id="3" name="Text 1"/>
          <p:cNvSpPr txBox="1"/>
          <p:nvPr/>
        </p:nvSpPr>
        <p:spPr>
          <a:xfrm>
            <a:off x="548640" y="658368"/>
            <a:ext cx="11064240" cy="502920"/>
          </a:xfrm>
          <a:prstGeom prst="rect">
            <a:avLst/>
          </a:prstGeom>
          <a:noFill/>
          <a:ln/>
        </p:spPr>
        <p:txBody>
          <a:bodyPr wrap="square" lIns="0" tIns="0" rIns="0" bIns="0" rtlCol="0" anchor="t"/>
          <a:lstStyle/>
          <a:p>
            <a:pPr indent="0" marL="0">
              <a:buNone/>
            </a:pPr>
            <a:r>
              <a:rPr lang="en-US" sz="2600" b="1" dirty="0">
                <a:solidFill>
                  <a:srgbClr val="0F172A"/>
                </a:solidFill>
                <a:latin typeface="Plus Jakarta Sans" pitchFamily="34" charset="0"/>
                <a:ea typeface="Plus Jakarta Sans" pitchFamily="34" charset="-122"/>
                <a:cs typeface="Plus Jakarta Sans" pitchFamily="34" charset="-120"/>
              </a:rPr>
              <a:t>Owners, decision rights and skills</a:t>
            </a:r>
            <a:endParaRPr lang="en-US" sz="2600" dirty="0"/>
          </a:p>
        </p:txBody>
      </p:sp>
      <p:sp>
        <p:nvSpPr>
          <p:cNvPr id="4" name="Text 2"/>
          <p:cNvSpPr txBox="1"/>
          <p:nvPr/>
        </p:nvSpPr>
        <p:spPr>
          <a:xfrm>
            <a:off x="548640" y="1216152"/>
            <a:ext cx="10881360" cy="502920"/>
          </a:xfrm>
          <a:prstGeom prst="rect">
            <a:avLst/>
          </a:prstGeom>
          <a:noFill/>
          <a:ln/>
        </p:spPr>
        <p:txBody>
          <a:bodyPr wrap="square" lIns="0" tIns="0" rIns="0" bIns="0" rtlCol="0" anchor="t"/>
          <a:lstStyle/>
          <a:p>
            <a:pPr indent="0" marL="0">
              <a:buNone/>
            </a:pPr>
            <a:r>
              <a:rPr lang="en-US" sz="1350" dirty="0">
                <a:solidFill>
                  <a:srgbClr val="475569"/>
                </a:solidFill>
                <a:latin typeface="Plus Jakarta Sans" pitchFamily="34" charset="0"/>
                <a:ea typeface="Plus Jakarta Sans" pitchFamily="34" charset="-122"/>
                <a:cs typeface="Plus Jakarta Sans" pitchFamily="34" charset="-120"/>
              </a:rPr>
              <a:t>Technology is the smaller part of the work: becoming AI-first “involves 30% technology and 70% people and organization.”</a:t>
            </a:r>
            <a:pPr indent="0" marL="0">
              <a:buNone/>
            </a:pPr>
            <a:r>
              <a:rPr lang="en-US" sz="1350" baseline="30000" dirty="0">
                <a:solidFill>
                  <a:srgbClr val="475569"/>
                </a:solidFill>
                <a:latin typeface="Plus Jakarta Sans" pitchFamily="34" charset="0"/>
                <a:ea typeface="Plus Jakarta Sans" pitchFamily="34" charset="-122"/>
                <a:cs typeface="Plus Jakarta Sans" pitchFamily="34" charset="-120"/>
              </a:rPr>
              <a:t>85</a:t>
            </a:r>
            <a:endParaRPr lang="en-US" sz="13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810512"/>
          <a:ext cx="7223760" cy="914400"/>
        </p:xfrm>
        <a:graphic>
          <a:graphicData uri="http://schemas.openxmlformats.org/drawingml/2006/table">
            <a:tbl>
              <a:tblPr/>
              <a:tblGrid>
                <a:gridCol w="2148840"/>
                <a:gridCol w="2514600"/>
                <a:gridCol w="2560320"/>
              </a:tblGrid>
              <a:tr h="365760">
                <a:tc>
                  <a:txBody>
                    <a:bodyPr/>
                    <a:lstStyle/>
                    <a:p>
                      <a:pPr indent="0" marL="0">
                        <a:buNone/>
                      </a:pPr>
                      <a:r>
                        <a:rPr lang="en-US" sz="1050" b="1" dirty="0">
                          <a:solidFill>
                            <a:srgbClr val="FFFFFF"/>
                          </a:solidFill>
                          <a:latin typeface="Plus Jakarta Sans" pitchFamily="34" charset="0"/>
                          <a:ea typeface="Plus Jakarta Sans" pitchFamily="34" charset="-122"/>
                          <a:cs typeface="Plus Jakarta Sans" pitchFamily="34" charset="-120"/>
                        </a:rPr>
                        <a:t>Role</a:t>
                      </a:r>
                      <a:endParaRPr lang="en-US" sz="105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F172A"/>
                    </a:solidFill>
                  </a:tcPr>
                </a:tc>
                <a:tc>
                  <a:txBody>
                    <a:bodyPr/>
                    <a:lstStyle/>
                    <a:p>
                      <a:pPr indent="0" marL="0">
                        <a:buNone/>
                      </a:pPr>
                      <a:r>
                        <a:rPr lang="en-US" sz="1050" b="1" dirty="0">
                          <a:solidFill>
                            <a:srgbClr val="FFFFFF"/>
                          </a:solidFill>
                          <a:latin typeface="Plus Jakarta Sans" pitchFamily="34" charset="0"/>
                          <a:ea typeface="Plus Jakarta Sans" pitchFamily="34" charset="-122"/>
                          <a:cs typeface="Plus Jakarta Sans" pitchFamily="34" charset="-120"/>
                        </a:rPr>
                        <a:t>Owns</a:t>
                      </a:r>
                      <a:endParaRPr lang="en-US" sz="105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F172A"/>
                    </a:solidFill>
                  </a:tcPr>
                </a:tc>
                <a:tc>
                  <a:txBody>
                    <a:bodyPr/>
                    <a:lstStyle/>
                    <a:p>
                      <a:pPr indent="0" marL="0">
                        <a:buNone/>
                      </a:pPr>
                      <a:r>
                        <a:rPr lang="en-US" sz="1050" b="1" dirty="0">
                          <a:solidFill>
                            <a:srgbClr val="FFFFFF"/>
                          </a:solidFill>
                          <a:latin typeface="Plus Jakarta Sans" pitchFamily="34" charset="0"/>
                          <a:ea typeface="Plus Jakarta Sans" pitchFamily="34" charset="-122"/>
                          <a:cs typeface="Plus Jakarta Sans" pitchFamily="34" charset="-120"/>
                        </a:rPr>
                        <a:t>Decides</a:t>
                      </a:r>
                      <a:endParaRPr lang="en-US" sz="105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F172A"/>
                    </a:solidFill>
                  </a:tcPr>
                </a:tc>
              </a:tr>
              <a:tr h="548640">
                <a:tc>
                  <a:txBody>
                    <a:bodyPr/>
                    <a:lstStyle/>
                    <a:p>
                      <a:pPr indent="0" marL="0">
                        <a:buNone/>
                      </a:pPr>
                      <a:r>
                        <a:rPr lang="en-US" sz="1000" b="1" dirty="0">
                          <a:solidFill>
                            <a:srgbClr val="0F172A"/>
                          </a:solidFill>
                          <a:latin typeface="Plus Jakarta Sans" pitchFamily="34" charset="0"/>
                          <a:ea typeface="Plus Jakarta Sans" pitchFamily="34" charset="-122"/>
                          <a:cs typeface="Plus Jakarta Sans" pitchFamily="34" charset="-120"/>
                        </a:rPr>
                        <a:t>Accountable executive</a:t>
                      </a:r>
                      <a:endParaRPr lang="en-US" sz="100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000" dirty="0">
                          <a:solidFill>
                            <a:srgbClr val="334155"/>
                          </a:solidFill>
                          <a:latin typeface="Plus Jakarta Sans" pitchFamily="34" charset="0"/>
                          <a:ea typeface="Plus Jakarta Sans" pitchFamily="34" charset="-122"/>
                          <a:cs typeface="Plus Jakarta Sans" pitchFamily="34" charset="-120"/>
                        </a:rPr>
                        <a:t>The program, funding and business cases</a:t>
                      </a:r>
                      <a:endParaRPr lang="en-US" sz="100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000" dirty="0">
                          <a:solidFill>
                            <a:srgbClr val="334155"/>
                          </a:solidFill>
                          <a:latin typeface="Plus Jakarta Sans" pitchFamily="34" charset="0"/>
                          <a:ea typeface="Plus Jakarta Sans" pitchFamily="34" charset="-122"/>
                          <a:cs typeface="Plus Jakarta Sans" pitchFamily="34" charset="-120"/>
                        </a:rPr>
                        <a:t>Which phases and use cases proceed</a:t>
                      </a:r>
                      <a:endParaRPr lang="en-US" sz="100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548640">
                <a:tc>
                  <a:txBody>
                    <a:bodyPr/>
                    <a:lstStyle/>
                    <a:p>
                      <a:pPr indent="0" marL="0">
                        <a:buNone/>
                      </a:pPr>
                      <a:r>
                        <a:rPr lang="en-US" sz="1000" b="1" dirty="0">
                          <a:solidFill>
                            <a:srgbClr val="0F172A"/>
                          </a:solidFill>
                          <a:latin typeface="Plus Jakarta Sans" pitchFamily="34" charset="0"/>
                          <a:ea typeface="Plus Jakarta Sans" pitchFamily="34" charset="-122"/>
                          <a:cs typeface="Plus Jakarta Sans" pitchFamily="34" charset="-120"/>
                        </a:rPr>
                        <a:t>AI governance council</a:t>
                      </a:r>
                      <a:endParaRPr lang="en-US" sz="100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000" dirty="0">
                          <a:solidFill>
                            <a:srgbClr val="334155"/>
                          </a:solidFill>
                          <a:latin typeface="Plus Jakarta Sans" pitchFamily="34" charset="0"/>
                          <a:ea typeface="Plus Jakarta Sans" pitchFamily="34" charset="-122"/>
                          <a:cs typeface="Plus Jakarta Sans" pitchFamily="34" charset="-120"/>
                        </a:rPr>
                        <a:t>Policy, tiers, standards, no-go zones</a:t>
                      </a:r>
                      <a:endParaRPr lang="en-US" sz="100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000" dirty="0">
                          <a:solidFill>
                            <a:srgbClr val="334155"/>
                          </a:solidFill>
                          <a:latin typeface="Plus Jakarta Sans" pitchFamily="34" charset="0"/>
                          <a:ea typeface="Plus Jakarta Sans" pitchFamily="34" charset="-122"/>
                          <a:cs typeface="Plus Jakarta Sans" pitchFamily="34" charset="-120"/>
                        </a:rPr>
                        <a:t>High-risk promotions and exceptions</a:t>
                      </a:r>
                      <a:endParaRPr lang="en-US" sz="100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r>
              <a:tr h="548640">
                <a:tc>
                  <a:txBody>
                    <a:bodyPr/>
                    <a:lstStyle/>
                    <a:p>
                      <a:pPr indent="0" marL="0">
                        <a:buNone/>
                      </a:pPr>
                      <a:r>
                        <a:rPr lang="en-US" sz="1000" b="1" dirty="0">
                          <a:solidFill>
                            <a:srgbClr val="0F172A"/>
                          </a:solidFill>
                          <a:latin typeface="Plus Jakarta Sans" pitchFamily="34" charset="0"/>
                          <a:ea typeface="Plus Jakarta Sans" pitchFamily="34" charset="-122"/>
                          <a:cs typeface="Plus Jakarta Sans" pitchFamily="34" charset="-120"/>
                        </a:rPr>
                        <a:t>Business owner (per use case)</a:t>
                      </a:r>
                      <a:endParaRPr lang="en-US" sz="100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000" dirty="0">
                          <a:solidFill>
                            <a:srgbClr val="334155"/>
                          </a:solidFill>
                          <a:latin typeface="Plus Jakarta Sans" pitchFamily="34" charset="0"/>
                          <a:ea typeface="Plus Jakarta Sans" pitchFamily="34" charset="-122"/>
                          <a:cs typeface="Plus Jakarta Sans" pitchFamily="34" charset="-120"/>
                        </a:rPr>
                        <a:t>Value, KPIs and the process</a:t>
                      </a:r>
                      <a:endParaRPr lang="en-US" sz="100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000" dirty="0">
                          <a:solidFill>
                            <a:srgbClr val="334155"/>
                          </a:solidFill>
                          <a:latin typeface="Plus Jakarta Sans" pitchFamily="34" charset="0"/>
                          <a:ea typeface="Plus Jakarta Sans" pitchFamily="34" charset="-122"/>
                          <a:cs typeface="Plus Jakarta Sans" pitchFamily="34" charset="-120"/>
                        </a:rPr>
                        <a:t>What stays human-led, AI-assisted or AI-led</a:t>
                      </a:r>
                      <a:endParaRPr lang="en-US" sz="100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548640">
                <a:tc>
                  <a:txBody>
                    <a:bodyPr/>
                    <a:lstStyle/>
                    <a:p>
                      <a:pPr indent="0" marL="0">
                        <a:buNone/>
                      </a:pPr>
                      <a:r>
                        <a:rPr lang="en-US" sz="1000" b="1" dirty="0">
                          <a:solidFill>
                            <a:srgbClr val="0F172A"/>
                          </a:solidFill>
                          <a:latin typeface="Plus Jakarta Sans" pitchFamily="34" charset="0"/>
                          <a:ea typeface="Plus Jakarta Sans" pitchFamily="34" charset="-122"/>
                          <a:cs typeface="Plus Jakarta Sans" pitchFamily="34" charset="-120"/>
                        </a:rPr>
                        <a:t>Agent sponsor (per agent)</a:t>
                      </a:r>
                      <a:endParaRPr lang="en-US" sz="100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000" dirty="0">
                          <a:solidFill>
                            <a:srgbClr val="334155"/>
                          </a:solidFill>
                          <a:latin typeface="Plus Jakarta Sans" pitchFamily="34" charset="0"/>
                          <a:ea typeface="Plus Jakarta Sans" pitchFamily="34" charset="-122"/>
                          <a:cs typeface="Plus Jakarta Sans" pitchFamily="34" charset="-120"/>
                        </a:rPr>
                        <a:t>One agent, registration to retirement</a:t>
                      </a:r>
                      <a:endParaRPr lang="en-US" sz="100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000" dirty="0">
                          <a:solidFill>
                            <a:srgbClr val="334155"/>
                          </a:solidFill>
                          <a:latin typeface="Plus Jakarta Sans" pitchFamily="34" charset="0"/>
                          <a:ea typeface="Plus Jakarta Sans" pitchFamily="34" charset="-122"/>
                          <a:cs typeface="Plus Jakarta Sans" pitchFamily="34" charset="-120"/>
                        </a:rPr>
                        <a:t>Recertification, retirement, first incident call</a:t>
                      </a:r>
                      <a:endParaRPr lang="en-US" sz="100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r>
              <a:tr h="548640">
                <a:tc>
                  <a:txBody>
                    <a:bodyPr/>
                    <a:lstStyle/>
                    <a:p>
                      <a:pPr indent="0" marL="0">
                        <a:buNone/>
                      </a:pPr>
                      <a:r>
                        <a:rPr lang="en-US" sz="1000" b="1" dirty="0">
                          <a:solidFill>
                            <a:srgbClr val="0F172A"/>
                          </a:solidFill>
                          <a:latin typeface="Plus Jakarta Sans" pitchFamily="34" charset="0"/>
                          <a:ea typeface="Plus Jakarta Sans" pitchFamily="34" charset="-122"/>
                          <a:cs typeface="Plus Jakarta Sans" pitchFamily="34" charset="-120"/>
                        </a:rPr>
                        <a:t>Platform team</a:t>
                      </a:r>
                      <a:endParaRPr lang="en-US" sz="100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000" dirty="0">
                          <a:solidFill>
                            <a:srgbClr val="334155"/>
                          </a:solidFill>
                          <a:latin typeface="Plus Jakarta Sans" pitchFamily="34" charset="0"/>
                          <a:ea typeface="Plus Jakarta Sans" pitchFamily="34" charset="-122"/>
                          <a:cs typeface="Plus Jakarta Sans" pitchFamily="34" charset="-120"/>
                        </a:rPr>
                        <a:t>Registry, gateway, identity, evaluation, observability</a:t>
                      </a:r>
                      <a:endParaRPr lang="en-US" sz="100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000" dirty="0">
                          <a:solidFill>
                            <a:srgbClr val="334155"/>
                          </a:solidFill>
                          <a:latin typeface="Plus Jakarta Sans" pitchFamily="34" charset="0"/>
                          <a:ea typeface="Plus Jakarta Sans" pitchFamily="34" charset="-122"/>
                          <a:cs typeface="Plus Jakarta Sans" pitchFamily="34" charset="-120"/>
                        </a:rPr>
                        <a:t>Platform plan and shared policies</a:t>
                      </a:r>
                      <a:endParaRPr lang="en-US" sz="100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548640">
                <a:tc>
                  <a:txBody>
                    <a:bodyPr/>
                    <a:lstStyle/>
                    <a:p>
                      <a:pPr indent="0" marL="0">
                        <a:buNone/>
                      </a:pPr>
                      <a:r>
                        <a:rPr lang="en-US" sz="1000" b="1" dirty="0">
                          <a:solidFill>
                            <a:srgbClr val="0F172A"/>
                          </a:solidFill>
                          <a:latin typeface="Plus Jakarta Sans" pitchFamily="34" charset="0"/>
                          <a:ea typeface="Plus Jakarta Sans" pitchFamily="34" charset="-122"/>
                          <a:cs typeface="Plus Jakarta Sans" pitchFamily="34" charset="-120"/>
                        </a:rPr>
                        <a:t>Security and risk</a:t>
                      </a:r>
                      <a:endParaRPr lang="en-US" sz="100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000" dirty="0">
                          <a:solidFill>
                            <a:srgbClr val="334155"/>
                          </a:solidFill>
                          <a:latin typeface="Plus Jakarta Sans" pitchFamily="34" charset="0"/>
                          <a:ea typeface="Plus Jakarta Sans" pitchFamily="34" charset="-122"/>
                          <a:cs typeface="Plus Jakarta Sans" pitchFamily="34" charset="-120"/>
                        </a:rPr>
                        <a:t>Threat model, red-teaming, incident response</a:t>
                      </a:r>
                      <a:endParaRPr lang="en-US" sz="100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000" dirty="0">
                          <a:solidFill>
                            <a:srgbClr val="334155"/>
                          </a:solidFill>
                          <a:latin typeface="Plus Jakarta Sans" pitchFamily="34" charset="0"/>
                          <a:ea typeface="Plus Jakarta Sans" pitchFamily="34" charset="-122"/>
                          <a:cs typeface="Plus Jakarta Sans" pitchFamily="34" charset="-120"/>
                        </a:rPr>
                        <a:t>Blocking a release, demoting or stopping an agent</a:t>
                      </a:r>
                      <a:endParaRPr lang="en-US" sz="100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r>
              <a:tr h="548640">
                <a:tc>
                  <a:txBody>
                    <a:bodyPr/>
                    <a:lstStyle/>
                    <a:p>
                      <a:pPr indent="0" marL="0">
                        <a:buNone/>
                      </a:pPr>
                      <a:r>
                        <a:rPr lang="en-US" sz="1000" b="1" dirty="0">
                          <a:solidFill>
                            <a:srgbClr val="0F172A"/>
                          </a:solidFill>
                          <a:latin typeface="Plus Jakarta Sans" pitchFamily="34" charset="0"/>
                          <a:ea typeface="Plus Jakarta Sans" pitchFamily="34" charset="-122"/>
                          <a:cs typeface="Plus Jakarta Sans" pitchFamily="34" charset="-120"/>
                        </a:rPr>
                        <a:t>Finance</a:t>
                      </a:r>
                      <a:endParaRPr lang="en-US" sz="100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000" dirty="0">
                          <a:solidFill>
                            <a:srgbClr val="334155"/>
                          </a:solidFill>
                          <a:latin typeface="Plus Jakarta Sans" pitchFamily="34" charset="0"/>
                          <a:ea typeface="Plus Jakarta Sans" pitchFamily="34" charset="-122"/>
                          <a:cs typeface="Plus Jakarta Sans" pitchFamily="34" charset="-120"/>
                        </a:rPr>
                        <a:t>Cost attribution and value tracking</a:t>
                      </a:r>
                      <a:endParaRPr lang="en-US" sz="100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000" dirty="0">
                          <a:solidFill>
                            <a:srgbClr val="334155"/>
                          </a:solidFill>
                          <a:latin typeface="Plus Jakarta Sans" pitchFamily="34" charset="0"/>
                          <a:ea typeface="Plus Jakarta Sans" pitchFamily="34" charset="-122"/>
                          <a:cs typeface="Plus Jakarta Sans" pitchFamily="34" charset="-120"/>
                        </a:rPr>
                        <a:t>Value reporting and budget thresholds</a:t>
                      </a:r>
                      <a:endParaRPr lang="en-US" sz="100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bl>
          </a:graphicData>
        </a:graphic>
      </p:graphicFrame>
      <p:sp>
        <p:nvSpPr>
          <p:cNvPr id="6" name="Shape 3"/>
          <p:cNvSpPr/>
          <p:nvPr/>
        </p:nvSpPr>
        <p:spPr>
          <a:xfrm>
            <a:off x="8001000" y="1810512"/>
            <a:ext cx="3639312" cy="1353312"/>
          </a:xfrm>
          <a:prstGeom prst="roundRect">
            <a:avLst>
              <a:gd name="adj" fmla="val 5405"/>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7" name="Text 4"/>
          <p:cNvSpPr txBox="1"/>
          <p:nvPr/>
        </p:nvSpPr>
        <p:spPr>
          <a:xfrm>
            <a:off x="8211312" y="1920240"/>
            <a:ext cx="3200400" cy="502920"/>
          </a:xfrm>
          <a:prstGeom prst="rect">
            <a:avLst/>
          </a:prstGeom>
          <a:noFill/>
          <a:ln/>
        </p:spPr>
        <p:txBody>
          <a:bodyPr wrap="square" lIns="0" tIns="0" rIns="0" bIns="0" rtlCol="0" anchor="t"/>
          <a:lstStyle/>
          <a:p>
            <a:pPr indent="0" marL="0">
              <a:buNone/>
            </a:pPr>
            <a:r>
              <a:rPr lang="en-US" sz="2600" b="1" dirty="0">
                <a:solidFill>
                  <a:srgbClr val="0284C7"/>
                </a:solidFill>
                <a:latin typeface="Plus Jakarta Sans" pitchFamily="34" charset="0"/>
                <a:ea typeface="Plus Jakarta Sans" pitchFamily="34" charset="-122"/>
                <a:cs typeface="Plus Jakarta Sans" pitchFamily="34" charset="-120"/>
              </a:rPr>
              <a:t>1 in 4</a:t>
            </a:r>
            <a:endParaRPr lang="en-US" sz="2600" dirty="0"/>
          </a:p>
        </p:txBody>
      </p:sp>
      <p:sp>
        <p:nvSpPr>
          <p:cNvPr id="8" name="Text 5"/>
          <p:cNvSpPr txBox="1"/>
          <p:nvPr/>
        </p:nvSpPr>
        <p:spPr>
          <a:xfrm>
            <a:off x="8211312" y="2414016"/>
            <a:ext cx="3291840" cy="713232"/>
          </a:xfrm>
          <a:prstGeom prst="rect">
            <a:avLst/>
          </a:prstGeom>
          <a:noFill/>
          <a:ln/>
        </p:spPr>
        <p:txBody>
          <a:bodyPr wrap="square" lIns="0" tIns="0" rIns="0" bIns="0" rtlCol="0" anchor="t"/>
          <a:lstStyle/>
          <a:p>
            <a:pPr indent="0" marL="0">
              <a:buNone/>
            </a:pPr>
            <a:r>
              <a:rPr lang="en-US" sz="950" dirty="0">
                <a:solidFill>
                  <a:srgbClr val="334155"/>
                </a:solidFill>
                <a:latin typeface="Plus Jakarta Sans" pitchFamily="34" charset="0"/>
                <a:ea typeface="Plus Jakarta Sans" pitchFamily="34" charset="-122"/>
                <a:cs typeface="Plus Jakarta Sans" pitchFamily="34" charset="-120"/>
              </a:rPr>
              <a:t>AI users say leadership is clearly and consistently aligned on AI, and organizational factors drive more than twice the impact of individual ones</a:t>
            </a:r>
            <a:r>
              <a:rPr lang="en-US" sz="950" baseline="30000" dirty="0">
                <a:solidFill>
                  <a:srgbClr val="334155"/>
                </a:solidFill>
                <a:latin typeface="Plus Jakarta Sans" pitchFamily="34" charset="0"/>
                <a:ea typeface="Plus Jakarta Sans" pitchFamily="34" charset="-122"/>
                <a:cs typeface="Plus Jakarta Sans" pitchFamily="34" charset="-120"/>
              </a:rPr>
              <a:t>86</a:t>
            </a:r>
            <a:endParaRPr lang="en-US" sz="950" dirty="0"/>
          </a:p>
        </p:txBody>
      </p:sp>
      <p:sp>
        <p:nvSpPr>
          <p:cNvPr id="9" name="Shape 6"/>
          <p:cNvSpPr/>
          <p:nvPr/>
        </p:nvSpPr>
        <p:spPr>
          <a:xfrm>
            <a:off x="8001000" y="3291840"/>
            <a:ext cx="3639312" cy="1353312"/>
          </a:xfrm>
          <a:prstGeom prst="roundRect">
            <a:avLst>
              <a:gd name="adj" fmla="val 5405"/>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10" name="Text 7"/>
          <p:cNvSpPr txBox="1"/>
          <p:nvPr/>
        </p:nvSpPr>
        <p:spPr>
          <a:xfrm>
            <a:off x="8211312" y="3401568"/>
            <a:ext cx="3200400" cy="502920"/>
          </a:xfrm>
          <a:prstGeom prst="rect">
            <a:avLst/>
          </a:prstGeom>
          <a:noFill/>
          <a:ln/>
        </p:spPr>
        <p:txBody>
          <a:bodyPr wrap="square" lIns="0" tIns="0" rIns="0" bIns="0" rtlCol="0" anchor="t"/>
          <a:lstStyle/>
          <a:p>
            <a:pPr indent="0" marL="0">
              <a:buNone/>
            </a:pPr>
            <a:r>
              <a:rPr lang="en-US" sz="2600" b="1" dirty="0">
                <a:solidFill>
                  <a:srgbClr val="0284C7"/>
                </a:solidFill>
                <a:latin typeface="Plus Jakarta Sans" pitchFamily="34" charset="0"/>
                <a:ea typeface="Plus Jakarta Sans" pitchFamily="34" charset="-122"/>
                <a:cs typeface="Plus Jakarta Sans" pitchFamily="34" charset="-120"/>
              </a:rPr>
              <a:t>48%</a:t>
            </a:r>
            <a:endParaRPr lang="en-US" sz="2600" dirty="0"/>
          </a:p>
        </p:txBody>
      </p:sp>
      <p:sp>
        <p:nvSpPr>
          <p:cNvPr id="11" name="Text 8"/>
          <p:cNvSpPr txBox="1"/>
          <p:nvPr/>
        </p:nvSpPr>
        <p:spPr>
          <a:xfrm>
            <a:off x="8211312" y="3895344"/>
            <a:ext cx="3291840" cy="713232"/>
          </a:xfrm>
          <a:prstGeom prst="rect">
            <a:avLst/>
          </a:prstGeom>
          <a:noFill/>
          <a:ln/>
        </p:spPr>
        <p:txBody>
          <a:bodyPr wrap="square" lIns="0" tIns="0" rIns="0" bIns="0" rtlCol="0" anchor="t"/>
          <a:lstStyle/>
          <a:p>
            <a:pPr indent="0" marL="0">
              <a:buNone/>
            </a:pPr>
            <a:r>
              <a:rPr lang="en-US" sz="950" dirty="0">
                <a:solidFill>
                  <a:srgbClr val="334155"/>
                </a:solidFill>
                <a:latin typeface="Plus Jakarta Sans" pitchFamily="34" charset="0"/>
                <a:ea typeface="Plus Jakarta Sans" pitchFamily="34" charset="-122"/>
                <a:cs typeface="Plus Jakarta Sans" pitchFamily="34" charset="-120"/>
              </a:rPr>
              <a:t>of the organizations whose AI returns are accelerating set extremely clear ownership and decision rights, and 38% build required AI training into roles</a:t>
            </a:r>
            <a:r>
              <a:rPr lang="en-US" sz="950" baseline="30000" dirty="0">
                <a:solidFill>
                  <a:srgbClr val="334155"/>
                </a:solidFill>
                <a:latin typeface="Plus Jakarta Sans" pitchFamily="34" charset="0"/>
                <a:ea typeface="Plus Jakarta Sans" pitchFamily="34" charset="-122"/>
                <a:cs typeface="Plus Jakarta Sans" pitchFamily="34" charset="-120"/>
              </a:rPr>
              <a:t>84</a:t>
            </a:r>
            <a:endParaRPr lang="en-US" sz="950" dirty="0"/>
          </a:p>
        </p:txBody>
      </p:sp>
      <p:sp>
        <p:nvSpPr>
          <p:cNvPr id="12" name="Shape 9"/>
          <p:cNvSpPr/>
          <p:nvPr/>
        </p:nvSpPr>
        <p:spPr>
          <a:xfrm>
            <a:off x="8001000" y="4773168"/>
            <a:ext cx="3639312" cy="1408176"/>
          </a:xfrm>
          <a:prstGeom prst="roundRect">
            <a:avLst>
              <a:gd name="adj" fmla="val 5195"/>
            </a:avLst>
          </a:prstGeom>
          <a:solidFill>
            <a:srgbClr val="0F172A"/>
          </a:solidFill>
          <a:ln w="9525">
            <a:solidFill>
              <a:srgbClr val="0F172A"/>
            </a:solidFill>
            <a:prstDash val="solid"/>
          </a:ln>
        </p:spPr>
      </p:sp>
      <p:sp>
        <p:nvSpPr>
          <p:cNvPr id="13" name="Text 10"/>
          <p:cNvSpPr txBox="1"/>
          <p:nvPr/>
        </p:nvSpPr>
        <p:spPr>
          <a:xfrm>
            <a:off x="8211312" y="4846320"/>
            <a:ext cx="3200400" cy="228600"/>
          </a:xfrm>
          <a:prstGeom prst="rect">
            <a:avLst/>
          </a:prstGeom>
          <a:noFill/>
          <a:ln/>
        </p:spPr>
        <p:txBody>
          <a:bodyPr wrap="square" lIns="0" tIns="0" rIns="0" bIns="0" rtlCol="0" anchor="t"/>
          <a:lstStyle/>
          <a:p>
            <a:pPr indent="0" marL="0">
              <a:buNone/>
            </a:pPr>
            <a:r>
              <a:rPr lang="en-US" sz="1000" b="1" spc="150" kern="0" dirty="0">
                <a:solidFill>
                  <a:srgbClr val="38BDF8"/>
                </a:solidFill>
                <a:latin typeface="Plus Jakarta Sans" pitchFamily="34" charset="0"/>
                <a:ea typeface="Plus Jakarta Sans" pitchFamily="34" charset="-122"/>
                <a:cs typeface="Plus Jakarta Sans" pitchFamily="34" charset="-120"/>
              </a:rPr>
              <a:t>COULD AI?  SHOULD AI?</a:t>
            </a:r>
            <a:endParaRPr lang="en-US" sz="1000" dirty="0"/>
          </a:p>
        </p:txBody>
      </p:sp>
      <p:sp>
        <p:nvSpPr>
          <p:cNvPr id="14" name="Text 11"/>
          <p:cNvSpPr txBox="1"/>
          <p:nvPr/>
        </p:nvSpPr>
        <p:spPr>
          <a:xfrm>
            <a:off x="8211312" y="5102352"/>
            <a:ext cx="3291840" cy="1024128"/>
          </a:xfrm>
          <a:prstGeom prst="rect">
            <a:avLst/>
          </a:prstGeom>
          <a:noFill/>
          <a:ln/>
        </p:spPr>
        <p:txBody>
          <a:bodyPr wrap="square" lIns="0" tIns="0" rIns="0" bIns="0" rtlCol="0" anchor="t"/>
          <a:lstStyle/>
          <a:p>
            <a:pPr indent="0" marL="0">
              <a:buNone/>
            </a:pPr>
            <a:r>
              <a:rPr lang="en-US" sz="1000" dirty="0">
                <a:solidFill>
                  <a:srgbClr val="E2E8F0"/>
                </a:solidFill>
                <a:latin typeface="Plus Jakarta Sans" pitchFamily="34" charset="0"/>
                <a:ea typeface="Plus Jakarta Sans" pitchFamily="34" charset="-122"/>
                <a:cs typeface="Plus Jakarta Sans" pitchFamily="34" charset="-120"/>
              </a:rPr>
              <a:t>Sort every step into human-led, AI-assisted or AI-led before any decision on roles. 57% of leaders who cut staff because of AI now question it.</a:t>
            </a:r>
            <a:pPr indent="0" marL="0">
              <a:buNone/>
            </a:pPr>
            <a:r>
              <a:rPr lang="en-US" sz="1000" baseline="30000" dirty="0">
                <a:solidFill>
                  <a:srgbClr val="E2E8F0"/>
                </a:solidFill>
                <a:latin typeface="Plus Jakarta Sans" pitchFamily="34" charset="0"/>
                <a:ea typeface="Plus Jakarta Sans" pitchFamily="34" charset="-122"/>
                <a:cs typeface="Plus Jakarta Sans" pitchFamily="34" charset="-120"/>
              </a:rPr>
              <a:t>85,87</a:t>
            </a:r>
            <a:endParaRPr lang="en-US" sz="1000" dirty="0"/>
          </a:p>
        </p:txBody>
      </p:sp>
      <p:sp>
        <p:nvSpPr>
          <p:cNvPr id="15" name="Text 12"/>
          <p:cNvSpPr txBox="1"/>
          <p:nvPr/>
        </p:nvSpPr>
        <p:spPr>
          <a:xfrm>
            <a:off x="548640" y="6382512"/>
            <a:ext cx="10241280" cy="347472"/>
          </a:xfrm>
          <a:prstGeom prst="rect">
            <a:avLst/>
          </a:prstGeom>
          <a:noFill/>
          <a:ln/>
        </p:spPr>
        <p:txBody>
          <a:bodyPr wrap="square" lIns="0" tIns="0" rIns="0" bIns="0" rtlCol="0" anchor="t"/>
          <a:lstStyle/>
          <a:p>
            <a:pPr indent="0" marL="0">
              <a:buNone/>
            </a:pPr>
            <a:r>
              <a:rPr lang="en-US" sz="850" dirty="0">
                <a:solidFill>
                  <a:srgbClr val="64748B"/>
                </a:solidFill>
                <a:latin typeface="Plus Jakarta Sans" pitchFamily="34" charset="0"/>
                <a:ea typeface="Plus Jakarta Sans" pitchFamily="34" charset="-122"/>
                <a:cs typeface="Plus Jakarta Sans" pitchFamily="34" charset="-120"/>
              </a:rPr>
              <a:t>Sources: endnotes 84–87.</a:t>
            </a:r>
            <a:endParaRPr lang="en-US" sz="850" dirty="0"/>
          </a:p>
        </p:txBody>
      </p:sp>
      <p:sp>
        <p:nvSpPr>
          <p:cNvPr id="16" name="Text 13"/>
          <p:cNvSpPr txBox="1"/>
          <p:nvPr/>
        </p:nvSpPr>
        <p:spPr>
          <a:xfrm>
            <a:off x="11183112" y="6419088"/>
            <a:ext cx="457200" cy="228600"/>
          </a:xfrm>
          <a:prstGeom prst="rect">
            <a:avLst/>
          </a:prstGeom>
          <a:noFill/>
          <a:ln/>
        </p:spPr>
        <p:txBody>
          <a:bodyPr wrap="square" lIns="0" tIns="0" rIns="0" bIns="0" rtlCol="0" anchor="t"/>
          <a:lstStyle/>
          <a:p>
            <a:pPr algn="r" indent="0" marL="0">
              <a:buNone/>
            </a:pPr>
            <a:r>
              <a:rPr lang="en-US" sz="900" dirty="0">
                <a:solidFill>
                  <a:srgbClr val="94A3B8"/>
                </a:solidFill>
                <a:latin typeface="Plus Jakarta Sans" pitchFamily="34" charset="0"/>
                <a:ea typeface="Plus Jakarta Sans" pitchFamily="34" charset="-122"/>
                <a:cs typeface="Plus Jakarta Sans" pitchFamily="34" charset="-120"/>
              </a:rPr>
              <a:t>28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Owners, decision rights and skills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AI Control Plane, slide 28: Owners, decision rights and skills</dc:title>
  <dc:subject>One slide from The AI Control Plane: Executive Briefing, by John Fisher (2026), CC BY-NC-ND 4.0</dc:subject>
  <dc:creator>John Fisher</dc:creator>
  <cp:lastModifiedBy>John Fisher</cp:lastModifiedBy>
  <cp:revision>1</cp:revision>
  <dcterms:created xsi:type="dcterms:W3CDTF">2026-10-14T20:43:52Z</dcterms:created>
  <dcterms:modified xsi:type="dcterms:W3CDTF">2026-10-14T20:43:52Z</dcterms:modified>
</cp:coreProperties>
</file>