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78" r:id="rId24"/>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4" Type="http://schemas.openxmlformats.org/officeDocument/2006/relationships/slide" Target="slides/slide23.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How Agent Fabric covers the control-plane requirements:</a:t>
            </a:r>
          </a:p>
          <a:p>
            <a:pPr marL="228600" indent="-228600">
              <a:spcAft>
                <a:spcPts val="300"/>
              </a:spcAft>
              <a:buFont typeface="+mj-lt"/>
              <a:buAutoNum type="arabicPeriod" startAt="1"/>
            </a:pPr>
            <a:r>
              <a:rPr lang="en-US" dirty="0"/>
              <a:t>Breadth: it governs agents regardless of where they were built. Scanners discover and register agents, MCP servers and APIs from ecosystems including Amazon (Bedrock and AgentCore), Google (Gemini Enterprise Agent Platform, formerly Vertex AI), Microsoft (Copilot Studio, Microsoft Foundry), Claude, Databricks and Kong [21].</a:t>
            </a:r>
          </a:p>
          <a:p>
            <a:pPr marL="228600" indent="-228600">
              <a:spcAft>
                <a:spcPts val="300"/>
              </a:spcAft>
              <a:buFont typeface="+mj-lt"/>
              <a:buAutoNum type="arabicPeriod" startAt="2"/>
            </a:pPr>
            <a:r>
              <a:rPr lang="en-US" dirty="0"/>
              <a:t>Depth: it is built on MuleSoft's integration and API management foundation, so agents can take action in the systems where work happens as well as answer questions.</a:t>
            </a:r>
          </a:p>
          <a:p>
            <a:pPr marL="228600" indent="-228600">
              <a:spcAft>
                <a:spcPts val="300"/>
              </a:spcAft>
              <a:buFont typeface="+mj-lt"/>
              <a:buAutoNum type="arabicPeriod" startAt="3"/>
            </a:pPr>
            <a:r>
              <a:rPr lang="en-US" dirty="0"/>
              <a:t>Enforcement at runtime: policy, identity, rate limits and the kill switch are applied in the gateway path [21].</a:t>
            </a:r>
          </a:p>
          <a:p>
            <a:pPr marL="228600" indent="-228600">
              <a:spcAft>
                <a:spcPts val="300"/>
              </a:spcAft>
              <a:buFont typeface="+mj-lt"/>
              <a:buAutoNum type="arabicPeriod" startAt="4"/>
            </a:pPr>
            <a:r>
              <a:rPr lang="en-US" dirty="0"/>
              <a:t>Economics: token visibility, spend attribution and intelligent routing connect AI spend to business value [21].</a:t>
            </a:r>
          </a:p>
          <a:p>
            <a:pPr>
              <a:spcAft>
                <a:spcPts val="600"/>
              </a:spcAft>
            </a:pPr>
            <a:r>
              <a:rPr lang="en-US" dirty="0"/>
              <a:t>Be precise: governance is applied to agent traffic that flows through MuleSoft [21]. The architecture principle is therefore to route every agent-to-model and agent-to-tool call through the fabric. Shadow agents running on endpoints still need endpoint and identity controls. Decoys help find what inventories miss: honeytoken credentials, canary documents and decoy MCP tools that no sanctioned agent should ever touch, so any use flags an agent working outside the governed path. A custom Omni Gateway policy family can plant and watch them [78].</a:t>
            </a:r>
          </a:p>
          <a:p>
            <a:pPr>
              <a:spcAft>
                <a:spcPts val="600"/>
              </a:spcAft>
            </a:pPr>
            <a:r>
              <a:rPr lang="en-US" dirty="0"/>
              <a:t>Relationship to Agentforce: Agentforce is an agent platform for building and running agents in Salesforce. Agent Fabric is the control plane that registers, governs, orchestrates and observes all agents and MCP endpoints, including Agentforce. Both use the same engine for defining how agents reason, plan and act [21].</a:t>
            </a:r>
          </a:p>
          <a:p>
            <a:pPr>
              <a:spcAft>
                <a:spcPts val="600"/>
              </a:spcAft>
            </a:pPr>
            <a:r>
              <a:rPr lang="en-US" dirty="0"/>
              <a:t>Credit: John Fisher, The AI Control Plane: Executive Briefing (2026), slide 23,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23</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MULESOFT AGENT FABRIC  •  THE CONTROL PLANE</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Agent Fabric as the control plane for every agent</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Discover, connect, govern and optimize agents, APIs and MCP tools across the enterprise, regardless of which platform built them.</a:t>
            </a:r>
            <a:endParaRPr lang="en-US" sz="1350" dirty="0"/>
          </a:p>
        </p:txBody>
      </p:sp>
      <p:sp>
        <p:nvSpPr>
          <p:cNvPr id="5" name="Shape 3"/>
          <p:cNvSpPr/>
          <p:nvPr/>
        </p:nvSpPr>
        <p:spPr>
          <a:xfrm>
            <a:off x="548640" y="1874520"/>
            <a:ext cx="2642616" cy="3611880"/>
          </a:xfrm>
          <a:prstGeom prst="roundRect">
            <a:avLst>
              <a:gd name="adj" fmla="val 2768"/>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6" name="Shape 4"/>
          <p:cNvSpPr/>
          <p:nvPr/>
        </p:nvSpPr>
        <p:spPr>
          <a:xfrm>
            <a:off x="777240" y="2057400"/>
            <a:ext cx="502920" cy="502920"/>
          </a:xfrm>
          <a:prstGeom prst="ellipse">
            <a:avLst/>
          </a:prstGeom>
          <a:solidFill>
            <a:srgbClr val="0F172A"/>
          </a:solidFill>
          <a:ln w="6350">
            <a:solidFill>
              <a:srgbClr val="0F172A"/>
            </a:solidFill>
            <a:prstDash val="solid"/>
          </a:ln>
        </p:spPr>
      </p:sp>
      <p:pic>
        <p:nvPicPr>
          <p:cNvPr id="7" name="Icon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2970" y="2183130"/>
            <a:ext cx="251460" cy="251460"/>
          </a:xfrm>
          <a:prstGeom prst="rect">
            <a:avLst/>
          </a:prstGeom>
        </p:spPr>
      </p:pic>
      <p:sp>
        <p:nvSpPr>
          <p:cNvPr id="8" name="Text 5"/>
          <p:cNvSpPr txBox="1"/>
          <p:nvPr/>
        </p:nvSpPr>
        <p:spPr>
          <a:xfrm>
            <a:off x="1417320" y="2130552"/>
            <a:ext cx="1645920" cy="365760"/>
          </a:xfrm>
          <a:prstGeom prst="rect">
            <a:avLst/>
          </a:prstGeom>
          <a:noFill/>
          <a:ln/>
        </p:spPr>
        <p:txBody>
          <a:bodyPr wrap="square" lIns="0" tIns="0" rIns="0" bIns="0" rtlCol="0" anchor="t"/>
          <a:lstStyle/>
          <a:p>
            <a:pPr indent="0" marL="0">
              <a:buNone/>
            </a:pPr>
            <a:r>
              <a:rPr lang="en-US" sz="1900" b="1" dirty="0">
                <a:solidFill>
                  <a:srgbClr val="0F172A"/>
                </a:solidFill>
                <a:latin typeface="Plus Jakarta Sans" pitchFamily="34" charset="0"/>
                <a:ea typeface="Plus Jakarta Sans" pitchFamily="34" charset="-122"/>
                <a:cs typeface="Plus Jakarta Sans" pitchFamily="34" charset="-120"/>
              </a:rPr>
              <a:t>See</a:t>
            </a:r>
            <a:endParaRPr lang="en-US" sz="1900" dirty="0"/>
          </a:p>
        </p:txBody>
      </p:sp>
      <p:sp>
        <p:nvSpPr>
          <p:cNvPr id="9" name="Text 6"/>
          <p:cNvSpPr txBox="1"/>
          <p:nvPr/>
        </p:nvSpPr>
        <p:spPr>
          <a:xfrm>
            <a:off x="777240" y="2788920"/>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Agent Registry</a:t>
            </a:r>
            <a:endParaRPr lang="en-US" sz="1150" dirty="0"/>
          </a:p>
        </p:txBody>
      </p:sp>
      <p:sp>
        <p:nvSpPr>
          <p:cNvPr id="10" name="Text 7"/>
          <p:cNvSpPr txBox="1"/>
          <p:nvPr/>
        </p:nvSpPr>
        <p:spPr>
          <a:xfrm>
            <a:off x="777240" y="3054096"/>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One source of truth for agents, APIs and MCP tools</a:t>
            </a:r>
            <a:endParaRPr lang="en-US" sz="1000" dirty="0"/>
          </a:p>
        </p:txBody>
      </p:sp>
      <p:sp>
        <p:nvSpPr>
          <p:cNvPr id="11" name="Text 8"/>
          <p:cNvSpPr txBox="1"/>
          <p:nvPr/>
        </p:nvSpPr>
        <p:spPr>
          <a:xfrm>
            <a:off x="777240" y="3675888"/>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Scanners</a:t>
            </a:r>
            <a:endParaRPr lang="en-US" sz="1150" dirty="0"/>
          </a:p>
        </p:txBody>
      </p:sp>
      <p:sp>
        <p:nvSpPr>
          <p:cNvPr id="12" name="Text 9"/>
          <p:cNvSpPr txBox="1"/>
          <p:nvPr/>
        </p:nvSpPr>
        <p:spPr>
          <a:xfrm>
            <a:off x="777240" y="3941064"/>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Auto-discover agents and MCP servers on AWS, Google, Microsoft, Claude, Databricks, Kong</a:t>
            </a:r>
            <a:endParaRPr lang="en-US" sz="1000" dirty="0"/>
          </a:p>
        </p:txBody>
      </p:sp>
      <p:sp>
        <p:nvSpPr>
          <p:cNvPr id="13" name="Text 10"/>
          <p:cNvSpPr txBox="1"/>
          <p:nvPr/>
        </p:nvSpPr>
        <p:spPr>
          <a:xfrm>
            <a:off x="777240" y="4562856"/>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LLM Governance</a:t>
            </a:r>
            <a:endParaRPr lang="en-US" sz="1150" dirty="0"/>
          </a:p>
        </p:txBody>
      </p:sp>
      <p:sp>
        <p:nvSpPr>
          <p:cNvPr id="14" name="Text 11"/>
          <p:cNvSpPr txBox="1"/>
          <p:nvPr/>
        </p:nvSpPr>
        <p:spPr>
          <a:xfrm>
            <a:off x="777240" y="4828032"/>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Token usage, cost and data flows for third-party models</a:t>
            </a:r>
            <a:endParaRPr lang="en-US" sz="1000" dirty="0"/>
          </a:p>
        </p:txBody>
      </p:sp>
      <p:sp>
        <p:nvSpPr>
          <p:cNvPr id="15" name="Shape 12"/>
          <p:cNvSpPr/>
          <p:nvPr/>
        </p:nvSpPr>
        <p:spPr>
          <a:xfrm>
            <a:off x="3364992" y="1874520"/>
            <a:ext cx="2642616" cy="3611880"/>
          </a:xfrm>
          <a:prstGeom prst="roundRect">
            <a:avLst>
              <a:gd name="adj" fmla="val 2768"/>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6" name="Shape 13"/>
          <p:cNvSpPr/>
          <p:nvPr/>
        </p:nvSpPr>
        <p:spPr>
          <a:xfrm>
            <a:off x="3593592" y="2057400"/>
            <a:ext cx="502920" cy="502920"/>
          </a:xfrm>
          <a:prstGeom prst="ellipse">
            <a:avLst/>
          </a:prstGeom>
          <a:solidFill>
            <a:srgbClr val="0F172A"/>
          </a:solidFill>
          <a:ln w="6350">
            <a:solidFill>
              <a:srgbClr val="0F172A"/>
            </a:solidFill>
            <a:prstDash val="solid"/>
          </a:ln>
        </p:spPr>
      </p:sp>
      <p:pic>
        <p:nvPicPr>
          <p:cNvPr id="17" name="Icon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719322" y="2183130"/>
            <a:ext cx="251460" cy="251460"/>
          </a:xfrm>
          <a:prstGeom prst="rect">
            <a:avLst/>
          </a:prstGeom>
        </p:spPr>
      </p:pic>
      <p:sp>
        <p:nvSpPr>
          <p:cNvPr id="18" name="Text 14"/>
          <p:cNvSpPr txBox="1"/>
          <p:nvPr/>
        </p:nvSpPr>
        <p:spPr>
          <a:xfrm>
            <a:off x="4233672" y="2130552"/>
            <a:ext cx="1645920" cy="365760"/>
          </a:xfrm>
          <a:prstGeom prst="rect">
            <a:avLst/>
          </a:prstGeom>
          <a:noFill/>
          <a:ln/>
        </p:spPr>
        <p:txBody>
          <a:bodyPr wrap="square" lIns="0" tIns="0" rIns="0" bIns="0" rtlCol="0" anchor="t"/>
          <a:lstStyle/>
          <a:p>
            <a:pPr indent="0" marL="0">
              <a:buNone/>
            </a:pPr>
            <a:r>
              <a:rPr lang="en-US" sz="1900" b="1" dirty="0">
                <a:solidFill>
                  <a:srgbClr val="0F172A"/>
                </a:solidFill>
                <a:latin typeface="Plus Jakarta Sans" pitchFamily="34" charset="0"/>
                <a:ea typeface="Plus Jakarta Sans" pitchFamily="34" charset="-122"/>
                <a:cs typeface="Plus Jakarta Sans" pitchFamily="34" charset="-120"/>
              </a:rPr>
              <a:t>Act</a:t>
            </a:r>
            <a:endParaRPr lang="en-US" sz="1900" dirty="0"/>
          </a:p>
        </p:txBody>
      </p:sp>
      <p:sp>
        <p:nvSpPr>
          <p:cNvPr id="19" name="Text 15"/>
          <p:cNvSpPr txBox="1"/>
          <p:nvPr/>
        </p:nvSpPr>
        <p:spPr>
          <a:xfrm>
            <a:off x="3593592" y="2788920"/>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MCP Bridge</a:t>
            </a:r>
            <a:endParaRPr lang="en-US" sz="1150" dirty="0"/>
          </a:p>
        </p:txBody>
      </p:sp>
      <p:sp>
        <p:nvSpPr>
          <p:cNvPr id="20" name="Text 16"/>
          <p:cNvSpPr txBox="1"/>
          <p:nvPr/>
        </p:nvSpPr>
        <p:spPr>
          <a:xfrm>
            <a:off x="3593592" y="3054096"/>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Existing APIs become agent-ready MCP tools</a:t>
            </a:r>
            <a:endParaRPr lang="en-US" sz="1000" dirty="0"/>
          </a:p>
        </p:txBody>
      </p:sp>
      <p:sp>
        <p:nvSpPr>
          <p:cNvPr id="21" name="Text 17"/>
          <p:cNvSpPr txBox="1"/>
          <p:nvPr/>
        </p:nvSpPr>
        <p:spPr>
          <a:xfrm>
            <a:off x="3593592" y="3675888"/>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Agent Broker</a:t>
            </a:r>
            <a:endParaRPr lang="en-US" sz="1150" dirty="0"/>
          </a:p>
        </p:txBody>
      </p:sp>
      <p:sp>
        <p:nvSpPr>
          <p:cNvPr id="22" name="Text 18"/>
          <p:cNvSpPr txBox="1"/>
          <p:nvPr/>
        </p:nvSpPr>
        <p:spPr>
          <a:xfrm>
            <a:off x="3593592" y="3941064"/>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Routes multi-step work across agents and tools, with guided determinism</a:t>
            </a:r>
            <a:endParaRPr lang="en-US" sz="1000" dirty="0"/>
          </a:p>
        </p:txBody>
      </p:sp>
      <p:sp>
        <p:nvSpPr>
          <p:cNvPr id="23" name="Text 19"/>
          <p:cNvSpPr txBox="1"/>
          <p:nvPr/>
        </p:nvSpPr>
        <p:spPr>
          <a:xfrm>
            <a:off x="3593592" y="4562856"/>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A2A support</a:t>
            </a:r>
            <a:endParaRPr lang="en-US" sz="1150" dirty="0"/>
          </a:p>
        </p:txBody>
      </p:sp>
      <p:sp>
        <p:nvSpPr>
          <p:cNvPr id="24" name="Text 20"/>
          <p:cNvSpPr txBox="1"/>
          <p:nvPr/>
        </p:nvSpPr>
        <p:spPr>
          <a:xfrm>
            <a:off x="3593592" y="4828032"/>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Pre-built connectors make agents A2A-compliant</a:t>
            </a:r>
            <a:endParaRPr lang="en-US" sz="1000" dirty="0"/>
          </a:p>
        </p:txBody>
      </p:sp>
      <p:sp>
        <p:nvSpPr>
          <p:cNvPr id="25" name="Shape 21"/>
          <p:cNvSpPr/>
          <p:nvPr/>
        </p:nvSpPr>
        <p:spPr>
          <a:xfrm>
            <a:off x="6181344" y="1874520"/>
            <a:ext cx="2642616" cy="3611880"/>
          </a:xfrm>
          <a:prstGeom prst="roundRect">
            <a:avLst>
              <a:gd name="adj" fmla="val 2768"/>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6" name="Shape 22"/>
          <p:cNvSpPr/>
          <p:nvPr/>
        </p:nvSpPr>
        <p:spPr>
          <a:xfrm>
            <a:off x="6409944" y="2057400"/>
            <a:ext cx="502920" cy="502920"/>
          </a:xfrm>
          <a:prstGeom prst="ellipse">
            <a:avLst/>
          </a:prstGeom>
          <a:solidFill>
            <a:srgbClr val="0F172A"/>
          </a:solidFill>
          <a:ln w="6350">
            <a:solidFill>
              <a:srgbClr val="0F172A"/>
            </a:solidFill>
            <a:prstDash val="solid"/>
          </a:ln>
        </p:spPr>
      </p:sp>
      <p:pic>
        <p:nvPicPr>
          <p:cNvPr id="27" name="Icon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35674" y="2183130"/>
            <a:ext cx="251460" cy="251460"/>
          </a:xfrm>
          <a:prstGeom prst="rect">
            <a:avLst/>
          </a:prstGeom>
        </p:spPr>
      </p:pic>
      <p:sp>
        <p:nvSpPr>
          <p:cNvPr id="28" name="Text 23"/>
          <p:cNvSpPr txBox="1"/>
          <p:nvPr/>
        </p:nvSpPr>
        <p:spPr>
          <a:xfrm>
            <a:off x="7050024" y="2130552"/>
            <a:ext cx="1645920" cy="365760"/>
          </a:xfrm>
          <a:prstGeom prst="rect">
            <a:avLst/>
          </a:prstGeom>
          <a:noFill/>
          <a:ln/>
        </p:spPr>
        <p:txBody>
          <a:bodyPr wrap="square" lIns="0" tIns="0" rIns="0" bIns="0" rtlCol="0" anchor="t"/>
          <a:lstStyle/>
          <a:p>
            <a:pPr indent="0" marL="0">
              <a:buNone/>
            </a:pPr>
            <a:r>
              <a:rPr lang="en-US" sz="1900" b="1" dirty="0">
                <a:solidFill>
                  <a:srgbClr val="0F172A"/>
                </a:solidFill>
                <a:latin typeface="Plus Jakarta Sans" pitchFamily="34" charset="0"/>
                <a:ea typeface="Plus Jakarta Sans" pitchFamily="34" charset="-122"/>
                <a:cs typeface="Plus Jakarta Sans" pitchFamily="34" charset="-120"/>
              </a:rPr>
              <a:t>Govern</a:t>
            </a:r>
            <a:endParaRPr lang="en-US" sz="1900" dirty="0"/>
          </a:p>
        </p:txBody>
      </p:sp>
      <p:sp>
        <p:nvSpPr>
          <p:cNvPr id="29" name="Text 24"/>
          <p:cNvSpPr txBox="1"/>
          <p:nvPr/>
        </p:nvSpPr>
        <p:spPr>
          <a:xfrm>
            <a:off x="6409944" y="2788920"/>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Unified LLM &amp; MCP gateway</a:t>
            </a:r>
            <a:endParaRPr lang="en-US" sz="1150" dirty="0"/>
          </a:p>
        </p:txBody>
      </p:sp>
      <p:sp>
        <p:nvSpPr>
          <p:cNvPr id="30" name="Text 25"/>
          <p:cNvSpPr txBox="1"/>
          <p:nvPr/>
        </p:nvSpPr>
        <p:spPr>
          <a:xfrm>
            <a:off x="6409944" y="3054096"/>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One policy point across agents, models and tools</a:t>
            </a:r>
            <a:endParaRPr lang="en-US" sz="1000" dirty="0"/>
          </a:p>
        </p:txBody>
      </p:sp>
      <p:sp>
        <p:nvSpPr>
          <p:cNvPr id="31" name="Text 26"/>
          <p:cNvSpPr txBox="1"/>
          <p:nvPr/>
        </p:nvSpPr>
        <p:spPr>
          <a:xfrm>
            <a:off x="6409944" y="3675888"/>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Trusted Agent Identity</a:t>
            </a:r>
            <a:endParaRPr lang="en-US" sz="1150" dirty="0"/>
          </a:p>
        </p:txBody>
      </p:sp>
      <p:sp>
        <p:nvSpPr>
          <p:cNvPr id="32" name="Text 27"/>
          <p:cNvSpPr txBox="1"/>
          <p:nvPr/>
        </p:nvSpPr>
        <p:spPr>
          <a:xfrm>
            <a:off x="6409944" y="3941064"/>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Acts on a user’s behalf, authorized and auditable</a:t>
            </a:r>
            <a:endParaRPr lang="en-US" sz="1000" dirty="0"/>
          </a:p>
        </p:txBody>
      </p:sp>
      <p:sp>
        <p:nvSpPr>
          <p:cNvPr id="33" name="Text 28"/>
          <p:cNvSpPr txBox="1"/>
          <p:nvPr/>
        </p:nvSpPr>
        <p:spPr>
          <a:xfrm>
            <a:off x="6409944" y="4562856"/>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Agent Kill Switch</a:t>
            </a:r>
            <a:endParaRPr lang="en-US" sz="1150" dirty="0"/>
          </a:p>
        </p:txBody>
      </p:sp>
      <p:sp>
        <p:nvSpPr>
          <p:cNvPr id="34" name="Text 29"/>
          <p:cNvSpPr txBox="1"/>
          <p:nvPr/>
        </p:nvSpPr>
        <p:spPr>
          <a:xfrm>
            <a:off x="6409944" y="4828032"/>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Stops agent activity quickly when needed</a:t>
            </a:r>
            <a:endParaRPr lang="en-US" sz="1000" dirty="0"/>
          </a:p>
        </p:txBody>
      </p:sp>
      <p:sp>
        <p:nvSpPr>
          <p:cNvPr id="35" name="Shape 30"/>
          <p:cNvSpPr/>
          <p:nvPr/>
        </p:nvSpPr>
        <p:spPr>
          <a:xfrm>
            <a:off x="8997696" y="1874520"/>
            <a:ext cx="2642616" cy="3611880"/>
          </a:xfrm>
          <a:prstGeom prst="roundRect">
            <a:avLst>
              <a:gd name="adj" fmla="val 2768"/>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6" name="Shape 31"/>
          <p:cNvSpPr/>
          <p:nvPr/>
        </p:nvSpPr>
        <p:spPr>
          <a:xfrm>
            <a:off x="9226296" y="2057400"/>
            <a:ext cx="502920" cy="502920"/>
          </a:xfrm>
          <a:prstGeom prst="ellipse">
            <a:avLst/>
          </a:prstGeom>
          <a:solidFill>
            <a:srgbClr val="0F172A"/>
          </a:solidFill>
          <a:ln w="6350">
            <a:solidFill>
              <a:srgbClr val="0F172A"/>
            </a:solidFill>
            <a:prstDash val="solid"/>
          </a:ln>
        </p:spPr>
      </p:sp>
      <p:pic>
        <p:nvPicPr>
          <p:cNvPr id="37" name="Icon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52026" y="2183130"/>
            <a:ext cx="251460" cy="251460"/>
          </a:xfrm>
          <a:prstGeom prst="rect">
            <a:avLst/>
          </a:prstGeom>
        </p:spPr>
      </p:pic>
      <p:sp>
        <p:nvSpPr>
          <p:cNvPr id="38" name="Text 32"/>
          <p:cNvSpPr txBox="1"/>
          <p:nvPr/>
        </p:nvSpPr>
        <p:spPr>
          <a:xfrm>
            <a:off x="9866376" y="2130552"/>
            <a:ext cx="1645920" cy="365760"/>
          </a:xfrm>
          <a:prstGeom prst="rect">
            <a:avLst/>
          </a:prstGeom>
          <a:noFill/>
          <a:ln/>
        </p:spPr>
        <p:txBody>
          <a:bodyPr wrap="square" lIns="0" tIns="0" rIns="0" bIns="0" rtlCol="0" anchor="t"/>
          <a:lstStyle/>
          <a:p>
            <a:pPr indent="0" marL="0">
              <a:buNone/>
            </a:pPr>
            <a:r>
              <a:rPr lang="en-US" sz="1900" b="1" dirty="0">
                <a:solidFill>
                  <a:srgbClr val="0F172A"/>
                </a:solidFill>
                <a:latin typeface="Plus Jakarta Sans" pitchFamily="34" charset="0"/>
                <a:ea typeface="Plus Jakarta Sans" pitchFamily="34" charset="-122"/>
                <a:cs typeface="Plus Jakarta Sans" pitchFamily="34" charset="-120"/>
              </a:rPr>
              <a:t>Optimize</a:t>
            </a:r>
            <a:endParaRPr lang="en-US" sz="1900" dirty="0"/>
          </a:p>
        </p:txBody>
      </p:sp>
      <p:sp>
        <p:nvSpPr>
          <p:cNvPr id="39" name="Text 33"/>
          <p:cNvSpPr txBox="1"/>
          <p:nvPr/>
        </p:nvSpPr>
        <p:spPr>
          <a:xfrm>
            <a:off x="9226296" y="2788920"/>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AI cost controls</a:t>
            </a:r>
            <a:endParaRPr lang="en-US" sz="1150" dirty="0"/>
          </a:p>
        </p:txBody>
      </p:sp>
      <p:sp>
        <p:nvSpPr>
          <p:cNvPr id="40" name="Text 34"/>
          <p:cNvSpPr txBox="1"/>
          <p:nvPr/>
        </p:nvSpPr>
        <p:spPr>
          <a:xfrm>
            <a:off x="9226296" y="3054096"/>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Token-based rate limits and spend attribution</a:t>
            </a:r>
            <a:endParaRPr lang="en-US" sz="1000" dirty="0"/>
          </a:p>
        </p:txBody>
      </p:sp>
      <p:sp>
        <p:nvSpPr>
          <p:cNvPr id="41" name="Text 35"/>
          <p:cNvSpPr txBox="1"/>
          <p:nvPr/>
        </p:nvSpPr>
        <p:spPr>
          <a:xfrm>
            <a:off x="9226296" y="3675888"/>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Intelligent model routing</a:t>
            </a:r>
            <a:endParaRPr lang="en-US" sz="1150" dirty="0"/>
          </a:p>
        </p:txBody>
      </p:sp>
      <p:sp>
        <p:nvSpPr>
          <p:cNvPr id="42" name="Text 36"/>
          <p:cNvSpPr txBox="1"/>
          <p:nvPr/>
        </p:nvSpPr>
        <p:spPr>
          <a:xfrm>
            <a:off x="9226296" y="3941064"/>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The right model for each task’s needs</a:t>
            </a:r>
            <a:endParaRPr lang="en-US" sz="1000" dirty="0"/>
          </a:p>
        </p:txBody>
      </p:sp>
      <p:sp>
        <p:nvSpPr>
          <p:cNvPr id="43" name="Text 37"/>
          <p:cNvSpPr txBox="1"/>
          <p:nvPr/>
        </p:nvSpPr>
        <p:spPr>
          <a:xfrm>
            <a:off x="9226296" y="4562856"/>
            <a:ext cx="2286000" cy="256032"/>
          </a:xfrm>
          <a:prstGeom prst="rect">
            <a:avLst/>
          </a:prstGeom>
          <a:noFill/>
          <a:ln/>
        </p:spPr>
        <p:txBody>
          <a:bodyPr wrap="square" lIns="0" tIns="0" rIns="0" bIns="0" rtlCol="0" anchor="t"/>
          <a:lstStyle/>
          <a:p>
            <a:pPr indent="0" marL="0">
              <a:buNone/>
            </a:pPr>
            <a:r>
              <a:rPr lang="en-US" sz="1150" b="1" dirty="0">
                <a:solidFill>
                  <a:srgbClr val="0369A1"/>
                </a:solidFill>
                <a:latin typeface="Plus Jakarta Sans" pitchFamily="34" charset="0"/>
                <a:ea typeface="Plus Jakarta Sans" pitchFamily="34" charset="-122"/>
                <a:cs typeface="Plus Jakarta Sans" pitchFamily="34" charset="-120"/>
              </a:rPr>
              <a:t>Agent Visualizer</a:t>
            </a:r>
            <a:endParaRPr lang="en-US" sz="1150" dirty="0"/>
          </a:p>
        </p:txBody>
      </p:sp>
      <p:sp>
        <p:nvSpPr>
          <p:cNvPr id="44" name="Text 38"/>
          <p:cNvSpPr txBox="1"/>
          <p:nvPr/>
        </p:nvSpPr>
        <p:spPr>
          <a:xfrm>
            <a:off x="9226296" y="4828032"/>
            <a:ext cx="2286000" cy="566928"/>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See confidence, bottlenecks and risk across the agent network</a:t>
            </a:r>
            <a:endParaRPr lang="en-US" sz="1000" dirty="0"/>
          </a:p>
        </p:txBody>
      </p:sp>
      <p:sp>
        <p:nvSpPr>
          <p:cNvPr id="45" name="Text 39"/>
          <p:cNvSpPr txBox="1"/>
          <p:nvPr/>
        </p:nvSpPr>
        <p:spPr>
          <a:xfrm>
            <a:off x="548640" y="5760720"/>
            <a:ext cx="1463040" cy="274320"/>
          </a:xfrm>
          <a:prstGeom prst="rect">
            <a:avLst/>
          </a:prstGeom>
          <a:noFill/>
          <a:ln/>
        </p:spPr>
        <p:txBody>
          <a:bodyPr wrap="square" lIns="0" tIns="0" rIns="0" bIns="0" rtlCol="0" anchor="ctr"/>
          <a:lstStyle/>
          <a:p>
            <a:pPr indent="0" marL="0">
              <a:buNone/>
            </a:pPr>
            <a:r>
              <a:rPr lang="en-US" sz="950" b="1" spc="120" kern="0" dirty="0">
                <a:solidFill>
                  <a:srgbClr val="64748B"/>
                </a:solidFill>
                <a:latin typeface="Plus Jakarta Sans" pitchFamily="34" charset="0"/>
                <a:ea typeface="Plus Jakarta Sans" pitchFamily="34" charset="-122"/>
                <a:cs typeface="Plus Jakarta Sans" pitchFamily="34" charset="-120"/>
              </a:rPr>
              <a:t>WORKS ACROSS</a:t>
            </a:r>
            <a:endParaRPr lang="en-US" sz="950" dirty="0"/>
          </a:p>
        </p:txBody>
      </p:sp>
      <p:sp>
        <p:nvSpPr>
          <p:cNvPr id="46" name="Text 40"/>
          <p:cNvSpPr/>
          <p:nvPr/>
        </p:nvSpPr>
        <p:spPr>
          <a:xfrm>
            <a:off x="1783080" y="5733288"/>
            <a:ext cx="896112" cy="329184"/>
          </a:xfrm>
          <a:prstGeom prst="roundRect">
            <a:avLst>
              <a:gd name="adj" fmla="val 16667"/>
            </a:avLst>
          </a:prstGeom>
          <a:solidFill>
            <a:srgbClr val="FFFFFF"/>
          </a:solidFill>
          <a:ln w="9525">
            <a:solidFill>
              <a:srgbClr val="E2E8F0"/>
            </a:solidFill>
          </a:ln>
        </p:spPr>
        <p:txBody>
          <a:bodyPr wrap="square" lIns="38100" tIns="38100" rIns="38100" bIns="38100" rtlCol="0" anchor="ctr"/>
          <a:lstStyle/>
          <a:p>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Agentforce</a:t>
            </a:r>
            <a:endParaRPr lang="en-US" sz="900" dirty="0"/>
          </a:p>
        </p:txBody>
      </p:sp>
      <p:sp>
        <p:nvSpPr>
          <p:cNvPr id="47" name="Text 41"/>
          <p:cNvSpPr/>
          <p:nvPr/>
        </p:nvSpPr>
        <p:spPr>
          <a:xfrm>
            <a:off x="2770632" y="5733288"/>
            <a:ext cx="1890979" cy="329184"/>
          </a:xfrm>
          <a:prstGeom prst="roundRect">
            <a:avLst>
              <a:gd name="adj" fmla="val 16667"/>
            </a:avLst>
          </a:prstGeom>
          <a:solidFill>
            <a:srgbClr val="FFFFFF"/>
          </a:solidFill>
          <a:ln w="9525">
            <a:solidFill>
              <a:srgbClr val="E2E8F0"/>
            </a:solidFill>
          </a:ln>
        </p:spPr>
        <p:txBody>
          <a:bodyPr wrap="square" lIns="38100" tIns="38100" rIns="38100" bIns="38100" rtlCol="0" anchor="ctr"/>
          <a:lstStyle/>
          <a:p>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Amazon Bedrock &amp; AgentCore</a:t>
            </a:r>
            <a:endParaRPr lang="en-US" sz="900" dirty="0"/>
          </a:p>
        </p:txBody>
      </p:sp>
      <p:sp>
        <p:nvSpPr>
          <p:cNvPr id="48" name="Text 42"/>
          <p:cNvSpPr/>
          <p:nvPr/>
        </p:nvSpPr>
        <p:spPr>
          <a:xfrm>
            <a:off x="4753051" y="5733288"/>
            <a:ext cx="2699309" cy="329184"/>
          </a:xfrm>
          <a:prstGeom prst="roundRect">
            <a:avLst>
              <a:gd name="adj" fmla="val 16667"/>
            </a:avLst>
          </a:prstGeom>
          <a:solidFill>
            <a:srgbClr val="FFFFFF"/>
          </a:solidFill>
          <a:ln w="9525">
            <a:solidFill>
              <a:srgbClr val="E2E8F0"/>
            </a:solidFill>
          </a:ln>
        </p:spPr>
        <p:txBody>
          <a:bodyPr wrap="square" lIns="38100" tIns="38100" rIns="38100" bIns="38100" rtlCol="0" anchor="ctr"/>
          <a:lstStyle/>
          <a:p>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Google Gemini Enterprise Agent Platform</a:t>
            </a:r>
            <a:endParaRPr lang="en-US" sz="900" dirty="0"/>
          </a:p>
        </p:txBody>
      </p:sp>
      <p:sp>
        <p:nvSpPr>
          <p:cNvPr id="49" name="Text 43"/>
          <p:cNvSpPr/>
          <p:nvPr/>
        </p:nvSpPr>
        <p:spPr>
          <a:xfrm>
            <a:off x="7543800" y="5733288"/>
            <a:ext cx="2388413" cy="329184"/>
          </a:xfrm>
          <a:prstGeom prst="roundRect">
            <a:avLst>
              <a:gd name="adj" fmla="val 16667"/>
            </a:avLst>
          </a:prstGeom>
          <a:solidFill>
            <a:srgbClr val="FFFFFF"/>
          </a:solidFill>
          <a:ln w="9525">
            <a:solidFill>
              <a:srgbClr val="E2E8F0"/>
            </a:solidFill>
          </a:ln>
        </p:spPr>
        <p:txBody>
          <a:bodyPr wrap="square" lIns="38100" tIns="38100" rIns="38100" bIns="38100" rtlCol="0" anchor="ctr"/>
          <a:lstStyle/>
          <a:p>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Microsoft Copilot Studio &amp; Foundry</a:t>
            </a:r>
            <a:endParaRPr lang="en-US" sz="900" dirty="0"/>
          </a:p>
        </p:txBody>
      </p:sp>
      <p:sp>
        <p:nvSpPr>
          <p:cNvPr id="50" name="Text 44"/>
          <p:cNvSpPr/>
          <p:nvPr/>
        </p:nvSpPr>
        <p:spPr>
          <a:xfrm>
            <a:off x="10023653" y="5733288"/>
            <a:ext cx="647395" cy="329184"/>
          </a:xfrm>
          <a:prstGeom prst="roundRect">
            <a:avLst>
              <a:gd name="adj" fmla="val 16667"/>
            </a:avLst>
          </a:prstGeom>
          <a:solidFill>
            <a:srgbClr val="FFFFFF"/>
          </a:solidFill>
          <a:ln w="9525">
            <a:solidFill>
              <a:srgbClr val="E2E8F0"/>
            </a:solidFill>
          </a:ln>
        </p:spPr>
        <p:txBody>
          <a:bodyPr wrap="square" lIns="38100" tIns="38100" rIns="38100" bIns="38100" rtlCol="0" anchor="ctr"/>
          <a:lstStyle/>
          <a:p>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Claude</a:t>
            </a:r>
            <a:endParaRPr lang="en-US" sz="900" dirty="0"/>
          </a:p>
        </p:txBody>
      </p:sp>
      <p:sp>
        <p:nvSpPr>
          <p:cNvPr id="51" name="Text 45"/>
          <p:cNvSpPr/>
          <p:nvPr/>
        </p:nvSpPr>
        <p:spPr>
          <a:xfrm>
            <a:off x="10762488" y="5733288"/>
            <a:ext cx="896112" cy="329184"/>
          </a:xfrm>
          <a:prstGeom prst="roundRect">
            <a:avLst>
              <a:gd name="adj" fmla="val 16667"/>
            </a:avLst>
          </a:prstGeom>
          <a:solidFill>
            <a:srgbClr val="FFFFFF"/>
          </a:solidFill>
          <a:ln w="9525">
            <a:solidFill>
              <a:srgbClr val="E2E8F0"/>
            </a:solidFill>
          </a:ln>
        </p:spPr>
        <p:txBody>
          <a:bodyPr wrap="square" lIns="38100" tIns="38100" rIns="38100" bIns="38100" rtlCol="0" anchor="ctr"/>
          <a:lstStyle/>
          <a:p>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Databricks</a:t>
            </a:r>
            <a:endParaRPr lang="en-US" sz="900" dirty="0"/>
          </a:p>
        </p:txBody>
      </p:sp>
      <p:sp>
        <p:nvSpPr>
          <p:cNvPr id="52" name="Text 46"/>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 21.</a:t>
            </a:r>
            <a:endParaRPr lang="en-US" sz="850" dirty="0"/>
          </a:p>
        </p:txBody>
      </p:sp>
      <p:sp>
        <p:nvSpPr>
          <p:cNvPr id="53" name="Text 47"/>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Agent Fabric as the control plane for every agent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23: Agent Fabric as the control plane for every agent</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