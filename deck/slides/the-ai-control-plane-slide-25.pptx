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80" r:id="rId26"/>
  </p:sldIdLst>
  <p:notesMasterIdLst>
    <p:notesMasterId r:id="rId68"/>
  </p:notesMasterIdLst>
  <p:sldSz cx="12192000" cy="6858000"/>
  <p:notesSz cx="6858000" cy="12192000"/>
  <p:embeddedFontLst>
    <p:embeddedFont>
      <p:font typeface="Plus Jakarta Sans"/>
      <p:regular r:id="rId73"/>
      <p:bold r:id="rId74"/>
      <p:italic r:id="rId7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6" Type="http://schemas.openxmlformats.org/officeDocument/2006/relationships/slide" Target="slides/slide25.xml"/><Relationship Id="rId68" Type="http://schemas.openxmlformats.org/officeDocument/2006/relationships/notesMaster" Target="notesMasters/notesMaster1.xml"/><Relationship Id="rId69" Type="http://schemas.openxmlformats.org/officeDocument/2006/relationships/presProps" Target="presProps.xml"/><Relationship Id="rId70" Type="http://schemas.openxmlformats.org/officeDocument/2006/relationships/viewProps" Target="viewProps.xml"/><Relationship Id="rId71" Type="http://schemas.openxmlformats.org/officeDocument/2006/relationships/theme" Target="theme/theme1.xml"/><Relationship Id="rId72" Type="http://schemas.openxmlformats.org/officeDocument/2006/relationships/tableStyles" Target="tableStyles.xml"/><Relationship Id="rId73" Type="http://schemas.openxmlformats.org/officeDocument/2006/relationships/font" Target="fonts/e1a8fda2-a427-4cdb-9ef2-8a6782d58009.fntdata"/><Relationship Id="rId74" Type="http://schemas.openxmlformats.org/officeDocument/2006/relationships/font" Target="fonts/9542d0bb-6ad7-45dd-89ef-a406bd0490d1.fntdata"/><Relationship Id="rId75" Type="http://schemas.openxmlformats.org/officeDocument/2006/relationships/font" Target="fonts/f16f000a-8ac0-4436-b98c-e748fe425de0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Relationship Id="rId3" Type="http://schemas.openxmlformats.org/officeDocument/2006/relationships/hyperlink" Target="https://creativecommons.org/licenses/by-nc-nd/4.0/" TargetMode="External"/><Relationship Id="rId4" Type="http://schemas.openxmlformats.org/officeDocument/2006/relationships/hyperlink" Target="https://johnfisher-ai.github.io/ai-control-plane-handbook/deck/" TargetMode="External"/><Relationship Id="rId5" Type="http://schemas.openxmlformats.org/officeDocument/2006/relationships/hyperlink" Target="https://johnfisher-ai.github.io/ai-control-plane-handbook/handbook/appendix-b.html" TargetMode="External"/></Relationship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57200" y="762000"/>
            <a:ext cx="5943600" cy="33432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457200" y="4419600"/>
            <a:ext cx="5943600" cy="6705600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dirty="0"/>
              <a:t>Most enterprises already run more than one agent control plane, so "why another one?" is a fair question. Microsoft describes Agent 365 as "the control-plane for AI agents", with Microsoft Entra Agent ID for agent identities [12]. AWS offers Amazon Bedrock AgentCore (Runtime, Memory, Gateway for MCP servers, Identity and OpenTelemetry-compatible Observability) [62]. Google's Gemini Enterprise Agent Platform includes Agent Registry, Agent Gateway and Agent Identity [47]. Agentforce runs agents in Salesforce data and processes.</a:t>
            </a:r>
          </a:p>
          <a:p>
            <a:pPr>
              <a:spcAft>
                <a:spcPts val="600"/>
              </a:spcAft>
            </a:pPr>
            <a:r>
              <a:rPr lang="en-US" dirty="0"/>
              <a:t>Each governs its own estate well. The answer is a division of labor, agreed up front: which system is authoritative for inventory, identity, policy and telemetry. A workable default keeps each native plane authoritative for identity and runtime inside its estate. MuleSoft Agent Fabric is then authoritative for the cross-estate inventory, policy on every call into enterprise capabilities and data, orchestration across vendors, and cost and audit [21]. Microsoft's own Cloud Adoption Framework takes the same approach inside its estate: it names Agent 365, or Entra Agent ID where Agent 365 is not in use at scale, as the authoritative inventory and asks for consistent policy across every agent platform [14].</a:t>
            </a:r>
          </a:p>
          <a:p>
            <a:pPr>
              <a:spcAft>
                <a:spcPts val="600"/>
              </a:spcAft>
            </a:pPr>
            <a:r>
              <a:rPr lang="en-US" dirty="0"/>
              <a:t>Credit: John Fisher, The AI Control Plane: Executive Briefing (2026), slide 25, licensed under CC BY-NC-ND 4.0: </a:t>
            </a:r>
            <a:r>
              <a:rPr lang="en-US" dirty="0">
                <a:hlinkClick r:id="rId3"/>
              </a:rPr>
              <a:t>https://creativecommons.org/licenses/by-nc-nd/4.0/</a:t>
            </a:r>
            <a:r>
              <a:rPr lang="en-US" dirty="0"/>
              <a:t>. The full deck, with its speaker notes and notices: </a:t>
            </a:r>
            <a:r>
              <a:rPr lang="en-US" dirty="0">
                <a:hlinkClick r:id="rId4"/>
              </a:rPr>
              <a:t>https://johnfisher-ai.github.io/ai-control-plane-handbook/deck/</a:t>
            </a:r>
            <a:r>
              <a:rPr lang="en-US" dirty="0"/>
              <a:t>.</a:t>
            </a:r>
          </a:p>
          <a:p>
            <a:pPr>
              <a:spcAft>
                <a:spcPts val="600"/>
              </a:spcAft>
            </a:pPr>
            <a:r>
              <a:rPr lang="en-US" dirty="0"/>
              <a:t>Bracketed numbers in these notes, and endnote numbers on the slide, refer to the endnotes in Appendix B of The AI Control Plane Handbook: </a:t>
            </a:r>
            <a:r>
              <a:rPr lang="en-US" dirty="0">
                <a:hlinkClick r:id="rId5"/>
              </a:rPr>
              <a:t>https://johnfisher-ai.github.io/ai-control-plane-handbook/handbook/appendix-b.html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6200" y="11430000"/>
            <a:ext cx="2514600" cy="457200"/>
          </a:xfrm>
        </p:spPr>
        <p:txBody>
          <a:bodyPr/>
          <a:lstStyle/>
          <a:p>
            <a:r>
              <a:rPr lang="en-US"/>
              <a:t>25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0284C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MULESOFT AGENT FABRIC  •  COEXISTENCE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Coexisting with the hyperscalers’ agent control planes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216152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47556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Most enterprises will run more than one agent control plane. Decide which is authoritative for what, and where a vendor-neutral plane adds what no single estate can.</a:t>
            </a:r>
            <a:endParaRPr lang="en-US" sz="135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10512"/>
          <a:ext cx="11091672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2971800"/>
                <a:gridCol w="3017520"/>
                <a:gridCol w="331927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Estate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Native agent control plane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Usually authoritative for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MuleSoft Agent Fabric’s role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Microsoft 365 and Azure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Agent 365 and Microsoft Entra Agent ID</a:t>
                      </a:r>
                      <a:pPr indent="0" marL="0">
                        <a:buNone/>
                      </a:pPr>
                      <a:r>
                        <a:rPr lang="en-US" sz="1000" baseline="30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12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Identities and inventory of Microsoft agents, and access to Microsoft 365 data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Registers Copilot Studio and Foundry agents, with common policy on their calls into enterprise systems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AWS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Amazon Bedrock AgentCore</a:t>
                      </a:r>
                      <a:pPr indent="0" marL="0">
                        <a:buNone/>
                      </a:pPr>
                      <a:r>
                        <a:rPr lang="en-US" sz="1000" baseline="30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62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Runtime, memory and identity for agents built on AWS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Registers Bedrock and AgentCore agents and governs their access to enterprise APIs and MCP tools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Google Cloud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Gemini Enterprise Agent Platform: Agent Registry, Agent Gateway, Agent Identity</a:t>
                      </a:r>
                      <a:pPr indent="0" marL="0">
                        <a:buNone/>
                      </a:pPr>
                      <a:r>
                        <a:rPr lang="en-US" sz="1000" baseline="30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47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Agents built on Google Cloud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Registers them under the policy every other estate uses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Salesforce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Agentforce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Agents working in Salesforce data and processes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Registers and governs Agentforce agents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Across estates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No single native plane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Cross-vendor inventory, policy on calls into enterprise capabilities and data, orchestration, cost and audit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The vendor-neutral control plane</a:t>
                      </a:r>
                      <a:pPr indent="0" marL="0">
                        <a:buNone/>
                      </a:pPr>
                      <a:r>
                        <a:rPr lang="en-US" sz="1000" baseline="30000" dirty="0">
                          <a:solidFill>
                            <a:srgbClr val="334155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21</a:t>
                      </a:r>
                      <a:endParaRPr lang="en-US" sz="10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5303520"/>
            <a:ext cx="11091672" cy="877824"/>
          </a:xfrm>
          <a:prstGeom prst="roundRect">
            <a:avLst>
              <a:gd name="adj" fmla="val 8333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5358384"/>
            <a:ext cx="106070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8BDF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workable default:  </a:t>
            </a:r>
            <a:r>
              <a:rPr lang="en-US" sz="11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each native plane stays authoritative for identity and runtime in its own estate. Agent Fabric is authoritative for the cross-estate inventory, policy on every call into enterprise capabilities and data, cross-vendor orchestration, and cost and audit. Federate identities and send all telemetry to one trace.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82512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Sources: endnotes 12, 14, 21, 47, 62.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11183112" y="641908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Coexisting with the hyperscalers’ agent control planes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Control Plane, slide 25: Coexisting with the hyperscalers’ agent control planes</dc:title>
  <dc:subject>One slide from The AI Control Plane: Executive Briefing, by John Fisher (2026), CC BY-NC-ND 4.0</dc:subject>
  <dc:creator>John Fisher</dc:creator>
  <cp:lastModifiedBy>John Fisher</cp:lastModifiedBy>
  <cp:revision>1</cp:revision>
  <dcterms:created xsi:type="dcterms:W3CDTF">2026-10-14T20:43:52Z</dcterms:created>
  <dcterms:modified xsi:type="dcterms:W3CDTF">2026-10-14T20:43:52Z</dcterms:modified>
</cp:coreProperties>
</file>