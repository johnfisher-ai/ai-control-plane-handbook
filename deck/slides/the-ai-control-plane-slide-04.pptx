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9" r:id="rId5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Use this slide to show that the gap is not a vendor talking point. Four large 2026 studies, each with its own definition of adoption: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Deloitte, State of AI in the Enterprise 2026 (3,235 business and IT leaders in 24 countries, surveyed August–September 2025): close to three-quarters of companies plan to deploy agentic AI within two years, but only 21% of them report a mature model for agent governance [7].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KPMG AI Quarterly Pulse, Q3 2026 (314 US leaders at companies with revenue of $1 billion or more): 62% are building, deploying or developing AI agents, and 49% have set boundaries where agents may not make decisions on their own [8].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Microsoft Cyber Pulse (February 2026): by Microsoft's own telemetry, more than 80% of Fortune 500 companies use active agents built with low-code or no-code tools, and a Microsoft-commissioned survey of more than 1,700 data security professionals found that 29% of employees have turned to unsanctioned AI agents [9].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BCG, The Widening AI Value Gap (September 2025): 5% of companies are "future-built" for AI, 60% report hardly any material value, and AI agents' share of AI value is expected to rise from about 17% in 2025 to 29% by 2028 [10].</a:t>
            </a:r>
          </a:p>
          <a:p>
            <a:pPr>
              <a:spcAft>
                <a:spcPts val="600"/>
              </a:spcAft>
            </a:pPr>
            <a:r>
              <a:rPr lang="en-US" dirty="0"/>
              <a:t>Do not chart these as one trend: they measure plans, building and active use, with different samples and dates.</a:t>
            </a:r>
          </a:p>
          <a:p>
            <a:pPr>
              <a:spcAft>
                <a:spcPts val="600"/>
              </a:spcAft>
            </a:pPr>
            <a:r>
              <a:rPr lang="en-US" dirty="0"/>
              <a:t>The prize: Deloitte's 2026 technology predictions put the autonomous-agent market at about US$8.5 billion in 2026 and US$35 billion by 2030, and estimate that better orchestration and risk management could lift the 2030 figure by 15% to 30%, to as much as US$45 billion, and the same research found 80% call their basic automation mature, but only 28% once AI agents are included [4].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STRATEGIC DRIVERS  •  2026 EVIDENCE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Adoption is outrunning governance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Four large studies find agents spreading faster than the controls around them. Each measures something different, so read each on its own terms.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companies planning agentic AI report a mature model for agent governance, and close to three-quarters plan to deploy agents within two years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Deloitte, State of AI in the Enterprise 2026: 3,235 leaders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74136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30168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62%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large US organizations are building, deploying or developing AI agents, and 49% have set boundaries where agents may not decide on their own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KPMG AI Quarterly Pulse, Q3 2026: 314 leaders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99632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55664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80%+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Fortune 500 companies use active agents built with low-code tools, and 29% of employees have turned to unsanctioned agents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Microsoft Cyber Pulse, February 2026: telemetry and a commissioned survey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025128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companies are “future-built” for AI while 60% see hardly any material value. Agents’ share of AI value rises from 17% to 29% by 2028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BCG, The Widening AI Value Gap, September 2025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553712"/>
            <a:ext cx="11091672" cy="1627632"/>
          </a:xfrm>
          <a:prstGeom prst="roundRect">
            <a:avLst>
              <a:gd name="adj" fmla="val 449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709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ORCHESTRATION IS THE PRIZE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983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US$45B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596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autonomous-agent market by 2030 if enterprises orchestrate agents well, 15% to 30% above the US$35B baseline</a:t>
            </a:r>
            <a:pPr indent="0" marL="0">
              <a:buNone/>
            </a:pPr>
            <a:r>
              <a:rPr lang="en-US" sz="1000" baseline="30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47548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maturity gap: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 of organizations call their basic automation mature, but only 28% say so once AI agents are included.</a:t>
            </a:r>
            <a:pPr indent="0" marL="0">
              <a:buNone/>
            </a:pPr>
            <a:r>
              <a:rPr lang="en-US" sz="1250" baseline="30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754880" y="539496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it means:  </a:t>
            </a:r>
            <a:r>
              <a:rPr lang="en-US" sz="11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put inventory, one policy point and autonomy tiers in place before scaling. The surveys define adoption differently, so do not read them as one trend.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4, 7–10. Survey samples, dates and definitions differ.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Adoption is outrunning governance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4: Adoption is outrunning governance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