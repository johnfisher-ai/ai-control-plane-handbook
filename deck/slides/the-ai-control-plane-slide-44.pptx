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9" r:id="rId45"/>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5" Type="http://schemas.openxmlformats.org/officeDocument/2006/relationships/slide" Target="slides/slide4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How MuleSoft Agent Fabric and Informatica realize the settlement design. As in use case 1, MuleSoft governs the agents and the paths they use, Informatica governs the data they act on, and the firm keeps its trading, matching and settlement platforms, its models and its agent frameworks (grey).</a:t>
            </a:r>
          </a:p>
          <a:p>
            <a:pPr marL="228600" indent="-228600">
              <a:spcAft>
                <a:spcPts val="300"/>
              </a:spcAft>
              <a:buFont typeface="Arial"/>
              <a:buChar char="•"/>
            </a:pPr>
            <a:r>
              <a:rPr lang="en-US" dirty="0"/>
              <a:t>Registry and discovery: Agent Registry and Agent Scanners register in-house operations agents and agents embedded in vendor platforms, with owners and limits [21].</a:t>
            </a:r>
          </a:p>
          <a:p>
            <a:pPr marL="228600" indent="-228600">
              <a:spcAft>
                <a:spcPts val="300"/>
              </a:spcAft>
              <a:buFont typeface="Arial"/>
              <a:buChar char="•"/>
            </a:pPr>
            <a:r>
              <a:rPr lang="en-US" dirty="0"/>
              <a:t>Orchestration: Agent Broker with guided determinism provides event-driven routing with maker-checker gates for SSIs, payments and large borrows. A2A support handles delegation [21].</a:t>
            </a:r>
          </a:p>
          <a:p>
            <a:pPr marL="228600" indent="-228600">
              <a:spcAft>
                <a:spcPts val="300"/>
              </a:spcAft>
              <a:buFont typeface="Arial"/>
              <a:buChar char="•"/>
            </a:pPr>
            <a:r>
              <a:rPr lang="en-US" dirty="0"/>
              <a:t>Events and messaging: MuleSoft event-driven APIs and messaging connectivity stream trade, matching and settlement events and connect SWIFT and ISO 20022 flows and custodian feeds. Confirm connector coverage for each venue.</a:t>
            </a:r>
          </a:p>
          <a:p>
            <a:pPr marL="228600" indent="-228600">
              <a:spcAft>
                <a:spcPts val="300"/>
              </a:spcAft>
              <a:buFont typeface="Arial"/>
              <a:buChar char="•"/>
            </a:pPr>
            <a:r>
              <a:rPr lang="en-US" dirty="0"/>
              <a:t>Gateway: AI Gateway handles model routing and failover, data-loss-prevention and masking policies and token limits. Omni Gateway applies mTLS, OAuth 2.0 token validation and rate limits [21][78].</a:t>
            </a:r>
          </a:p>
          <a:p>
            <a:pPr marL="228600" indent="-228600">
              <a:spcAft>
                <a:spcPts val="300"/>
              </a:spcAft>
              <a:buFont typeface="Arial"/>
              <a:buChar char="•"/>
            </a:pPr>
            <a:r>
              <a:rPr lang="en-US" dirty="0"/>
              <a:t>Identity and control: Trusted Agent Identity supports on-behalf-of actions with mobile approval for SSI changes and limit breaches [21]. Custom Omni Gateway policies, built with the Policy Development Kit, bind each approval to the executed call and hold the daily borrow limit across sessions [78]. Agent Kill Switch can stop an agent intraday, Agent Visualizer traces breaks, and token-based rate limits and spend attribution track AI spend by desk [21]. Communications and classifications are tested before release with the firm's evaluation tool.</a:t>
            </a:r>
          </a:p>
          <a:p>
            <a:pPr marL="228600" indent="-228600">
              <a:spcAft>
                <a:spcPts val="300"/>
              </a:spcAft>
              <a:buFont typeface="Arial"/>
              <a:buChar char="•"/>
            </a:pPr>
            <a:r>
              <a:rPr lang="en-US" dirty="0"/>
              <a:t>Tools: MCP Bridge exposes the trading, settlement and finance APIs as governed MCP tools with read and write separation. MuleSoft connectors reach SAP S/4HANA and Snowflake [21].</a:t>
            </a:r>
          </a:p>
          <a:p>
            <a:pPr marL="228600" indent="-228600">
              <a:spcAft>
                <a:spcPts val="300"/>
              </a:spcAft>
              <a:buFont typeface="Arial"/>
              <a:buChar char="•"/>
            </a:pPr>
            <a:r>
              <a:rPr lang="en-US" dirty="0"/>
              <a:t>Deployment: Runtime Fabric runs gateways, MCP servers and agents in the firm's data centers or VPC, close to trading systems, for latency and residency [21].</a:t>
            </a:r>
          </a:p>
          <a:p>
            <a:pPr marL="228600" indent="-228600">
              <a:spcAft>
                <a:spcPts val="300"/>
              </a:spcAft>
              <a:buFont typeface="Arial"/>
              <a:buChar char="•"/>
            </a:pPr>
            <a:r>
              <a:rPr lang="en-US" dirty="0"/>
              <a:t>Data foundation (Informatica): Multidomain MDM holds counterparty and LEI, instrument and SSI golden records that agents reach through governed APIs, while data quality rules validate SSIs and reference data at the point of entry, with exceptions routed to data stewards. Data Governance and Catalog carries a glossary aligned to ISO 20022, FIBO and CDM and lineage evidence for BCBS 239, and agents find data assets through the CDGC Metadata Search MCP server [77].</a:t>
            </a:r>
          </a:p>
          <a:p>
            <a:pPr>
              <a:spcAft>
                <a:spcPts val="600"/>
              </a:spcAft>
            </a:pPr>
            <a:r>
              <a:rPr lang="en-US" dirty="0"/>
              <a:t>Credit: John Fisher, The AI Control Plane: Executive Briefing (2026), slide 44,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44</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2  •  REALIZING THE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Realized with MuleSoft Agent Fabric and Informatica</a:t>
            </a:r>
            <a:endParaRPr lang="en-US" sz="2600" dirty="0"/>
          </a:p>
        </p:txBody>
      </p:sp>
      <p:sp>
        <p:nvSpPr>
          <p:cNvPr id="4" name="Shape 2"/>
          <p:cNvSpPr/>
          <p:nvPr/>
        </p:nvSpPr>
        <p:spPr>
          <a:xfrm>
            <a:off x="6834226" y="420624"/>
            <a:ext cx="155448" cy="155448"/>
          </a:xfrm>
          <a:prstGeom prst="roundRect">
            <a:avLst>
              <a:gd name="adj" fmla="val 17647"/>
            </a:avLst>
          </a:prstGeom>
          <a:solidFill>
            <a:srgbClr val="E0F2FE"/>
          </a:solidFill>
          <a:ln w="9525">
            <a:solidFill>
              <a:srgbClr val="00A0DF"/>
            </a:solidFill>
            <a:prstDash val="solid"/>
          </a:ln>
        </p:spPr>
      </p:sp>
      <p:sp>
        <p:nvSpPr>
          <p:cNvPr id="5" name="Text 3"/>
          <p:cNvSpPr txBox="1"/>
          <p:nvPr/>
        </p:nvSpPr>
        <p:spPr>
          <a:xfrm>
            <a:off x="7044538" y="393192"/>
            <a:ext cx="546811"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a:t>
            </a:r>
            <a:endParaRPr lang="en-US" sz="900" dirty="0"/>
          </a:p>
        </p:txBody>
      </p:sp>
      <p:sp>
        <p:nvSpPr>
          <p:cNvPr id="6" name="Shape 4"/>
          <p:cNvSpPr/>
          <p:nvPr/>
        </p:nvSpPr>
        <p:spPr>
          <a:xfrm>
            <a:off x="7701077" y="420624"/>
            <a:ext cx="155448" cy="155448"/>
          </a:xfrm>
          <a:prstGeom prst="roundRect">
            <a:avLst>
              <a:gd name="adj" fmla="val 17647"/>
            </a:avLst>
          </a:prstGeom>
          <a:solidFill>
            <a:srgbClr val="FFF7ED"/>
          </a:solidFill>
          <a:ln w="9525">
            <a:solidFill>
              <a:srgbClr val="FB923C"/>
            </a:solidFill>
            <a:prstDash val="solid"/>
          </a:ln>
        </p:spPr>
      </p:sp>
      <p:sp>
        <p:nvSpPr>
          <p:cNvPr id="7" name="Text 5"/>
          <p:cNvSpPr txBox="1"/>
          <p:nvPr/>
        </p:nvSpPr>
        <p:spPr>
          <a:xfrm>
            <a:off x="7911389" y="393192"/>
            <a:ext cx="727862"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Informatica</a:t>
            </a:r>
            <a:endParaRPr lang="en-US" sz="900" dirty="0"/>
          </a:p>
        </p:txBody>
      </p:sp>
      <p:sp>
        <p:nvSpPr>
          <p:cNvPr id="8" name="Shape 6"/>
          <p:cNvSpPr/>
          <p:nvPr/>
        </p:nvSpPr>
        <p:spPr>
          <a:xfrm>
            <a:off x="8748979" y="420624"/>
            <a:ext cx="155448" cy="155448"/>
          </a:xfrm>
          <a:prstGeom prst="roundRect">
            <a:avLst>
              <a:gd name="adj" fmla="val 17647"/>
            </a:avLst>
          </a:prstGeom>
          <a:solidFill>
            <a:srgbClr val="F5F3FF"/>
          </a:solidFill>
          <a:ln w="9525">
            <a:solidFill>
              <a:srgbClr val="A78BFA"/>
            </a:solidFill>
            <a:prstDash val="solid"/>
          </a:ln>
        </p:spPr>
      </p:sp>
      <p:sp>
        <p:nvSpPr>
          <p:cNvPr id="9" name="Text 7"/>
          <p:cNvSpPr txBox="1"/>
          <p:nvPr/>
        </p:nvSpPr>
        <p:spPr>
          <a:xfrm>
            <a:off x="8959291" y="393192"/>
            <a:ext cx="1391717"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10" name="Shape 8"/>
          <p:cNvSpPr/>
          <p:nvPr/>
        </p:nvSpPr>
        <p:spPr>
          <a:xfrm>
            <a:off x="10460736" y="420624"/>
            <a:ext cx="155448" cy="155448"/>
          </a:xfrm>
          <a:prstGeom prst="roundRect">
            <a:avLst>
              <a:gd name="adj" fmla="val 17647"/>
            </a:avLst>
          </a:prstGeom>
          <a:solidFill>
            <a:srgbClr val="FFFFFF"/>
          </a:solidFill>
          <a:ln w="9525">
            <a:solidFill>
              <a:srgbClr val="CBD5E1"/>
            </a:solidFill>
            <a:prstDash val="solid"/>
          </a:ln>
        </p:spPr>
      </p:sp>
      <p:sp>
        <p:nvSpPr>
          <p:cNvPr id="11" name="Text 9"/>
          <p:cNvSpPr txBox="1"/>
          <p:nvPr/>
        </p:nvSpPr>
        <p:spPr>
          <a:xfrm>
            <a:off x="10671048" y="393192"/>
            <a:ext cx="969264"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Customer choice</a:t>
            </a:r>
            <a:endParaRPr lang="en-US" sz="900" dirty="0"/>
          </a:p>
        </p:txBody>
      </p:sp>
      <p:sp>
        <p:nvSpPr>
          <p:cNvPr id="12" name="Shape 10"/>
          <p:cNvSpPr/>
          <p:nvPr/>
        </p:nvSpPr>
        <p:spPr>
          <a:xfrm>
            <a:off x="548640" y="1325880"/>
            <a:ext cx="9427464" cy="566928"/>
          </a:xfrm>
          <a:prstGeom prst="roundRect">
            <a:avLst>
              <a:gd name="adj" fmla="val 9677"/>
            </a:avLst>
          </a:prstGeom>
          <a:solidFill>
            <a:srgbClr val="F8FAFC"/>
          </a:solidFill>
          <a:ln w="9525">
            <a:solidFill>
              <a:srgbClr val="E2E8F0"/>
            </a:solidFill>
            <a:prstDash val="solid"/>
          </a:ln>
        </p:spPr>
      </p:sp>
      <p:sp>
        <p:nvSpPr>
          <p:cNvPr id="13" name="Text 11"/>
          <p:cNvSpPr txBox="1"/>
          <p:nvPr/>
        </p:nvSpPr>
        <p:spPr>
          <a:xfrm>
            <a:off x="640080" y="132588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CLIENTS</a:t>
            </a:r>
            <a:endParaRPr lang="en-US" sz="1200" dirty="0"/>
          </a:p>
        </p:txBody>
      </p:sp>
      <p:sp>
        <p:nvSpPr>
          <p:cNvPr id="14" name="Text 12"/>
          <p:cNvSpPr/>
          <p:nvPr/>
        </p:nvSpPr>
        <p:spPr>
          <a:xfrm>
            <a:off x="1691640"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Ops copilot</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Slack, Teams or ops portal</a:t>
            </a:r>
            <a:endParaRPr lang="en-US" sz="1050" dirty="0"/>
          </a:p>
        </p:txBody>
      </p:sp>
      <p:sp>
        <p:nvSpPr>
          <p:cNvPr id="15" name="Text 13"/>
          <p:cNvSpPr/>
          <p:nvPr/>
        </p:nvSpPr>
        <p:spPr>
          <a:xfrm>
            <a:off x="3765042"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Mobile approvals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Trusted Agent Identity</a:t>
            </a:r>
            <a:endParaRPr lang="en-US" sz="1050" dirty="0"/>
          </a:p>
        </p:txBody>
      </p:sp>
      <p:sp>
        <p:nvSpPr>
          <p:cNvPr id="16" name="Text 14"/>
          <p:cNvSpPr/>
          <p:nvPr/>
        </p:nvSpPr>
        <p:spPr>
          <a:xfrm>
            <a:off x="5838444"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Control dashboards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Agent Visualizer + firm BI</a:t>
            </a:r>
            <a:endParaRPr lang="en-US" sz="1050" dirty="0"/>
          </a:p>
        </p:txBody>
      </p:sp>
      <p:sp>
        <p:nvSpPr>
          <p:cNvPr id="17" name="Text 15"/>
          <p:cNvSpPr/>
          <p:nvPr/>
        </p:nvSpPr>
        <p:spPr>
          <a:xfrm>
            <a:off x="7911846"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Counterparty channels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through Omni Gateway</a:t>
            </a:r>
            <a:endParaRPr lang="en-US" sz="1050" dirty="0"/>
          </a:p>
        </p:txBody>
      </p:sp>
      <p:sp>
        <p:nvSpPr>
          <p:cNvPr id="18" name="Shape 16"/>
          <p:cNvSpPr/>
          <p:nvPr/>
        </p:nvSpPr>
        <p:spPr>
          <a:xfrm>
            <a:off x="548640" y="1943100"/>
            <a:ext cx="9427464" cy="566928"/>
          </a:xfrm>
          <a:prstGeom prst="roundRect">
            <a:avLst>
              <a:gd name="adj" fmla="val 9677"/>
            </a:avLst>
          </a:prstGeom>
          <a:solidFill>
            <a:srgbClr val="F8FAFC"/>
          </a:solidFill>
          <a:ln w="9525">
            <a:solidFill>
              <a:srgbClr val="E2E8F0"/>
            </a:solidFill>
            <a:prstDash val="solid"/>
          </a:ln>
        </p:spPr>
      </p:sp>
      <p:sp>
        <p:nvSpPr>
          <p:cNvPr id="19" name="Text 17"/>
          <p:cNvSpPr txBox="1"/>
          <p:nvPr/>
        </p:nvSpPr>
        <p:spPr>
          <a:xfrm>
            <a:off x="640080" y="194310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built anywhere, governed centrally</a:t>
            </a:r>
            <a:endParaRPr lang="en-US" sz="1200" dirty="0"/>
          </a:p>
        </p:txBody>
      </p:sp>
      <p:sp>
        <p:nvSpPr>
          <p:cNvPr id="20" name="Text 18"/>
          <p:cNvSpPr/>
          <p:nvPr/>
        </p:nvSpPr>
        <p:spPr>
          <a:xfrm>
            <a:off x="1691640"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Fail Prediction</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firm ML platform</a:t>
            </a:r>
            <a:endParaRPr lang="en-US" sz="950" dirty="0"/>
          </a:p>
        </p:txBody>
      </p:sp>
      <p:sp>
        <p:nvSpPr>
          <p:cNvPr id="21" name="Text 19"/>
          <p:cNvSpPr/>
          <p:nvPr/>
        </p:nvSpPr>
        <p:spPr>
          <a:xfrm>
            <a:off x="3073908"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Matching &amp; Allocation</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2" name="Text 20"/>
          <p:cNvSpPr/>
          <p:nvPr/>
        </p:nvSpPr>
        <p:spPr>
          <a:xfrm>
            <a:off x="4456176"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SSI &amp; Reference Data</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3" name="Text 21"/>
          <p:cNvSpPr/>
          <p:nvPr/>
        </p:nvSpPr>
        <p:spPr>
          <a:xfrm>
            <a:off x="5838444"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Inventory &amp; Funding</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4" name="Text 22"/>
          <p:cNvSpPr/>
          <p:nvPr/>
        </p:nvSpPr>
        <p:spPr>
          <a:xfrm>
            <a:off x="7220712"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Counterparty Comms</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5" name="Text 23"/>
          <p:cNvSpPr/>
          <p:nvPr/>
        </p:nvSpPr>
        <p:spPr>
          <a:xfrm>
            <a:off x="8602980" y="199796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Penalty &amp; Accounting</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 MCP tools</a:t>
            </a:r>
            <a:endParaRPr lang="en-US" sz="950" dirty="0"/>
          </a:p>
        </p:txBody>
      </p:sp>
      <p:sp>
        <p:nvSpPr>
          <p:cNvPr id="26" name="Shape 24"/>
          <p:cNvSpPr/>
          <p:nvPr/>
        </p:nvSpPr>
        <p:spPr>
          <a:xfrm>
            <a:off x="548640" y="2560320"/>
            <a:ext cx="9427464" cy="566928"/>
          </a:xfrm>
          <a:prstGeom prst="roundRect">
            <a:avLst>
              <a:gd name="adj" fmla="val 9677"/>
            </a:avLst>
          </a:prstGeom>
          <a:solidFill>
            <a:srgbClr val="F8FAFC"/>
          </a:solidFill>
          <a:ln w="9525">
            <a:solidFill>
              <a:srgbClr val="E2E8F0"/>
            </a:solidFill>
            <a:prstDash val="solid"/>
          </a:ln>
        </p:spPr>
      </p:sp>
      <p:sp>
        <p:nvSpPr>
          <p:cNvPr id="27" name="Text 25"/>
          <p:cNvSpPr txBox="1"/>
          <p:nvPr/>
        </p:nvSpPr>
        <p:spPr>
          <a:xfrm>
            <a:off x="640080" y="256032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p:txBody>
      </p:sp>
      <p:sp>
        <p:nvSpPr>
          <p:cNvPr id="28" name="Text 26"/>
          <p:cNvSpPr/>
          <p:nvPr/>
        </p:nvSpPr>
        <p:spPr>
          <a:xfrm>
            <a:off x="1691640"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Settlement orchestration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Agent Broker</a:t>
            </a:r>
            <a:endParaRPr lang="en-US" sz="1050" dirty="0"/>
          </a:p>
        </p:txBody>
      </p:sp>
      <p:sp>
        <p:nvSpPr>
          <p:cNvPr id="29" name="Text 27"/>
          <p:cNvSpPr/>
          <p:nvPr/>
        </p:nvSpPr>
        <p:spPr>
          <a:xfrm>
            <a:off x="3765042"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Maker-checker gates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guided determinism</a:t>
            </a:r>
            <a:endParaRPr lang="en-US" sz="1050" dirty="0"/>
          </a:p>
        </p:txBody>
      </p:sp>
      <p:sp>
        <p:nvSpPr>
          <p:cNvPr id="30" name="Text 28"/>
          <p:cNvSpPr/>
          <p:nvPr/>
        </p:nvSpPr>
        <p:spPr>
          <a:xfrm>
            <a:off x="5838444"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A2A delegation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A2A support</a:t>
            </a:r>
            <a:endParaRPr lang="en-US" sz="1050" dirty="0"/>
          </a:p>
        </p:txBody>
      </p:sp>
      <p:sp>
        <p:nvSpPr>
          <p:cNvPr id="31" name="Text 29"/>
          <p:cNvSpPr/>
          <p:nvPr/>
        </p:nvSpPr>
        <p:spPr>
          <a:xfrm>
            <a:off x="7911846"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Event streams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MuleSoft event APIs</a:t>
            </a:r>
            <a:endParaRPr lang="en-US" sz="1050" dirty="0"/>
          </a:p>
        </p:txBody>
      </p:sp>
      <p:sp>
        <p:nvSpPr>
          <p:cNvPr id="32" name="Shape 30"/>
          <p:cNvSpPr/>
          <p:nvPr/>
        </p:nvSpPr>
        <p:spPr>
          <a:xfrm>
            <a:off x="548640" y="3177540"/>
            <a:ext cx="9427464" cy="566928"/>
          </a:xfrm>
          <a:prstGeom prst="roundRect">
            <a:avLst>
              <a:gd name="adj" fmla="val 9677"/>
            </a:avLst>
          </a:prstGeom>
          <a:solidFill>
            <a:srgbClr val="F8FAFC"/>
          </a:solidFill>
          <a:ln w="9525">
            <a:solidFill>
              <a:srgbClr val="E2E8F0"/>
            </a:solidFill>
            <a:prstDash val="solid"/>
          </a:ln>
        </p:spPr>
      </p:sp>
      <p:sp>
        <p:nvSpPr>
          <p:cNvPr id="33" name="Text 31"/>
          <p:cNvSpPr txBox="1"/>
          <p:nvPr/>
        </p:nvSpPr>
        <p:spPr>
          <a:xfrm>
            <a:off x="640080" y="3177540"/>
            <a:ext cx="1014984" cy="566928"/>
          </a:xfrm>
          <a:prstGeom prst="rect">
            <a:avLst/>
          </a:prstGeom>
          <a:noFill/>
          <a:ln/>
        </p:spPr>
        <p:txBody>
          <a:bodyPr wrap="square" lIns="0" tIns="0" rIns="0" bIns="0" rtlCol="0" anchor="ctr"/>
          <a:lstStyle/>
          <a:p>
            <a:pPr indent="0" marL="0">
              <a:buNone/>
            </a:pPr>
            <a:r>
              <a:rPr lang="en-US" sz="850" b="1" spc="30" kern="0" dirty="0">
                <a:solidFill>
                  <a:srgbClr val="0F172A"/>
                </a:solidFill>
                <a:latin typeface="Plus Jakarta Sans" pitchFamily="34" charset="0"/>
                <a:ea typeface="Plus Jakarta Sans" pitchFamily="34" charset="-122"/>
                <a:cs typeface="Plus Jakarta Sans" pitchFamily="34" charset="-120"/>
              </a:rPr>
              <a:t>CONTROL PLANE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MuleSoft Agent Fabric</a:t>
            </a:r>
            <a:endParaRPr lang="en-US" sz="1200" dirty="0"/>
          </a:p>
        </p:txBody>
      </p:sp>
      <p:sp>
        <p:nvSpPr>
          <p:cNvPr id="34" name="Text 32"/>
          <p:cNvSpPr/>
          <p:nvPr/>
        </p:nvSpPr>
        <p:spPr>
          <a:xfrm>
            <a:off x="169164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Registry &amp; discovery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Registry • Scanners</a:t>
            </a:r>
            <a:endParaRPr lang="en-US" sz="950" dirty="0"/>
          </a:p>
        </p:txBody>
      </p:sp>
      <p:sp>
        <p:nvSpPr>
          <p:cNvPr id="35" name="Text 33"/>
          <p:cNvSpPr/>
          <p:nvPr/>
        </p:nvSpPr>
        <p:spPr>
          <a:xfrm>
            <a:off x="3073908"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LLM &amp; MCP gateway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AI Gateway</a:t>
            </a:r>
            <a:endParaRPr lang="en-US" sz="950" dirty="0"/>
          </a:p>
        </p:txBody>
      </p:sp>
      <p:sp>
        <p:nvSpPr>
          <p:cNvPr id="36" name="Text 34"/>
          <p:cNvSpPr/>
          <p:nvPr/>
        </p:nvSpPr>
        <p:spPr>
          <a:xfrm>
            <a:off x="4456176"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API &amp; A2A policies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Omni Gateway</a:t>
            </a:r>
            <a:endParaRPr lang="en-US" sz="950" dirty="0"/>
          </a:p>
        </p:txBody>
      </p:sp>
      <p:sp>
        <p:nvSpPr>
          <p:cNvPr id="37" name="Text 35"/>
          <p:cNvSpPr/>
          <p:nvPr/>
        </p:nvSpPr>
        <p:spPr>
          <a:xfrm>
            <a:off x="5838444"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Agent identity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Trusted Agent Identity</a:t>
            </a:r>
            <a:endParaRPr lang="en-US" sz="950" dirty="0"/>
          </a:p>
        </p:txBody>
      </p:sp>
      <p:sp>
        <p:nvSpPr>
          <p:cNvPr id="38" name="Text 36"/>
          <p:cNvSpPr/>
          <p:nvPr/>
        </p:nvSpPr>
        <p:spPr>
          <a:xfrm>
            <a:off x="7220712"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Visibility &amp; cost</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Visualizer • LLM Governance</a:t>
            </a:r>
            <a:endParaRPr lang="en-US" sz="950" dirty="0"/>
          </a:p>
        </p:txBody>
      </p:sp>
      <p:sp>
        <p:nvSpPr>
          <p:cNvPr id="39" name="Text 37"/>
          <p:cNvSpPr/>
          <p:nvPr/>
        </p:nvSpPr>
        <p:spPr>
          <a:xfrm>
            <a:off x="860298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Kill switch</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Agent Kill Switch</a:t>
            </a:r>
            <a:endParaRPr lang="en-US" sz="950" dirty="0"/>
          </a:p>
        </p:txBody>
      </p:sp>
      <p:sp>
        <p:nvSpPr>
          <p:cNvPr id="40" name="Shape 38"/>
          <p:cNvSpPr/>
          <p:nvPr/>
        </p:nvSpPr>
        <p:spPr>
          <a:xfrm>
            <a:off x="548640" y="3794760"/>
            <a:ext cx="9427464" cy="566928"/>
          </a:xfrm>
          <a:prstGeom prst="roundRect">
            <a:avLst>
              <a:gd name="adj" fmla="val 9677"/>
            </a:avLst>
          </a:prstGeom>
          <a:solidFill>
            <a:srgbClr val="F8FAFC"/>
          </a:solidFill>
          <a:ln w="9525">
            <a:solidFill>
              <a:srgbClr val="E2E8F0"/>
            </a:solidFill>
            <a:prstDash val="solid"/>
          </a:ln>
        </p:spPr>
      </p:sp>
      <p:sp>
        <p:nvSpPr>
          <p:cNvPr id="41" name="Text 39"/>
          <p:cNvSpPr txBox="1"/>
          <p:nvPr/>
        </p:nvSpPr>
        <p:spPr>
          <a:xfrm>
            <a:off x="640080" y="3794760"/>
            <a:ext cx="1014984" cy="56692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p:txBody>
      </p:sp>
      <p:sp>
        <p:nvSpPr>
          <p:cNvPr id="42" name="Text 40"/>
          <p:cNvSpPr/>
          <p:nvPr/>
        </p:nvSpPr>
        <p:spPr>
          <a:xfrm>
            <a:off x="1691640"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Fine-tuned SLM</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data center</a:t>
            </a:r>
            <a:endParaRPr lang="en-US" sz="1050" dirty="0"/>
          </a:p>
        </p:txBody>
      </p:sp>
      <p:sp>
        <p:nvSpPr>
          <p:cNvPr id="43" name="Text 41"/>
          <p:cNvSpPr/>
          <p:nvPr/>
        </p:nvSpPr>
        <p:spPr>
          <a:xfrm>
            <a:off x="3765042"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Frontier LLMs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any provider • via AI Gateway</a:t>
            </a:r>
            <a:endParaRPr lang="en-US" sz="1050" dirty="0"/>
          </a:p>
        </p:txBody>
      </p:sp>
      <p:sp>
        <p:nvSpPr>
          <p:cNvPr id="44" name="Text 42"/>
          <p:cNvSpPr/>
          <p:nvPr/>
        </p:nvSpPr>
        <p:spPr>
          <a:xfrm>
            <a:off x="5838444"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Fail-prediction ML</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ML platform</a:t>
            </a:r>
            <a:endParaRPr lang="en-US" sz="1050" dirty="0"/>
          </a:p>
        </p:txBody>
      </p:sp>
      <p:sp>
        <p:nvSpPr>
          <p:cNvPr id="45" name="Text 43"/>
          <p:cNvSpPr/>
          <p:nvPr/>
        </p:nvSpPr>
        <p:spPr>
          <a:xfrm>
            <a:off x="7911846"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Rules engine</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choice</a:t>
            </a:r>
            <a:endParaRPr lang="en-US" sz="1050" dirty="0"/>
          </a:p>
        </p:txBody>
      </p:sp>
      <p:sp>
        <p:nvSpPr>
          <p:cNvPr id="46" name="Shape 44"/>
          <p:cNvSpPr/>
          <p:nvPr/>
        </p:nvSpPr>
        <p:spPr>
          <a:xfrm>
            <a:off x="548640" y="4411980"/>
            <a:ext cx="9427464" cy="566928"/>
          </a:xfrm>
          <a:prstGeom prst="roundRect">
            <a:avLst>
              <a:gd name="adj" fmla="val 9677"/>
            </a:avLst>
          </a:prstGeom>
          <a:solidFill>
            <a:srgbClr val="F8FAFC"/>
          </a:solidFill>
          <a:ln w="9525">
            <a:solidFill>
              <a:srgbClr val="E2E8F0"/>
            </a:solidFill>
            <a:prstDash val="solid"/>
          </a:ln>
        </p:spPr>
      </p:sp>
      <p:sp>
        <p:nvSpPr>
          <p:cNvPr id="47" name="Text 45"/>
          <p:cNvSpPr txBox="1"/>
          <p:nvPr/>
        </p:nvSpPr>
        <p:spPr>
          <a:xfrm>
            <a:off x="640080" y="4411980"/>
            <a:ext cx="1014984" cy="56692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8" name="Text 46"/>
          <p:cNvSpPr/>
          <p:nvPr/>
        </p:nvSpPr>
        <p:spPr>
          <a:xfrm>
            <a:off x="1691640"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MCP Bridge</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APIs become MCP tools</a:t>
            </a:r>
            <a:endParaRPr lang="en-US" sz="950" dirty="0"/>
          </a:p>
        </p:txBody>
      </p:sp>
      <p:sp>
        <p:nvSpPr>
          <p:cNvPr id="49" name="Text 47"/>
          <p:cNvSpPr/>
          <p:nvPr/>
        </p:nvSpPr>
        <p:spPr>
          <a:xfrm>
            <a:off x="3073908"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Trading system APIs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trading platforms</a:t>
            </a:r>
            <a:endParaRPr lang="en-US" sz="950" dirty="0"/>
          </a:p>
        </p:txBody>
      </p:sp>
      <p:sp>
        <p:nvSpPr>
          <p:cNvPr id="50" name="Text 48"/>
          <p:cNvSpPr/>
          <p:nvPr/>
        </p:nvSpPr>
        <p:spPr>
          <a:xfrm>
            <a:off x="4456176"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Settlement &amp; SWIFT</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messaging</a:t>
            </a:r>
            <a:endParaRPr lang="en-US" sz="950" dirty="0"/>
          </a:p>
        </p:txBody>
      </p:sp>
      <p:sp>
        <p:nvSpPr>
          <p:cNvPr id="51" name="Text 49"/>
          <p:cNvSpPr/>
          <p:nvPr/>
        </p:nvSpPr>
        <p:spPr>
          <a:xfrm>
            <a:off x="5838444"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2" name="Text 50"/>
          <p:cNvSpPr/>
          <p:nvPr/>
        </p:nvSpPr>
        <p:spPr>
          <a:xfrm>
            <a:off x="7220712"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3" name="Text 51"/>
          <p:cNvSpPr/>
          <p:nvPr/>
        </p:nvSpPr>
        <p:spPr>
          <a:xfrm>
            <a:off x="8602980" y="446684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MCP tools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MCP servers</a:t>
            </a:r>
            <a:endParaRPr lang="en-US" sz="950" dirty="0"/>
          </a:p>
        </p:txBody>
      </p:sp>
      <p:sp>
        <p:nvSpPr>
          <p:cNvPr id="54" name="Shape 52"/>
          <p:cNvSpPr/>
          <p:nvPr/>
        </p:nvSpPr>
        <p:spPr>
          <a:xfrm>
            <a:off x="548640" y="5029200"/>
            <a:ext cx="9427464" cy="566928"/>
          </a:xfrm>
          <a:prstGeom prst="roundRect">
            <a:avLst>
              <a:gd name="adj" fmla="val 9677"/>
            </a:avLst>
          </a:prstGeom>
          <a:solidFill>
            <a:srgbClr val="F8FAFC"/>
          </a:solidFill>
          <a:ln w="9525">
            <a:solidFill>
              <a:srgbClr val="E2E8F0"/>
            </a:solidFill>
            <a:prstDash val="solid"/>
          </a:ln>
        </p:spPr>
      </p:sp>
      <p:sp>
        <p:nvSpPr>
          <p:cNvPr id="55" name="Text 53"/>
          <p:cNvSpPr txBox="1"/>
          <p:nvPr/>
        </p:nvSpPr>
        <p:spPr>
          <a:xfrm>
            <a:off x="640080" y="5029200"/>
            <a:ext cx="1014984" cy="56692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Informatica</a:t>
            </a:r>
            <a:endParaRPr lang="en-US" sz="1200" dirty="0"/>
          </a:p>
        </p:txBody>
      </p:sp>
      <p:sp>
        <p:nvSpPr>
          <p:cNvPr id="56" name="Text 54"/>
          <p:cNvSpPr/>
          <p:nvPr/>
        </p:nvSpPr>
        <p:spPr>
          <a:xfrm>
            <a:off x="1691640"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Counterparty &amp; LEI</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Multidomain MDM</a:t>
            </a:r>
            <a:endParaRPr lang="en-US" sz="950" dirty="0"/>
          </a:p>
        </p:txBody>
      </p:sp>
      <p:sp>
        <p:nvSpPr>
          <p:cNvPr id="57" name="Text 55"/>
          <p:cNvSpPr/>
          <p:nvPr/>
        </p:nvSpPr>
        <p:spPr>
          <a:xfrm>
            <a:off x="3073908"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Security master</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Multidomain MDM</a:t>
            </a:r>
            <a:endParaRPr lang="en-US" sz="950" dirty="0"/>
          </a:p>
        </p:txBody>
      </p:sp>
      <p:sp>
        <p:nvSpPr>
          <p:cNvPr id="58" name="Text 56"/>
          <p:cNvSpPr/>
          <p:nvPr/>
        </p:nvSpPr>
        <p:spPr>
          <a:xfrm>
            <a:off x="4456176"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SSI golden source</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MDM + stewardship</a:t>
            </a:r>
            <a:endParaRPr lang="en-US" sz="950" dirty="0"/>
          </a:p>
        </p:txBody>
      </p:sp>
      <p:sp>
        <p:nvSpPr>
          <p:cNvPr id="59" name="Text 57"/>
          <p:cNvSpPr/>
          <p:nvPr/>
        </p:nvSpPr>
        <p:spPr>
          <a:xfrm>
            <a:off x="5838444"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Glossary &amp; lineage</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Governance &amp; Catalog</a:t>
            </a:r>
            <a:endParaRPr lang="en-US" sz="950" dirty="0"/>
          </a:p>
        </p:txBody>
      </p:sp>
      <p:sp>
        <p:nvSpPr>
          <p:cNvPr id="60" name="Text 58"/>
          <p:cNvSpPr/>
          <p:nvPr/>
        </p:nvSpPr>
        <p:spPr>
          <a:xfrm>
            <a:off x="7220712"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quality</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Data Quality</a:t>
            </a:r>
            <a:endParaRPr lang="en-US" sz="950" dirty="0"/>
          </a:p>
        </p:txBody>
      </p:sp>
      <p:sp>
        <p:nvSpPr>
          <p:cNvPr id="61" name="Text 59"/>
          <p:cNvSpPr/>
          <p:nvPr/>
        </p:nvSpPr>
        <p:spPr>
          <a:xfrm>
            <a:off x="8602980" y="5084064"/>
            <a:ext cx="1318260" cy="457200"/>
          </a:xfrm>
          <a:prstGeom prst="roundRect">
            <a:avLst>
              <a:gd name="adj" fmla="val 10000"/>
            </a:avLst>
          </a:prstGeom>
          <a:solidFill>
            <a:srgbClr val="F5F3FF"/>
          </a:solidFill>
          <a:ln w="9525">
            <a:solidFill>
              <a:srgbClr val="A78BFA"/>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Catalog search</a:t>
            </a:r>
            <a:endParaRPr lang="en-US" sz="950" dirty="0"/>
          </a:p>
          <a:p>
            <a:pPr algn="ctr" indent="0" marL="0">
              <a:buNone/>
            </a:pPr>
            <a:r>
              <a:rPr lang="en-US" sz="800" dirty="0">
                <a:solidFill>
                  <a:srgbClr val="6D28D9"/>
                </a:solidFill>
                <a:latin typeface="Plus Jakarta Sans" pitchFamily="34" charset="0"/>
                <a:ea typeface="Plus Jakarta Sans" pitchFamily="34" charset="-122"/>
                <a:cs typeface="Plus Jakarta Sans" pitchFamily="34" charset="-120"/>
              </a:rPr>
              <a:t>CDGC MCP • AI Gateway</a:t>
            </a:r>
            <a:endParaRPr lang="en-US" sz="950" dirty="0"/>
          </a:p>
        </p:txBody>
      </p:sp>
      <p:sp>
        <p:nvSpPr>
          <p:cNvPr id="62" name="Shape 60"/>
          <p:cNvSpPr/>
          <p:nvPr/>
        </p:nvSpPr>
        <p:spPr>
          <a:xfrm>
            <a:off x="548640" y="5646420"/>
            <a:ext cx="9427464" cy="566928"/>
          </a:xfrm>
          <a:prstGeom prst="roundRect">
            <a:avLst>
              <a:gd name="adj" fmla="val 9677"/>
            </a:avLst>
          </a:prstGeom>
          <a:solidFill>
            <a:srgbClr val="F8FAFC"/>
          </a:solidFill>
          <a:ln w="9525">
            <a:solidFill>
              <a:srgbClr val="E2E8F0"/>
            </a:solidFill>
            <a:prstDash val="solid"/>
          </a:ln>
        </p:spPr>
      </p:sp>
      <p:sp>
        <p:nvSpPr>
          <p:cNvPr id="63" name="Text 61"/>
          <p:cNvSpPr txBox="1"/>
          <p:nvPr/>
        </p:nvSpPr>
        <p:spPr>
          <a:xfrm>
            <a:off x="640080" y="564642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64" name="Text 62"/>
          <p:cNvSpPr/>
          <p:nvPr/>
        </p:nvSpPr>
        <p:spPr>
          <a:xfrm>
            <a:off x="169164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OMS &amp; booking</a:t>
            </a:r>
            <a:endParaRPr lang="en-US" sz="950" dirty="0"/>
          </a:p>
        </p:txBody>
      </p:sp>
      <p:sp>
        <p:nvSpPr>
          <p:cNvPr id="65" name="Text 63"/>
          <p:cNvSpPr/>
          <p:nvPr/>
        </p:nvSpPr>
        <p:spPr>
          <a:xfrm>
            <a:off x="3073908"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Matching platform</a:t>
            </a:r>
            <a:endParaRPr lang="en-US" sz="950" dirty="0"/>
          </a:p>
        </p:txBody>
      </p:sp>
      <p:sp>
        <p:nvSpPr>
          <p:cNvPr id="66" name="Text 64"/>
          <p:cNvSpPr/>
          <p:nvPr/>
        </p:nvSpPr>
        <p:spPr>
          <a:xfrm>
            <a:off x="4456176"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Settlement engine</a:t>
            </a:r>
            <a:endParaRPr lang="en-US" sz="950" dirty="0"/>
          </a:p>
        </p:txBody>
      </p:sp>
      <p:sp>
        <p:nvSpPr>
          <p:cNvPr id="67" name="Text 65"/>
          <p:cNvSpPr/>
          <p:nvPr/>
        </p:nvSpPr>
        <p:spPr>
          <a:xfrm>
            <a:off x="5838444"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Custodians &amp; CSDs</a:t>
            </a:r>
            <a:endParaRPr lang="en-US" sz="950" dirty="0"/>
          </a:p>
        </p:txBody>
      </p:sp>
      <p:sp>
        <p:nvSpPr>
          <p:cNvPr id="68" name="Text 66"/>
          <p:cNvSpPr/>
          <p:nvPr/>
        </p:nvSpPr>
        <p:spPr>
          <a:xfrm>
            <a:off x="7220712"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a:t>
            </a:r>
            <a:endParaRPr lang="en-US" sz="950" dirty="0"/>
          </a:p>
        </p:txBody>
      </p:sp>
      <p:sp>
        <p:nvSpPr>
          <p:cNvPr id="69" name="Text 67"/>
          <p:cNvSpPr/>
          <p:nvPr/>
        </p:nvSpPr>
        <p:spPr>
          <a:xfrm>
            <a:off x="860298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a:t>
            </a:r>
            <a:endParaRPr lang="en-US" sz="950" dirty="0"/>
          </a:p>
        </p:txBody>
      </p:sp>
      <p:sp>
        <p:nvSpPr>
          <p:cNvPr id="70" name="Shape 68"/>
          <p:cNvSpPr/>
          <p:nvPr/>
        </p:nvSpPr>
        <p:spPr>
          <a:xfrm>
            <a:off x="10058400" y="1325880"/>
            <a:ext cx="1581912" cy="2309199"/>
          </a:xfrm>
          <a:prstGeom prst="roundRect">
            <a:avLst>
              <a:gd name="adj" fmla="val 3468"/>
            </a:avLst>
          </a:prstGeom>
          <a:solidFill>
            <a:srgbClr val="FEF2F2"/>
          </a:solidFill>
          <a:ln w="9525">
            <a:solidFill>
              <a:srgbClr val="FECACA"/>
            </a:solidFill>
            <a:prstDash val="solid"/>
          </a:ln>
        </p:spPr>
      </p:sp>
      <p:sp>
        <p:nvSpPr>
          <p:cNvPr id="71" name="Text 69"/>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DEPLOY &amp; SECURE</a:t>
            </a:r>
            <a:endParaRPr lang="en-US" sz="850" dirty="0"/>
          </a:p>
        </p:txBody>
      </p:sp>
      <p:sp>
        <p:nvSpPr>
          <p:cNvPr id="72" name="Text 70"/>
          <p:cNvSpPr txBox="1"/>
          <p:nvPr/>
        </p:nvSpPr>
        <p:spPr>
          <a:xfrm>
            <a:off x="10113264" y="1746504"/>
            <a:ext cx="1490472" cy="183371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Runtime Fabric in firm data centers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Omni Gateway: mTLS, OAuth, rate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AI Gateway: DLP, masking, failover</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Trusted Agent Identity: OBO + mobile</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Keys in the firm HSM</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Informatica: classification &amp; lineage</a:t>
            </a:r>
            <a:endParaRPr lang="en-US" sz="850" dirty="0"/>
          </a:p>
        </p:txBody>
      </p:sp>
      <p:sp>
        <p:nvSpPr>
          <p:cNvPr id="73" name="Shape 71"/>
          <p:cNvSpPr/>
          <p:nvPr/>
        </p:nvSpPr>
        <p:spPr>
          <a:xfrm>
            <a:off x="10058400" y="3726519"/>
            <a:ext cx="1581912" cy="2486829"/>
          </a:xfrm>
          <a:prstGeom prst="roundRect">
            <a:avLst>
              <a:gd name="adj" fmla="val 3468"/>
            </a:avLst>
          </a:prstGeom>
          <a:solidFill>
            <a:srgbClr val="FFFBEB"/>
          </a:solidFill>
          <a:ln w="9525">
            <a:solidFill>
              <a:srgbClr val="FDE68A"/>
            </a:solidFill>
            <a:prstDash val="solid"/>
          </a:ln>
        </p:spPr>
      </p:sp>
      <p:sp>
        <p:nvSpPr>
          <p:cNvPr id="74" name="Text 72"/>
          <p:cNvSpPr txBox="1"/>
          <p:nvPr/>
        </p:nvSpPr>
        <p:spPr>
          <a:xfrm>
            <a:off x="10149840" y="3817959"/>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OPERATE &amp; GOVERN</a:t>
            </a:r>
            <a:endParaRPr lang="en-US" sz="850" dirty="0"/>
          </a:p>
        </p:txBody>
      </p:sp>
      <p:sp>
        <p:nvSpPr>
          <p:cNvPr id="75" name="Text 73"/>
          <p:cNvSpPr txBox="1"/>
          <p:nvPr/>
        </p:nvSpPr>
        <p:spPr>
          <a:xfrm>
            <a:off x="10113264" y="4147143"/>
            <a:ext cx="1490472" cy="201134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Visualizer: breaks &amp; risk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Evaluation for comms &amp; parsing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Token rate limits and spend per desk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Kill Switch intraday</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Registry: owners &amp;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Telemetry to SIEM &amp; DORA logs</a:t>
            </a:r>
            <a:endParaRPr lang="en-US" sz="850" dirty="0"/>
          </a:p>
        </p:txBody>
      </p:sp>
      <p:sp>
        <p:nvSpPr>
          <p:cNvPr id="76" name="Text 74"/>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 78. Confirm connector coverage for each trading and settlement venue.</a:t>
            </a:r>
            <a:endParaRPr lang="en-US" sz="850" dirty="0"/>
          </a:p>
        </p:txBody>
      </p:sp>
      <p:sp>
        <p:nvSpPr>
          <p:cNvPr id="77" name="Text 75"/>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44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Realized with MuleSoft Agent Fabric and Informatica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44: Realized with MuleSoft Agent Fabric and Informatica</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