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306" r:id="rId52"/>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52" Type="http://schemas.openxmlformats.org/officeDocument/2006/relationships/slide" Target="slides/slide51.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Tell Elena's day as a story.</a:t>
            </a:r>
          </a:p>
          <a:p>
            <a:pPr>
              <a:spcAft>
                <a:spcPts val="600"/>
              </a:spcAft>
            </a:pPr>
            <a:r>
              <a:rPr lang="en-US" dirty="0"/>
              <a:t>At 05:40 the condition-monitoring agent flags Unit 2 at Station 14: vibration and bearing temperature have been rising for three days. By 06:00 the diagnostics agent has matched the pattern to two earlier thrust-bearing failures on the same model of unit and recommends an inspection within 24 hours at reduced load. At 06:10 the flow advisor proposes cutting Unit 2 to 70% and picking up the flow at Stations 13 and 15. The hydraulic model shows deliveries and pressures stay within limits. Elena approves at her console, next to the SCADA displays, and the change executes within its ten-minute window.</a:t>
            </a:r>
          </a:p>
          <a:p>
            <a:pPr>
              <a:spcAft>
                <a:spcPts val="600"/>
              </a:spcAft>
            </a:pPr>
            <a:r>
              <a:rPr lang="en-US" dirty="0"/>
              <a:t>At 07:30 the planning agent has drafted the work order in SAP S/4HANA with the bearing kit reserved, and the planner releases it at 08:15. At 10:20 a second adjustment waits too long in the queue while Elena takes a shipper's call. Its approval has expired by the time it reaches the gateway, so it is refused and the advisor asks again with fresh values. When Station 15's data feed falls more than a minute behind at 11:05, the advisor drops to advice-only and voids a pending request until the feed recovers nine minutes later. At 13:20 a gas detector trips Station 9's emergency shutdown. The safety system acts on its own, and the agents pause requests for that segment and offer a re-balancing plan as advice. Qualified technicians start the repair at 14:00 under a permit their supervisor approved on mobile, and at 18:30 Elena approves the return to full load.</a:t>
            </a:r>
          </a:p>
          <a:p>
            <a:pPr>
              <a:spcAft>
                <a:spcPts val="600"/>
              </a:spcAft>
            </a:pPr>
            <a:r>
              <a:rPr lang="en-US" dirty="0"/>
              <a:t>Leave the audience with this: people stayed in charge of every change to equipment, the safety systems never depended on the agents, and the repair happened in a planned window instead of after a trip.</a:t>
            </a:r>
          </a:p>
          <a:p>
            <a:pPr>
              <a:spcAft>
                <a:spcPts val="600"/>
              </a:spcAft>
            </a:pPr>
            <a:r>
              <a:rPr lang="en-US" dirty="0"/>
              <a:t>Credit: John Fisher, The AI Control Plane: Executive Briefing (2026), slide 51,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p:txBody>
      </p:sp>
      <p:sp>
        <p:nvSpPr>
          <p:cNvPr id="4" name="Slide Number Placeholder 3"/>
          <p:cNvSpPr>
            <a:spLocks noGrp="1"/>
          </p:cNvSpPr>
          <p:nvPr>
            <p:ph type="sldNum" sz="quarter" idx="10"/>
          </p:nvPr>
        </p:nvSpPr>
        <p:spPr/>
        <p:txBody>
          <a:bodyPr/>
          <a:lstStyle/>
          <a:p>
            <a:r>
              <a:rPr lang="en-US"/>
              <a:t>51</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3  •  A DAY IN THE LIFE</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Elena handles a failing bearing before it trips the unit</a:t>
            </a:r>
            <a:endParaRPr lang="en-US" sz="2600" dirty="0"/>
          </a:p>
        </p:txBody>
      </p:sp>
      <p:sp>
        <p:nvSpPr>
          <p:cNvPr id="4" name="Shape 2"/>
          <p:cNvSpPr/>
          <p:nvPr/>
        </p:nvSpPr>
        <p:spPr>
          <a:xfrm>
            <a:off x="548640" y="3794760"/>
            <a:ext cx="11091672" cy="0"/>
          </a:xfrm>
          <a:prstGeom prst="line">
            <a:avLst/>
          </a:prstGeom>
          <a:noFill/>
          <a:ln w="31750">
            <a:solidFill>
              <a:srgbClr val="CBD5E1"/>
            </a:solidFill>
            <a:prstDash val="solid"/>
          </a:ln>
        </p:spPr>
      </p:sp>
      <p:sp>
        <p:nvSpPr>
          <p:cNvPr id="5" name="Shape 3"/>
          <p:cNvSpPr/>
          <p:nvPr/>
        </p:nvSpPr>
        <p:spPr>
          <a:xfrm>
            <a:off x="1691640" y="3337560"/>
            <a:ext cx="0" cy="301752"/>
          </a:xfrm>
          <a:prstGeom prst="line">
            <a:avLst/>
          </a:prstGeom>
          <a:noFill/>
          <a:ln w="12700">
            <a:solidFill>
              <a:srgbClr val="CBD5E1"/>
            </a:solidFill>
            <a:prstDash val="solid"/>
          </a:ln>
        </p:spPr>
      </p:sp>
      <p:sp>
        <p:nvSpPr>
          <p:cNvPr id="6" name="Shape 4"/>
          <p:cNvSpPr/>
          <p:nvPr/>
        </p:nvSpPr>
        <p:spPr>
          <a:xfrm>
            <a:off x="571500"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7" name="Text 5"/>
          <p:cNvSpPr/>
          <p:nvPr/>
        </p:nvSpPr>
        <p:spPr>
          <a:xfrm>
            <a:off x="1536192"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1</a:t>
            </a:r>
            <a:endParaRPr lang="en-US" sz="1100" dirty="0"/>
          </a:p>
        </p:txBody>
      </p:sp>
      <p:sp>
        <p:nvSpPr>
          <p:cNvPr id="8" name="Text 6"/>
          <p:cNvSpPr txBox="1"/>
          <p:nvPr/>
        </p:nvSpPr>
        <p:spPr>
          <a:xfrm>
            <a:off x="717804"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05:40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Anomaly flagged</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Unit 2 at Station 14: vibration and bearing temperature have risen for three days.</a:t>
            </a:r>
            <a:endParaRPr lang="en-US" sz="1200" dirty="0"/>
          </a:p>
        </p:txBody>
      </p:sp>
      <p:sp>
        <p:nvSpPr>
          <p:cNvPr id="9" name="Shape 7"/>
          <p:cNvSpPr/>
          <p:nvPr/>
        </p:nvSpPr>
        <p:spPr>
          <a:xfrm>
            <a:off x="2952206" y="3950208"/>
            <a:ext cx="0" cy="301752"/>
          </a:xfrm>
          <a:prstGeom prst="line">
            <a:avLst/>
          </a:prstGeom>
          <a:noFill/>
          <a:ln w="12700">
            <a:solidFill>
              <a:srgbClr val="CBD5E1"/>
            </a:solidFill>
            <a:prstDash val="solid"/>
          </a:ln>
        </p:spPr>
      </p:sp>
      <p:sp>
        <p:nvSpPr>
          <p:cNvPr id="10" name="Shape 8"/>
          <p:cNvSpPr/>
          <p:nvPr/>
        </p:nvSpPr>
        <p:spPr>
          <a:xfrm>
            <a:off x="1832066"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1" name="Text 9"/>
          <p:cNvSpPr/>
          <p:nvPr/>
        </p:nvSpPr>
        <p:spPr>
          <a:xfrm>
            <a:off x="2796758"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2</a:t>
            </a:r>
            <a:endParaRPr lang="en-US" sz="1100" dirty="0"/>
          </a:p>
        </p:txBody>
      </p:sp>
      <p:sp>
        <p:nvSpPr>
          <p:cNvPr id="12" name="Text 10"/>
          <p:cNvSpPr txBox="1"/>
          <p:nvPr/>
        </p:nvSpPr>
        <p:spPr>
          <a:xfrm>
            <a:off x="1978370"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06:10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Load shift approved</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Likely thrust-bearing wear. Elena approves cutting Unit 2 to 70%, bound to that change.</a:t>
            </a:r>
            <a:endParaRPr lang="en-US" sz="1200" dirty="0"/>
          </a:p>
        </p:txBody>
      </p:sp>
      <p:sp>
        <p:nvSpPr>
          <p:cNvPr id="13" name="Shape 11"/>
          <p:cNvSpPr/>
          <p:nvPr/>
        </p:nvSpPr>
        <p:spPr>
          <a:xfrm>
            <a:off x="4212771" y="3337560"/>
            <a:ext cx="0" cy="301752"/>
          </a:xfrm>
          <a:prstGeom prst="line">
            <a:avLst/>
          </a:prstGeom>
          <a:noFill/>
          <a:ln w="12700">
            <a:solidFill>
              <a:srgbClr val="CBD5E1"/>
            </a:solidFill>
            <a:prstDash val="solid"/>
          </a:ln>
        </p:spPr>
      </p:sp>
      <p:sp>
        <p:nvSpPr>
          <p:cNvPr id="14" name="Shape 12"/>
          <p:cNvSpPr/>
          <p:nvPr/>
        </p:nvSpPr>
        <p:spPr>
          <a:xfrm>
            <a:off x="3092631"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5" name="Text 13"/>
          <p:cNvSpPr/>
          <p:nvPr/>
        </p:nvSpPr>
        <p:spPr>
          <a:xfrm>
            <a:off x="4057323"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3</a:t>
            </a:r>
            <a:endParaRPr lang="en-US" sz="1100" dirty="0"/>
          </a:p>
        </p:txBody>
      </p:sp>
      <p:sp>
        <p:nvSpPr>
          <p:cNvPr id="16" name="Text 14"/>
          <p:cNvSpPr txBox="1"/>
          <p:nvPr/>
        </p:nvSpPr>
        <p:spPr>
          <a:xfrm>
            <a:off x="3238935"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07:30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Work order ready</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Notification and work order drafted in SAP S/4HANA, bearing kit reserved.</a:t>
            </a:r>
            <a:endParaRPr lang="en-US" sz="1200" dirty="0"/>
          </a:p>
        </p:txBody>
      </p:sp>
      <p:sp>
        <p:nvSpPr>
          <p:cNvPr id="17" name="Shape 15"/>
          <p:cNvSpPr/>
          <p:nvPr/>
        </p:nvSpPr>
        <p:spPr>
          <a:xfrm>
            <a:off x="5473337" y="3950208"/>
            <a:ext cx="0" cy="301752"/>
          </a:xfrm>
          <a:prstGeom prst="line">
            <a:avLst/>
          </a:prstGeom>
          <a:noFill/>
          <a:ln w="12700">
            <a:solidFill>
              <a:srgbClr val="CBD5E1"/>
            </a:solidFill>
            <a:prstDash val="solid"/>
          </a:ln>
        </p:spPr>
      </p:sp>
      <p:sp>
        <p:nvSpPr>
          <p:cNvPr id="18" name="Shape 16"/>
          <p:cNvSpPr/>
          <p:nvPr/>
        </p:nvSpPr>
        <p:spPr>
          <a:xfrm>
            <a:off x="4353197"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9" name="Text 17"/>
          <p:cNvSpPr/>
          <p:nvPr/>
        </p:nvSpPr>
        <p:spPr>
          <a:xfrm>
            <a:off x="5317889"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4</a:t>
            </a:r>
            <a:endParaRPr lang="en-US" sz="1100" dirty="0"/>
          </a:p>
        </p:txBody>
      </p:sp>
      <p:sp>
        <p:nvSpPr>
          <p:cNvPr id="20" name="Text 18"/>
          <p:cNvSpPr txBox="1"/>
          <p:nvPr/>
        </p:nvSpPr>
        <p:spPr>
          <a:xfrm>
            <a:off x="4499501"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10:20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Approval expires</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A delayed adjustment reaches the gateway too late, so it is refused and asked again.</a:t>
            </a:r>
            <a:endParaRPr lang="en-US" sz="1200" dirty="0"/>
          </a:p>
        </p:txBody>
      </p:sp>
      <p:sp>
        <p:nvSpPr>
          <p:cNvPr id="21" name="Shape 19"/>
          <p:cNvSpPr/>
          <p:nvPr/>
        </p:nvSpPr>
        <p:spPr>
          <a:xfrm>
            <a:off x="6733903" y="3337560"/>
            <a:ext cx="0" cy="301752"/>
          </a:xfrm>
          <a:prstGeom prst="line">
            <a:avLst/>
          </a:prstGeom>
          <a:noFill/>
          <a:ln w="12700">
            <a:solidFill>
              <a:srgbClr val="CBD5E1"/>
            </a:solidFill>
            <a:prstDash val="solid"/>
          </a:ln>
        </p:spPr>
      </p:sp>
      <p:sp>
        <p:nvSpPr>
          <p:cNvPr id="22" name="Shape 20"/>
          <p:cNvSpPr/>
          <p:nvPr/>
        </p:nvSpPr>
        <p:spPr>
          <a:xfrm>
            <a:off x="5613763"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3" name="Text 21"/>
          <p:cNvSpPr/>
          <p:nvPr/>
        </p:nvSpPr>
        <p:spPr>
          <a:xfrm>
            <a:off x="6578455"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5</a:t>
            </a:r>
            <a:endParaRPr lang="en-US" sz="1100" dirty="0"/>
          </a:p>
        </p:txBody>
      </p:sp>
      <p:sp>
        <p:nvSpPr>
          <p:cNvPr id="24" name="Text 22"/>
          <p:cNvSpPr txBox="1"/>
          <p:nvPr/>
        </p:nvSpPr>
        <p:spPr>
          <a:xfrm>
            <a:off x="5760067"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11:05</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Data goes stale</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Station 15’s feed lags, so the advisor drops to advice-only until it recovers.</a:t>
            </a:r>
            <a:endParaRPr lang="en-US" sz="1200" dirty="0"/>
          </a:p>
        </p:txBody>
      </p:sp>
      <p:sp>
        <p:nvSpPr>
          <p:cNvPr id="25" name="Shape 23"/>
          <p:cNvSpPr/>
          <p:nvPr/>
        </p:nvSpPr>
        <p:spPr>
          <a:xfrm>
            <a:off x="7994469" y="3950208"/>
            <a:ext cx="0" cy="301752"/>
          </a:xfrm>
          <a:prstGeom prst="line">
            <a:avLst/>
          </a:prstGeom>
          <a:noFill/>
          <a:ln w="12700">
            <a:solidFill>
              <a:srgbClr val="CBD5E1"/>
            </a:solidFill>
            <a:prstDash val="solid"/>
          </a:ln>
        </p:spPr>
      </p:sp>
      <p:sp>
        <p:nvSpPr>
          <p:cNvPr id="26" name="Shape 24"/>
          <p:cNvSpPr/>
          <p:nvPr/>
        </p:nvSpPr>
        <p:spPr>
          <a:xfrm>
            <a:off x="6874329"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7" name="Text 25"/>
          <p:cNvSpPr/>
          <p:nvPr/>
        </p:nvSpPr>
        <p:spPr>
          <a:xfrm>
            <a:off x="7839021"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6</a:t>
            </a:r>
            <a:endParaRPr lang="en-US" sz="1100" dirty="0"/>
          </a:p>
        </p:txBody>
      </p:sp>
      <p:sp>
        <p:nvSpPr>
          <p:cNvPr id="28" name="Text 26"/>
          <p:cNvSpPr txBox="1"/>
          <p:nvPr/>
        </p:nvSpPr>
        <p:spPr>
          <a:xfrm>
            <a:off x="7020633"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13:20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Safety system acts</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A gas detector trips Station 9’s shutdown on its own. Agents pause and advise.</a:t>
            </a:r>
            <a:endParaRPr lang="en-US" sz="1200" dirty="0"/>
          </a:p>
        </p:txBody>
      </p:sp>
      <p:sp>
        <p:nvSpPr>
          <p:cNvPr id="29" name="Shape 27"/>
          <p:cNvSpPr/>
          <p:nvPr/>
        </p:nvSpPr>
        <p:spPr>
          <a:xfrm>
            <a:off x="9255034" y="3337560"/>
            <a:ext cx="0" cy="301752"/>
          </a:xfrm>
          <a:prstGeom prst="line">
            <a:avLst/>
          </a:prstGeom>
          <a:noFill/>
          <a:ln w="12700">
            <a:solidFill>
              <a:srgbClr val="CBD5E1"/>
            </a:solidFill>
            <a:prstDash val="solid"/>
          </a:ln>
        </p:spPr>
      </p:sp>
      <p:sp>
        <p:nvSpPr>
          <p:cNvPr id="30" name="Shape 28"/>
          <p:cNvSpPr/>
          <p:nvPr/>
        </p:nvSpPr>
        <p:spPr>
          <a:xfrm>
            <a:off x="8134894"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1" name="Text 29"/>
          <p:cNvSpPr/>
          <p:nvPr/>
        </p:nvSpPr>
        <p:spPr>
          <a:xfrm>
            <a:off x="9099586"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7</a:t>
            </a:r>
            <a:endParaRPr lang="en-US" sz="1100" dirty="0"/>
          </a:p>
        </p:txBody>
      </p:sp>
      <p:sp>
        <p:nvSpPr>
          <p:cNvPr id="32" name="Text 30"/>
          <p:cNvSpPr txBox="1"/>
          <p:nvPr/>
        </p:nvSpPr>
        <p:spPr>
          <a:xfrm>
            <a:off x="8281198"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14:00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Repair under permit</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Qualified technicians start work under a permit approved on mobile.</a:t>
            </a:r>
            <a:endParaRPr lang="en-US" sz="1200" dirty="0"/>
          </a:p>
        </p:txBody>
      </p:sp>
      <p:sp>
        <p:nvSpPr>
          <p:cNvPr id="33" name="Shape 31"/>
          <p:cNvSpPr/>
          <p:nvPr/>
        </p:nvSpPr>
        <p:spPr>
          <a:xfrm>
            <a:off x="10515600" y="3950208"/>
            <a:ext cx="0" cy="301752"/>
          </a:xfrm>
          <a:prstGeom prst="line">
            <a:avLst/>
          </a:prstGeom>
          <a:noFill/>
          <a:ln w="12700">
            <a:solidFill>
              <a:srgbClr val="CBD5E1"/>
            </a:solidFill>
            <a:prstDash val="solid"/>
          </a:ln>
        </p:spPr>
      </p:sp>
      <p:sp>
        <p:nvSpPr>
          <p:cNvPr id="34" name="Shape 32"/>
          <p:cNvSpPr/>
          <p:nvPr/>
        </p:nvSpPr>
        <p:spPr>
          <a:xfrm>
            <a:off x="9395460"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5" name="Text 33"/>
          <p:cNvSpPr/>
          <p:nvPr/>
        </p:nvSpPr>
        <p:spPr>
          <a:xfrm>
            <a:off x="10360152"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8</a:t>
            </a:r>
            <a:endParaRPr lang="en-US" sz="1100" dirty="0"/>
          </a:p>
        </p:txBody>
      </p:sp>
      <p:sp>
        <p:nvSpPr>
          <p:cNvPr id="36" name="Text 34"/>
          <p:cNvSpPr txBox="1"/>
          <p:nvPr/>
        </p:nvSpPr>
        <p:spPr>
          <a:xfrm>
            <a:off x="9541764"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18:30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Back in service</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Elena approves the return to full load, and the event record is compiled.</a:t>
            </a:r>
            <a:endParaRPr lang="en-US" sz="1200" dirty="0"/>
          </a:p>
        </p:txBody>
      </p:sp>
      <p:sp>
        <p:nvSpPr>
          <p:cNvPr id="37" name="Text 35"/>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Illustrative scenario. Elena Morales is a senior gas controller.</a:t>
            </a:r>
            <a:endParaRPr lang="en-US" sz="850" dirty="0"/>
          </a:p>
        </p:txBody>
      </p:sp>
      <p:sp>
        <p:nvSpPr>
          <p:cNvPr id="38" name="Text 36"/>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51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Elena handles a failing bearing before it trips the unit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51: Elena handles a failing bearing before it trips the unit</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