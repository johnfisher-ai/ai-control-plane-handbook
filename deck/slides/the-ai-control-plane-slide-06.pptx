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1" r:id="rId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Highlight the contrast depicted here [1]. On the left is the default path: every team purchases separate subscriptions, writes bespoke API wrappers, and stores API keys in plaintext environment variables. On the right, the control plane normalizes ingestion, decouples models from applications, and enforces uniform compliance.</a:t>
            </a:r>
          </a:p>
          <a:p>
            <a:pPr>
              <a:spcAft>
                <a:spcPts val="600"/>
              </a:spcAft>
            </a:pPr>
            <a:r>
              <a:rPr lang="en-US" dirty="0"/>
              <a:t>Additional talking points:</a:t>
            </a:r>
          </a:p>
          <a:p>
            <a:pPr marL="228600" indent="-228600">
              <a:spcAft>
                <a:spcPts val="300"/>
              </a:spcAft>
              <a:buFont typeface="Arial"/>
              <a:buChar char="•"/>
            </a:pPr>
            <a:r>
              <a:rPr lang="en-US" dirty="0"/>
              <a:t>The right-hand panel lists the target outcomes (the author's synthesis): one API, dynamic routing, failover visibility, automatic fallback, credential guarding, common policy, no vendor lock-in and enterprise governance. The principles behind them come from [1]: dynamic routing, common policy, governed model choice per task within cost, latency and regulatory limits, and avoiding lock-in. The gateway features map to MuleSoft Agent Fabric [21].</a:t>
            </a:r>
          </a:p>
          <a:p>
            <a:pPr marL="228600" indent="-228600">
              <a:spcAft>
                <a:spcPts val="300"/>
              </a:spcAft>
              <a:buFont typeface="Arial"/>
              <a:buChar char="•"/>
            </a:pPr>
            <a:r>
              <a:rPr lang="en-US" dirty="0"/>
              <a:t>The Forbes article [3] (a Nutanix-sponsored BrandVoice piece, July 2026) explains why the left side breaks at scale: agents generate thousands of small, context-heavy calls across models and tools, so token costs become unpredictable and governance has to be designed in rather than patched later.</a:t>
            </a:r>
          </a:p>
          <a:p>
            <a:pPr marL="228600" indent="-228600">
              <a:spcAft>
                <a:spcPts val="300"/>
              </a:spcAft>
              <a:buFont typeface="Arial"/>
              <a:buChar char="•"/>
            </a:pPr>
            <a:r>
              <a:rPr lang="en-US" dirty="0"/>
              <a:t>MuleSoft mapping: AI Gateway is the "one API" on the right, Agent Registry and Scanners fix "no governance", Trusted Agent Identity addresses credential guarding, and cost controls and model routing address cost blindness [21].</a:t>
            </a:r>
          </a:p>
          <a:p>
            <a:pPr>
              <a:spcAft>
                <a:spcPts val="600"/>
              </a:spcAft>
            </a:pPr>
            <a:r>
              <a:rPr lang="en-US" dirty="0"/>
              <a:t>Credit: John Fisher, The AI Control Plane: Executive Briefing (2026), slide 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1  •  THE CONTROL-PLANE SHIFT</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From fragmented AI plumbing to a governed control plane</a:t>
            </a:r>
            <a:endParaRPr lang="en-US" sz="2600" dirty="0"/>
          </a:p>
        </p:txBody>
      </p:sp>
      <p:sp>
        <p:nvSpPr>
          <p:cNvPr id="4" name="Shape 2"/>
          <p:cNvSpPr/>
          <p:nvPr/>
        </p:nvSpPr>
        <p:spPr>
          <a:xfrm>
            <a:off x="548640" y="1371600"/>
            <a:ext cx="5440680" cy="4800600"/>
          </a:xfrm>
          <a:prstGeom prst="roundRect">
            <a:avLst>
              <a:gd name="adj" fmla="val 1524"/>
            </a:avLst>
          </a:prstGeom>
          <a:solidFill>
            <a:srgbClr val="FEF2F2"/>
          </a:solidFill>
          <a:ln w="9525">
            <a:solidFill>
              <a:srgbClr val="FECACA"/>
            </a:solidFill>
            <a:prstDash val="solid"/>
          </a:ln>
        </p:spPr>
      </p:sp>
      <p:sp>
        <p:nvSpPr>
          <p:cNvPr id="5" name="Shape 3"/>
          <p:cNvSpPr/>
          <p:nvPr/>
        </p:nvSpPr>
        <p:spPr>
          <a:xfrm>
            <a:off x="6199632" y="1371600"/>
            <a:ext cx="5440680" cy="4800600"/>
          </a:xfrm>
          <a:prstGeom prst="roundRect">
            <a:avLst>
              <a:gd name="adj" fmla="val 1524"/>
            </a:avLst>
          </a:prstGeom>
          <a:solidFill>
            <a:srgbClr val="F0FDF4"/>
          </a:solidFill>
          <a:ln w="9525">
            <a:solidFill>
              <a:srgbClr val="BBF7D0"/>
            </a:solidFill>
            <a:prstDash val="solid"/>
          </a:ln>
        </p:spPr>
      </p:sp>
      <p:sp>
        <p:nvSpPr>
          <p:cNvPr id="6" name="Shape 4"/>
          <p:cNvSpPr/>
          <p:nvPr/>
        </p:nvSpPr>
        <p:spPr>
          <a:xfrm>
            <a:off x="777240" y="1554480"/>
            <a:ext cx="402336" cy="402336"/>
          </a:xfrm>
          <a:prstGeom prst="ellipse">
            <a:avLst/>
          </a:prstGeom>
          <a:solidFill>
            <a:srgbClr val="B91C1C"/>
          </a:solidFill>
          <a:ln w="6350">
            <a:solidFill>
              <a:srgbClr val="B91C1C"/>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7824" y="1655064"/>
            <a:ext cx="201168" cy="201168"/>
          </a:xfrm>
          <a:prstGeom prst="rect">
            <a:avLst/>
          </a:prstGeom>
        </p:spPr>
      </p:pic>
      <p:sp>
        <p:nvSpPr>
          <p:cNvPr id="8" name="Text 5"/>
          <p:cNvSpPr txBox="1"/>
          <p:nvPr/>
        </p:nvSpPr>
        <p:spPr>
          <a:xfrm>
            <a:off x="1298448" y="1609344"/>
            <a:ext cx="4480560" cy="365760"/>
          </a:xfrm>
          <a:prstGeom prst="rect">
            <a:avLst/>
          </a:prstGeom>
          <a:noFill/>
          <a:ln/>
        </p:spPr>
        <p:txBody>
          <a:bodyPr wrap="square" lIns="0" tIns="0" rIns="0" bIns="0" rtlCol="0" anchor="t"/>
          <a:lstStyle/>
          <a:p>
            <a:pPr indent="0" marL="0">
              <a:buNone/>
            </a:pPr>
            <a:r>
              <a:rPr lang="en-US" sz="1600" b="1" dirty="0">
                <a:solidFill>
                  <a:srgbClr val="B91C1C"/>
                </a:solidFill>
                <a:latin typeface="Plus Jakarta Sans" pitchFamily="34" charset="0"/>
                <a:ea typeface="Plus Jakarta Sans" pitchFamily="34" charset="-122"/>
                <a:cs typeface="Plus Jakarta Sans" pitchFamily="34" charset="-120"/>
              </a:rPr>
              <a:t>Without a control plane</a:t>
            </a:r>
            <a:endParaRPr lang="en-US" sz="1600" dirty="0"/>
          </a:p>
        </p:txBody>
      </p:sp>
      <p:sp>
        <p:nvSpPr>
          <p:cNvPr id="9" name="Shape 6"/>
          <p:cNvSpPr/>
          <p:nvPr/>
        </p:nvSpPr>
        <p:spPr>
          <a:xfrm>
            <a:off x="6428232" y="1554480"/>
            <a:ext cx="402336" cy="402336"/>
          </a:xfrm>
          <a:prstGeom prst="ellipse">
            <a:avLst/>
          </a:prstGeom>
          <a:solidFill>
            <a:srgbClr val="15803D"/>
          </a:solidFill>
          <a:ln w="6350">
            <a:solidFill>
              <a:srgbClr val="15803D"/>
            </a:solidFill>
            <a:prstDash val="solid"/>
          </a:ln>
        </p:spPr>
      </p:sp>
      <p:pic>
        <p:nvPicPr>
          <p:cNvPr id="10"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28816" y="1655064"/>
            <a:ext cx="201168" cy="201168"/>
          </a:xfrm>
          <a:prstGeom prst="rect">
            <a:avLst/>
          </a:prstGeom>
        </p:spPr>
      </p:pic>
      <p:sp>
        <p:nvSpPr>
          <p:cNvPr id="11" name="Text 7"/>
          <p:cNvSpPr txBox="1"/>
          <p:nvPr/>
        </p:nvSpPr>
        <p:spPr>
          <a:xfrm>
            <a:off x="6949440" y="1609344"/>
            <a:ext cx="4480560" cy="365760"/>
          </a:xfrm>
          <a:prstGeom prst="rect">
            <a:avLst/>
          </a:prstGeom>
          <a:noFill/>
          <a:ln/>
        </p:spPr>
        <p:txBody>
          <a:bodyPr wrap="square" lIns="0" tIns="0" rIns="0" bIns="0" rtlCol="0" anchor="t"/>
          <a:lstStyle/>
          <a:p>
            <a:pPr indent="0" marL="0">
              <a:buNone/>
            </a:pPr>
            <a:r>
              <a:rPr lang="en-US" sz="1600" b="1" dirty="0">
                <a:solidFill>
                  <a:srgbClr val="15803D"/>
                </a:solidFill>
                <a:latin typeface="Plus Jakarta Sans" pitchFamily="34" charset="0"/>
                <a:ea typeface="Plus Jakarta Sans" pitchFamily="34" charset="-122"/>
                <a:cs typeface="Plus Jakarta Sans" pitchFamily="34" charset="-120"/>
              </a:rPr>
              <a:t>With an enterprise control plane</a:t>
            </a:r>
            <a:endParaRPr lang="en-US" sz="1600" dirty="0"/>
          </a:p>
        </p:txBody>
      </p:sp>
      <p:sp>
        <p:nvSpPr>
          <p:cNvPr id="12" name="Shape 8"/>
          <p:cNvSpPr/>
          <p:nvPr/>
        </p:nvSpPr>
        <p:spPr>
          <a:xfrm>
            <a:off x="2423160" y="2395728"/>
            <a:ext cx="1645920" cy="0"/>
          </a:xfrm>
          <a:prstGeom prst="line">
            <a:avLst/>
          </a:prstGeom>
          <a:noFill/>
          <a:ln w="9525">
            <a:solidFill>
              <a:srgbClr val="FCA5A5"/>
            </a:solidFill>
            <a:prstDash val="solid"/>
          </a:ln>
        </p:spPr>
      </p:sp>
      <p:sp>
        <p:nvSpPr>
          <p:cNvPr id="13" name="Shape 9"/>
          <p:cNvSpPr/>
          <p:nvPr/>
        </p:nvSpPr>
        <p:spPr>
          <a:xfrm>
            <a:off x="2423160" y="2395728"/>
            <a:ext cx="1645920" cy="411480"/>
          </a:xfrm>
          <a:prstGeom prst="line">
            <a:avLst/>
          </a:prstGeom>
          <a:noFill/>
          <a:ln w="9525">
            <a:solidFill>
              <a:srgbClr val="FCA5A5"/>
            </a:solidFill>
            <a:prstDash val="solid"/>
          </a:ln>
        </p:spPr>
      </p:sp>
      <p:sp>
        <p:nvSpPr>
          <p:cNvPr id="14" name="Shape 10"/>
          <p:cNvSpPr/>
          <p:nvPr/>
        </p:nvSpPr>
        <p:spPr>
          <a:xfrm>
            <a:off x="2423160" y="2395728"/>
            <a:ext cx="1645920" cy="822960"/>
          </a:xfrm>
          <a:prstGeom prst="line">
            <a:avLst/>
          </a:prstGeom>
          <a:noFill/>
          <a:ln w="9525">
            <a:solidFill>
              <a:srgbClr val="FCA5A5"/>
            </a:solidFill>
            <a:prstDash val="solid"/>
          </a:ln>
        </p:spPr>
      </p:sp>
      <p:sp>
        <p:nvSpPr>
          <p:cNvPr id="15" name="Shape 11"/>
          <p:cNvSpPr/>
          <p:nvPr/>
        </p:nvSpPr>
        <p:spPr>
          <a:xfrm>
            <a:off x="2423160" y="2395728"/>
            <a:ext cx="1645920" cy="1234440"/>
          </a:xfrm>
          <a:prstGeom prst="line">
            <a:avLst/>
          </a:prstGeom>
          <a:noFill/>
          <a:ln w="9525">
            <a:solidFill>
              <a:srgbClr val="FCA5A5"/>
            </a:solidFill>
            <a:prstDash val="solid"/>
          </a:ln>
        </p:spPr>
      </p:sp>
      <p:sp>
        <p:nvSpPr>
          <p:cNvPr id="16" name="Shape 12"/>
          <p:cNvSpPr/>
          <p:nvPr/>
        </p:nvSpPr>
        <p:spPr>
          <a:xfrm flipV="1">
            <a:off x="2423160" y="2395728"/>
            <a:ext cx="1645920" cy="411480"/>
          </a:xfrm>
          <a:prstGeom prst="line">
            <a:avLst/>
          </a:prstGeom>
          <a:noFill/>
          <a:ln w="9525">
            <a:solidFill>
              <a:srgbClr val="FCA5A5"/>
            </a:solidFill>
            <a:prstDash val="solid"/>
          </a:ln>
        </p:spPr>
      </p:sp>
      <p:sp>
        <p:nvSpPr>
          <p:cNvPr id="17" name="Shape 13"/>
          <p:cNvSpPr/>
          <p:nvPr/>
        </p:nvSpPr>
        <p:spPr>
          <a:xfrm>
            <a:off x="2423160" y="2807208"/>
            <a:ext cx="1645920" cy="0"/>
          </a:xfrm>
          <a:prstGeom prst="line">
            <a:avLst/>
          </a:prstGeom>
          <a:noFill/>
          <a:ln w="9525">
            <a:solidFill>
              <a:srgbClr val="FCA5A5"/>
            </a:solidFill>
            <a:prstDash val="solid"/>
          </a:ln>
        </p:spPr>
      </p:sp>
      <p:sp>
        <p:nvSpPr>
          <p:cNvPr id="18" name="Shape 14"/>
          <p:cNvSpPr/>
          <p:nvPr/>
        </p:nvSpPr>
        <p:spPr>
          <a:xfrm>
            <a:off x="2423160" y="2807208"/>
            <a:ext cx="1645920" cy="411480"/>
          </a:xfrm>
          <a:prstGeom prst="line">
            <a:avLst/>
          </a:prstGeom>
          <a:noFill/>
          <a:ln w="9525">
            <a:solidFill>
              <a:srgbClr val="FCA5A5"/>
            </a:solidFill>
            <a:prstDash val="solid"/>
          </a:ln>
        </p:spPr>
      </p:sp>
      <p:sp>
        <p:nvSpPr>
          <p:cNvPr id="19" name="Shape 15"/>
          <p:cNvSpPr/>
          <p:nvPr/>
        </p:nvSpPr>
        <p:spPr>
          <a:xfrm>
            <a:off x="2423160" y="2807208"/>
            <a:ext cx="1645920" cy="822960"/>
          </a:xfrm>
          <a:prstGeom prst="line">
            <a:avLst/>
          </a:prstGeom>
          <a:noFill/>
          <a:ln w="9525">
            <a:solidFill>
              <a:srgbClr val="FCA5A5"/>
            </a:solidFill>
            <a:prstDash val="solid"/>
          </a:ln>
        </p:spPr>
      </p:sp>
      <p:sp>
        <p:nvSpPr>
          <p:cNvPr id="20" name="Shape 16"/>
          <p:cNvSpPr/>
          <p:nvPr/>
        </p:nvSpPr>
        <p:spPr>
          <a:xfrm flipV="1">
            <a:off x="2423160" y="2395728"/>
            <a:ext cx="1645920" cy="822960"/>
          </a:xfrm>
          <a:prstGeom prst="line">
            <a:avLst/>
          </a:prstGeom>
          <a:noFill/>
          <a:ln w="9525">
            <a:solidFill>
              <a:srgbClr val="FCA5A5"/>
            </a:solidFill>
            <a:prstDash val="solid"/>
          </a:ln>
        </p:spPr>
      </p:sp>
      <p:sp>
        <p:nvSpPr>
          <p:cNvPr id="21" name="Shape 17"/>
          <p:cNvSpPr/>
          <p:nvPr/>
        </p:nvSpPr>
        <p:spPr>
          <a:xfrm flipV="1">
            <a:off x="2423160" y="2807208"/>
            <a:ext cx="1645920" cy="411480"/>
          </a:xfrm>
          <a:prstGeom prst="line">
            <a:avLst/>
          </a:prstGeom>
          <a:noFill/>
          <a:ln w="9525">
            <a:solidFill>
              <a:srgbClr val="FCA5A5"/>
            </a:solidFill>
            <a:prstDash val="solid"/>
          </a:ln>
        </p:spPr>
      </p:sp>
      <p:sp>
        <p:nvSpPr>
          <p:cNvPr id="22" name="Shape 18"/>
          <p:cNvSpPr/>
          <p:nvPr/>
        </p:nvSpPr>
        <p:spPr>
          <a:xfrm>
            <a:off x="2423160" y="3218688"/>
            <a:ext cx="1645920" cy="0"/>
          </a:xfrm>
          <a:prstGeom prst="line">
            <a:avLst/>
          </a:prstGeom>
          <a:noFill/>
          <a:ln w="9525">
            <a:solidFill>
              <a:srgbClr val="FCA5A5"/>
            </a:solidFill>
            <a:prstDash val="solid"/>
          </a:ln>
        </p:spPr>
      </p:sp>
      <p:sp>
        <p:nvSpPr>
          <p:cNvPr id="23" name="Shape 19"/>
          <p:cNvSpPr/>
          <p:nvPr/>
        </p:nvSpPr>
        <p:spPr>
          <a:xfrm>
            <a:off x="2423160" y="3218688"/>
            <a:ext cx="1645920" cy="411480"/>
          </a:xfrm>
          <a:prstGeom prst="line">
            <a:avLst/>
          </a:prstGeom>
          <a:noFill/>
          <a:ln w="9525">
            <a:solidFill>
              <a:srgbClr val="FCA5A5"/>
            </a:solidFill>
            <a:prstDash val="solid"/>
          </a:ln>
        </p:spPr>
      </p:sp>
      <p:sp>
        <p:nvSpPr>
          <p:cNvPr id="24" name="Shape 20"/>
          <p:cNvSpPr/>
          <p:nvPr/>
        </p:nvSpPr>
        <p:spPr>
          <a:xfrm flipV="1">
            <a:off x="2423160" y="2395728"/>
            <a:ext cx="1645920" cy="1234440"/>
          </a:xfrm>
          <a:prstGeom prst="line">
            <a:avLst/>
          </a:prstGeom>
          <a:noFill/>
          <a:ln w="9525">
            <a:solidFill>
              <a:srgbClr val="FCA5A5"/>
            </a:solidFill>
            <a:prstDash val="solid"/>
          </a:ln>
        </p:spPr>
      </p:sp>
      <p:sp>
        <p:nvSpPr>
          <p:cNvPr id="25" name="Shape 21"/>
          <p:cNvSpPr/>
          <p:nvPr/>
        </p:nvSpPr>
        <p:spPr>
          <a:xfrm flipV="1">
            <a:off x="2423160" y="2807208"/>
            <a:ext cx="1645920" cy="822960"/>
          </a:xfrm>
          <a:prstGeom prst="line">
            <a:avLst/>
          </a:prstGeom>
          <a:noFill/>
          <a:ln w="9525">
            <a:solidFill>
              <a:srgbClr val="FCA5A5"/>
            </a:solidFill>
            <a:prstDash val="solid"/>
          </a:ln>
        </p:spPr>
      </p:sp>
      <p:sp>
        <p:nvSpPr>
          <p:cNvPr id="26" name="Shape 22"/>
          <p:cNvSpPr/>
          <p:nvPr/>
        </p:nvSpPr>
        <p:spPr>
          <a:xfrm flipV="1">
            <a:off x="2423160" y="3218688"/>
            <a:ext cx="1645920" cy="411480"/>
          </a:xfrm>
          <a:prstGeom prst="line">
            <a:avLst/>
          </a:prstGeom>
          <a:noFill/>
          <a:ln w="9525">
            <a:solidFill>
              <a:srgbClr val="FCA5A5"/>
            </a:solidFill>
            <a:prstDash val="solid"/>
          </a:ln>
        </p:spPr>
      </p:sp>
      <p:sp>
        <p:nvSpPr>
          <p:cNvPr id="27" name="Shape 23"/>
          <p:cNvSpPr/>
          <p:nvPr/>
        </p:nvSpPr>
        <p:spPr>
          <a:xfrm>
            <a:off x="2423160" y="3630168"/>
            <a:ext cx="1645920" cy="0"/>
          </a:xfrm>
          <a:prstGeom prst="line">
            <a:avLst/>
          </a:prstGeom>
          <a:noFill/>
          <a:ln w="9525">
            <a:solidFill>
              <a:srgbClr val="FCA5A5"/>
            </a:solidFill>
            <a:prstDash val="solid"/>
          </a:ln>
        </p:spPr>
      </p:sp>
      <p:sp>
        <p:nvSpPr>
          <p:cNvPr id="28" name="Text 24"/>
          <p:cNvSpPr/>
          <p:nvPr/>
        </p:nvSpPr>
        <p:spPr>
          <a:xfrm>
            <a:off x="822960" y="224028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Agents &amp; apps</a:t>
            </a:r>
            <a:endParaRPr lang="en-US" sz="950" dirty="0"/>
          </a:p>
        </p:txBody>
      </p:sp>
      <p:sp>
        <p:nvSpPr>
          <p:cNvPr id="29" name="Text 25"/>
          <p:cNvSpPr/>
          <p:nvPr/>
        </p:nvSpPr>
        <p:spPr>
          <a:xfrm>
            <a:off x="4069080" y="224028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Frontier</a:t>
            </a:r>
            <a:endParaRPr lang="en-US" sz="950" dirty="0"/>
          </a:p>
        </p:txBody>
      </p:sp>
      <p:sp>
        <p:nvSpPr>
          <p:cNvPr id="30" name="Text 26"/>
          <p:cNvSpPr/>
          <p:nvPr/>
        </p:nvSpPr>
        <p:spPr>
          <a:xfrm>
            <a:off x="822960" y="265176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RAG layer</a:t>
            </a:r>
            <a:endParaRPr lang="en-US" sz="950" dirty="0"/>
          </a:p>
        </p:txBody>
      </p:sp>
      <p:sp>
        <p:nvSpPr>
          <p:cNvPr id="31" name="Text 27"/>
          <p:cNvSpPr/>
          <p:nvPr/>
        </p:nvSpPr>
        <p:spPr>
          <a:xfrm>
            <a:off x="4069080" y="265176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Open-source</a:t>
            </a:r>
            <a:endParaRPr lang="en-US" sz="950" dirty="0"/>
          </a:p>
        </p:txBody>
      </p:sp>
      <p:sp>
        <p:nvSpPr>
          <p:cNvPr id="32" name="Text 28"/>
          <p:cNvSpPr/>
          <p:nvPr/>
        </p:nvSpPr>
        <p:spPr>
          <a:xfrm>
            <a:off x="822960" y="306324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Gateways</a:t>
            </a:r>
            <a:endParaRPr lang="en-US" sz="950" dirty="0"/>
          </a:p>
        </p:txBody>
      </p:sp>
      <p:sp>
        <p:nvSpPr>
          <p:cNvPr id="33" name="Text 29"/>
          <p:cNvSpPr/>
          <p:nvPr/>
        </p:nvSpPr>
        <p:spPr>
          <a:xfrm>
            <a:off x="4069080" y="306324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Specialized</a:t>
            </a:r>
            <a:endParaRPr lang="en-US" sz="950" dirty="0"/>
          </a:p>
        </p:txBody>
      </p:sp>
      <p:sp>
        <p:nvSpPr>
          <p:cNvPr id="34" name="Text 30"/>
          <p:cNvSpPr/>
          <p:nvPr/>
        </p:nvSpPr>
        <p:spPr>
          <a:xfrm>
            <a:off x="822960" y="3474720"/>
            <a:ext cx="160020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MLOps &amp; data</a:t>
            </a:r>
            <a:endParaRPr lang="en-US" sz="950" dirty="0"/>
          </a:p>
        </p:txBody>
      </p:sp>
      <p:sp>
        <p:nvSpPr>
          <p:cNvPr id="35" name="Text 31"/>
          <p:cNvSpPr/>
          <p:nvPr/>
        </p:nvSpPr>
        <p:spPr>
          <a:xfrm>
            <a:off x="4069080" y="3474720"/>
            <a:ext cx="1645920" cy="310896"/>
          </a:xfrm>
          <a:prstGeom prst="roundRect">
            <a:avLst>
              <a:gd name="adj" fmla="val 17647"/>
            </a:avLst>
          </a:prstGeom>
          <a:solidFill>
            <a:srgbClr val="FFFFFF"/>
          </a:solidFill>
          <a:ln w="9525">
            <a:solidFill>
              <a:srgbClr val="FECACA"/>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Self-hosted &amp; SaaS</a:t>
            </a:r>
            <a:endParaRPr lang="en-US" sz="950" dirty="0"/>
          </a:p>
        </p:txBody>
      </p:sp>
      <p:sp>
        <p:nvSpPr>
          <p:cNvPr id="36" name="Shape 32"/>
          <p:cNvSpPr/>
          <p:nvPr/>
        </p:nvSpPr>
        <p:spPr>
          <a:xfrm>
            <a:off x="7863840" y="2395728"/>
            <a:ext cx="457200" cy="621792"/>
          </a:xfrm>
          <a:prstGeom prst="line">
            <a:avLst/>
          </a:prstGeom>
          <a:noFill/>
          <a:ln w="12700">
            <a:solidFill>
              <a:srgbClr val="86EFAC"/>
            </a:solidFill>
            <a:prstDash val="solid"/>
          </a:ln>
        </p:spPr>
      </p:sp>
      <p:sp>
        <p:nvSpPr>
          <p:cNvPr id="37" name="Shape 33"/>
          <p:cNvSpPr/>
          <p:nvPr/>
        </p:nvSpPr>
        <p:spPr>
          <a:xfrm flipV="1">
            <a:off x="9555480" y="2395728"/>
            <a:ext cx="365760" cy="621792"/>
          </a:xfrm>
          <a:prstGeom prst="line">
            <a:avLst/>
          </a:prstGeom>
          <a:noFill/>
          <a:ln w="12700">
            <a:solidFill>
              <a:srgbClr val="86EFAC"/>
            </a:solidFill>
            <a:prstDash val="solid"/>
          </a:ln>
        </p:spPr>
      </p:sp>
      <p:sp>
        <p:nvSpPr>
          <p:cNvPr id="38" name="Shape 34"/>
          <p:cNvSpPr/>
          <p:nvPr/>
        </p:nvSpPr>
        <p:spPr>
          <a:xfrm>
            <a:off x="7863840" y="2807208"/>
            <a:ext cx="457200" cy="210312"/>
          </a:xfrm>
          <a:prstGeom prst="line">
            <a:avLst/>
          </a:prstGeom>
          <a:noFill/>
          <a:ln w="12700">
            <a:solidFill>
              <a:srgbClr val="86EFAC"/>
            </a:solidFill>
            <a:prstDash val="solid"/>
          </a:ln>
        </p:spPr>
      </p:sp>
      <p:sp>
        <p:nvSpPr>
          <p:cNvPr id="39" name="Shape 35"/>
          <p:cNvSpPr/>
          <p:nvPr/>
        </p:nvSpPr>
        <p:spPr>
          <a:xfrm flipV="1">
            <a:off x="9555480" y="2807208"/>
            <a:ext cx="365760" cy="210312"/>
          </a:xfrm>
          <a:prstGeom prst="line">
            <a:avLst/>
          </a:prstGeom>
          <a:noFill/>
          <a:ln w="12700">
            <a:solidFill>
              <a:srgbClr val="86EFAC"/>
            </a:solidFill>
            <a:prstDash val="solid"/>
          </a:ln>
        </p:spPr>
      </p:sp>
      <p:sp>
        <p:nvSpPr>
          <p:cNvPr id="40" name="Shape 36"/>
          <p:cNvSpPr/>
          <p:nvPr/>
        </p:nvSpPr>
        <p:spPr>
          <a:xfrm flipV="1">
            <a:off x="7863840" y="3017520"/>
            <a:ext cx="457200" cy="201168"/>
          </a:xfrm>
          <a:prstGeom prst="line">
            <a:avLst/>
          </a:prstGeom>
          <a:noFill/>
          <a:ln w="12700">
            <a:solidFill>
              <a:srgbClr val="86EFAC"/>
            </a:solidFill>
            <a:prstDash val="solid"/>
          </a:ln>
        </p:spPr>
      </p:sp>
      <p:sp>
        <p:nvSpPr>
          <p:cNvPr id="41" name="Shape 37"/>
          <p:cNvSpPr/>
          <p:nvPr/>
        </p:nvSpPr>
        <p:spPr>
          <a:xfrm>
            <a:off x="9555480" y="3017520"/>
            <a:ext cx="365760" cy="201168"/>
          </a:xfrm>
          <a:prstGeom prst="line">
            <a:avLst/>
          </a:prstGeom>
          <a:noFill/>
          <a:ln w="12700">
            <a:solidFill>
              <a:srgbClr val="86EFAC"/>
            </a:solidFill>
            <a:prstDash val="solid"/>
          </a:ln>
        </p:spPr>
      </p:sp>
      <p:sp>
        <p:nvSpPr>
          <p:cNvPr id="42" name="Shape 38"/>
          <p:cNvSpPr/>
          <p:nvPr/>
        </p:nvSpPr>
        <p:spPr>
          <a:xfrm flipV="1">
            <a:off x="7863840" y="3017520"/>
            <a:ext cx="457200" cy="612648"/>
          </a:xfrm>
          <a:prstGeom prst="line">
            <a:avLst/>
          </a:prstGeom>
          <a:noFill/>
          <a:ln w="12700">
            <a:solidFill>
              <a:srgbClr val="86EFAC"/>
            </a:solidFill>
            <a:prstDash val="solid"/>
          </a:ln>
        </p:spPr>
      </p:sp>
      <p:sp>
        <p:nvSpPr>
          <p:cNvPr id="43" name="Shape 39"/>
          <p:cNvSpPr/>
          <p:nvPr/>
        </p:nvSpPr>
        <p:spPr>
          <a:xfrm>
            <a:off x="9555480" y="3017520"/>
            <a:ext cx="365760" cy="612648"/>
          </a:xfrm>
          <a:prstGeom prst="line">
            <a:avLst/>
          </a:prstGeom>
          <a:noFill/>
          <a:ln w="12700">
            <a:solidFill>
              <a:srgbClr val="86EFAC"/>
            </a:solidFill>
            <a:prstDash val="solid"/>
          </a:ln>
        </p:spPr>
      </p:sp>
      <p:sp>
        <p:nvSpPr>
          <p:cNvPr id="44" name="Text 40"/>
          <p:cNvSpPr/>
          <p:nvPr/>
        </p:nvSpPr>
        <p:spPr>
          <a:xfrm>
            <a:off x="6446520" y="224028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Agents &amp; apps</a:t>
            </a:r>
            <a:endParaRPr lang="en-US" sz="950" dirty="0"/>
          </a:p>
        </p:txBody>
      </p:sp>
      <p:sp>
        <p:nvSpPr>
          <p:cNvPr id="45" name="Text 41"/>
          <p:cNvSpPr/>
          <p:nvPr/>
        </p:nvSpPr>
        <p:spPr>
          <a:xfrm>
            <a:off x="9921240" y="224028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Frontier</a:t>
            </a:r>
            <a:endParaRPr lang="en-US" sz="950" dirty="0"/>
          </a:p>
        </p:txBody>
      </p:sp>
      <p:sp>
        <p:nvSpPr>
          <p:cNvPr id="46" name="Text 42"/>
          <p:cNvSpPr/>
          <p:nvPr/>
        </p:nvSpPr>
        <p:spPr>
          <a:xfrm>
            <a:off x="6446520" y="265176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RAG layer</a:t>
            </a:r>
            <a:endParaRPr lang="en-US" sz="950" dirty="0"/>
          </a:p>
        </p:txBody>
      </p:sp>
      <p:sp>
        <p:nvSpPr>
          <p:cNvPr id="47" name="Text 43"/>
          <p:cNvSpPr/>
          <p:nvPr/>
        </p:nvSpPr>
        <p:spPr>
          <a:xfrm>
            <a:off x="9921240" y="265176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Open-source</a:t>
            </a:r>
            <a:endParaRPr lang="en-US" sz="950" dirty="0"/>
          </a:p>
        </p:txBody>
      </p:sp>
      <p:sp>
        <p:nvSpPr>
          <p:cNvPr id="48" name="Text 44"/>
          <p:cNvSpPr/>
          <p:nvPr/>
        </p:nvSpPr>
        <p:spPr>
          <a:xfrm>
            <a:off x="6446520" y="306324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Gateways</a:t>
            </a:r>
            <a:endParaRPr lang="en-US" sz="950" dirty="0"/>
          </a:p>
        </p:txBody>
      </p:sp>
      <p:sp>
        <p:nvSpPr>
          <p:cNvPr id="49" name="Text 45"/>
          <p:cNvSpPr/>
          <p:nvPr/>
        </p:nvSpPr>
        <p:spPr>
          <a:xfrm>
            <a:off x="9921240" y="306324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Specialized</a:t>
            </a:r>
            <a:endParaRPr lang="en-US" sz="950" dirty="0"/>
          </a:p>
        </p:txBody>
      </p:sp>
      <p:sp>
        <p:nvSpPr>
          <p:cNvPr id="50" name="Text 46"/>
          <p:cNvSpPr/>
          <p:nvPr/>
        </p:nvSpPr>
        <p:spPr>
          <a:xfrm>
            <a:off x="6446520" y="3474720"/>
            <a:ext cx="141732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MLOps &amp; data</a:t>
            </a:r>
            <a:endParaRPr lang="en-US" sz="950" dirty="0"/>
          </a:p>
        </p:txBody>
      </p:sp>
      <p:sp>
        <p:nvSpPr>
          <p:cNvPr id="51" name="Text 47"/>
          <p:cNvSpPr/>
          <p:nvPr/>
        </p:nvSpPr>
        <p:spPr>
          <a:xfrm>
            <a:off x="9921240" y="3474720"/>
            <a:ext cx="1463040" cy="310896"/>
          </a:xfrm>
          <a:prstGeom prst="roundRect">
            <a:avLst>
              <a:gd name="adj" fmla="val 17647"/>
            </a:avLst>
          </a:prstGeom>
          <a:solidFill>
            <a:srgbClr val="FFFFFF"/>
          </a:solidFill>
          <a:ln w="9525">
            <a:solidFill>
              <a:srgbClr val="BBF7D0"/>
            </a:solidFill>
          </a:ln>
        </p:spPr>
        <p:txBody>
          <a:bodyPr wrap="square" lIns="38100" tIns="38100" rIns="38100" bIns="38100" rtlCol="0" anchor="ctr"/>
          <a:lstStyle/>
          <a:p>
            <a:pPr algn="ctr" indent="0" marL="0">
              <a:buNone/>
            </a:pPr>
            <a:r>
              <a:rPr lang="en-US" sz="950" dirty="0">
                <a:solidFill>
                  <a:srgbClr val="334155"/>
                </a:solidFill>
                <a:latin typeface="Plus Jakarta Sans" pitchFamily="34" charset="0"/>
                <a:ea typeface="Plus Jakarta Sans" pitchFamily="34" charset="-122"/>
                <a:cs typeface="Plus Jakarta Sans" pitchFamily="34" charset="-120"/>
              </a:rPr>
              <a:t>Self-hosted &amp; SaaS</a:t>
            </a:r>
            <a:endParaRPr lang="en-US" sz="950" dirty="0"/>
          </a:p>
        </p:txBody>
      </p:sp>
      <p:sp>
        <p:nvSpPr>
          <p:cNvPr id="52" name="Text 48"/>
          <p:cNvSpPr/>
          <p:nvPr/>
        </p:nvSpPr>
        <p:spPr>
          <a:xfrm>
            <a:off x="8321040" y="2240280"/>
            <a:ext cx="1234440" cy="1545336"/>
          </a:xfrm>
          <a:prstGeom prst="roundRect">
            <a:avLst>
              <a:gd name="adj" fmla="val 5926"/>
            </a:avLst>
          </a:prstGeom>
          <a:solidFill>
            <a:srgbClr val="0F172A"/>
          </a:solidFill>
          <a:ln>
            <a:solidFill>
              <a:srgbClr val="0F172A"/>
            </a:solidFill>
          </a:ln>
        </p:spPr>
        <p:txBody>
          <a:bodyPr wrap="square" lIns="38100" tIns="38100" rIns="38100" bIns="38100" rtlCol="0" anchor="ctr"/>
          <a:lstStyle/>
          <a:p>
            <a:pPr algn="ctr" indent="0" marL="0">
              <a:buNone/>
            </a:pPr>
            <a:r>
              <a:rPr lang="en-US" sz="1100" b="1" dirty="0">
                <a:solidFill>
                  <a:srgbClr val="FFFFFF"/>
                </a:solidFill>
                <a:latin typeface="Plus Jakarta Sans" pitchFamily="34" charset="0"/>
                <a:ea typeface="Plus Jakarta Sans" pitchFamily="34" charset="-122"/>
                <a:cs typeface="Plus Jakarta Sans" pitchFamily="34" charset="-120"/>
              </a:rPr>
              <a:t>Control plane</a:t>
            </a:r>
            <a:endParaRPr lang="en-US" sz="1100" dirty="0"/>
          </a:p>
          <a:p>
            <a:pPr algn="ctr" indent="0" marL="0">
              <a:buNone/>
            </a:pPr>
            <a:r>
              <a:rPr lang="en-US" sz="850" dirty="0">
                <a:solidFill>
                  <a:srgbClr val="CBD5E1"/>
                </a:solidFill>
                <a:latin typeface="Plus Jakarta Sans" pitchFamily="34" charset="0"/>
                <a:ea typeface="Plus Jakarta Sans" pitchFamily="34" charset="-122"/>
                <a:cs typeface="Plus Jakarta Sans" pitchFamily="34" charset="-120"/>
              </a:rPr>
              <a:t>routing • policy • audit</a:t>
            </a:r>
            <a:endParaRPr lang="en-US" sz="1100" dirty="0"/>
          </a:p>
        </p:txBody>
      </p:sp>
      <p:sp>
        <p:nvSpPr>
          <p:cNvPr id="53" name="Text 49"/>
          <p:cNvSpPr txBox="1"/>
          <p:nvPr/>
        </p:nvSpPr>
        <p:spPr>
          <a:xfrm>
            <a:off x="822960" y="4114800"/>
            <a:ext cx="2377440" cy="1920240"/>
          </a:xfrm>
          <a:prstGeom prst="rect">
            <a:avLst/>
          </a:prstGeom>
          <a:noFill/>
          <a:ln/>
        </p:spPr>
        <p:txBody>
          <a:bodyPr wrap="square" lIns="0" tIns="0" rIns="0" bIns="0" rtlCol="0" anchor="t"/>
          <a:lstStyle/>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Siloed policies</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guardrails differ by team</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cost visibility</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tokens untracked and unlimited</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governance</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no owner, no audit trail</a:t>
            </a:r>
            <a:endParaRPr lang="en-US" sz="1050" dirty="0"/>
          </a:p>
        </p:txBody>
      </p:sp>
      <p:sp>
        <p:nvSpPr>
          <p:cNvPr id="54" name="Text 50"/>
          <p:cNvSpPr txBox="1"/>
          <p:nvPr/>
        </p:nvSpPr>
        <p:spPr>
          <a:xfrm>
            <a:off x="3337560" y="4114800"/>
            <a:ext cx="2377440" cy="1920240"/>
          </a:xfrm>
          <a:prstGeom prst="rect">
            <a:avLst/>
          </a:prstGeom>
          <a:noFill/>
          <a:ln/>
        </p:spPr>
        <p:txBody>
          <a:bodyPr wrap="square" lIns="0" tIns="0" rIns="0" bIns="0" rtlCol="0" anchor="t"/>
          <a:lstStyle/>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Vendor lock-in</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each app wired to one model</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Duplicated code</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every team rebuilds connectors</a:t>
            </a:r>
            <a:endParaRPr lang="en-US" sz="1050" dirty="0"/>
          </a:p>
          <a:p>
            <a:pPr indent="0" marL="0">
              <a:buNone/>
            </a:pPr>
            <a:r>
              <a:rPr lang="en-US" sz="1050" b="1" dirty="0">
                <a:solidFill>
                  <a:srgbClr val="B91C1C"/>
                </a:solidFill>
                <a:latin typeface="Plus Jakarta Sans" pitchFamily="34" charset="0"/>
                <a:ea typeface="Plus Jakarta Sans" pitchFamily="34" charset="-122"/>
                <a:cs typeface="Plus Jakarta Sans" pitchFamily="34" charset="-120"/>
              </a:rPr>
              <a:t>No fallback</a:t>
            </a:r>
            <a:endParaRPr lang="en-US" sz="1050" dirty="0"/>
          </a:p>
          <a:p>
            <a:pPr indent="0" marL="0">
              <a:spcAft>
                <a:spcPts val="600"/>
              </a:spcAft>
              <a:buNone/>
            </a:pPr>
            <a:r>
              <a:rPr lang="en-US" sz="1050" dirty="0">
                <a:solidFill>
                  <a:srgbClr val="334155"/>
                </a:solidFill>
                <a:latin typeface="Plus Jakarta Sans" pitchFamily="34" charset="0"/>
                <a:ea typeface="Plus Jakarta Sans" pitchFamily="34" charset="-122"/>
                <a:cs typeface="Plus Jakarta Sans" pitchFamily="34" charset="-120"/>
              </a:rPr>
              <a:t>an outage stops the business</a:t>
            </a:r>
            <a:endParaRPr lang="en-US" sz="1050" dirty="0"/>
          </a:p>
        </p:txBody>
      </p:sp>
      <p:sp>
        <p:nvSpPr>
          <p:cNvPr id="55" name="Text 51"/>
          <p:cNvSpPr txBox="1"/>
          <p:nvPr/>
        </p:nvSpPr>
        <p:spPr>
          <a:xfrm>
            <a:off x="6492240" y="4160520"/>
            <a:ext cx="2377440" cy="182880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One API</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Dynamic routing</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Failover visibility</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Automatic fallback</a:t>
            </a:r>
            <a:endParaRPr lang="en-US" sz="1200" dirty="0"/>
          </a:p>
        </p:txBody>
      </p:sp>
      <p:sp>
        <p:nvSpPr>
          <p:cNvPr id="56" name="Text 52"/>
          <p:cNvSpPr txBox="1"/>
          <p:nvPr/>
        </p:nvSpPr>
        <p:spPr>
          <a:xfrm>
            <a:off x="9006840" y="4160520"/>
            <a:ext cx="2377440" cy="182880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Credential guarding</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Common policy</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No vendor lock-in</a:t>
            </a:r>
            <a:endParaRPr lang="en-US" sz="1200" dirty="0"/>
          </a:p>
          <a:p>
            <a:pPr marL="342900" indent="-342900">
              <a:spcAft>
                <a:spcPts val="800"/>
              </a:spcAft>
              <a:buSzPct val="100000"/>
              <a:buChar char="•"/>
            </a:pPr>
            <a:r>
              <a:rPr lang="en-US" sz="1200" b="1" dirty="0">
                <a:solidFill>
                  <a:srgbClr val="14532D"/>
                </a:solidFill>
                <a:latin typeface="Plus Jakarta Sans" pitchFamily="34" charset="0"/>
                <a:ea typeface="Plus Jakarta Sans" pitchFamily="34" charset="-122"/>
                <a:cs typeface="Plus Jakarta Sans" pitchFamily="34" charset="-120"/>
              </a:rPr>
              <a:t>Enterprise governance</a:t>
            </a:r>
            <a:endParaRPr lang="en-US" sz="1200" dirty="0"/>
          </a:p>
        </p:txBody>
      </p:sp>
      <p:sp>
        <p:nvSpPr>
          <p:cNvPr id="57" name="Text 5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Adapted from endnote 1; see also endnotes 3 and 21.</a:t>
            </a:r>
            <a:endParaRPr lang="en-US" sz="850" dirty="0"/>
          </a:p>
        </p:txBody>
      </p:sp>
      <p:sp>
        <p:nvSpPr>
          <p:cNvPr id="58" name="Text 5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From fragmented AI plumbing to a governed control plane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6: From fragmented AI plumbing to a governed control plane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