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301" r:id="rId47"/>
  </p:sldIdLst>
  <p:notesMasterIdLst>
    <p:notesMasterId r:id="rId68"/>
  </p:notesMasterIdLst>
  <p:sldSz cx="12192000" cy="6858000"/>
  <p:notesSz cx="6858000" cy="12192000"/>
  <p:embeddedFontLst>
    <p:embeddedFont>
      <p:font typeface="Plus Jakarta Sans"/>
      <p:regular r:id="rId73"/>
      <p:bold r:id="rId74"/>
      <p:italic r:id="rId7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47" Type="http://schemas.openxmlformats.org/officeDocument/2006/relationships/slide" Target="slides/slide46.xml"/><Relationship Id="rId68" Type="http://schemas.openxmlformats.org/officeDocument/2006/relationships/notesMaster" Target="notesMasters/notesMaster1.xml"/><Relationship Id="rId69" Type="http://schemas.openxmlformats.org/officeDocument/2006/relationships/presProps" Target="presProps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Relationship Id="rId73" Type="http://schemas.openxmlformats.org/officeDocument/2006/relationships/font" Target="fonts/e1a8fda2-a427-4cdb-9ef2-8a6782d58009.fntdata"/><Relationship Id="rId74" Type="http://schemas.openxmlformats.org/officeDocument/2006/relationships/font" Target="fonts/9542d0bb-6ad7-45dd-89ef-a406bd0490d1.fntdata"/><Relationship Id="rId75" Type="http://schemas.openxmlformats.org/officeDocument/2006/relationships/font" Target="fonts/f16f000a-8ac0-4436-b98c-e748fe425de0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Relationship Id="rId3" Type="http://schemas.openxmlformats.org/officeDocument/2006/relationships/hyperlink" Target="https://creativecommons.org/licenses/by-nc-nd/4.0/" TargetMode="External"/><Relationship Id="rId4" Type="http://schemas.openxmlformats.org/officeDocument/2006/relationships/hyperlink" Target="https://johnfisher-ai.github.io/ai-control-plane-handbook/deck/" TargetMode="External"/><Relationship Id="rId5" Type="http://schemas.openxmlformats.org/officeDocument/2006/relationships/hyperlink" Target="https://johnfisher-ai.github.io/ai-control-plane-handbook/handbook/appendix-b.html" TargetMode="External"/></Relationship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Phased delivery for the settlement use case, aligned with the four phases of the plan.</a:t>
            </a:r>
          </a:p>
          <a:p>
            <a:pPr marL="228600" indent="-228600">
              <a:spcAft>
                <a:spcPts val="300"/>
              </a:spcAft>
              <a:buFont typeface="Arial"/>
              <a:buChar char="•"/>
            </a:pPr>
            <a:r>
              <a:rPr lang="en-US" dirty="0"/>
              <a:t>Month 3 (phase 1): one market and asset class, for example EU fixed income, about a fifth of exceptions (300 a day). The fail-prediction agent scores trades and agents classify breaks and gather context at tier 2. Analysts act as today. Handling time falls from 18 to about 13 minutes in scope: 300 × 5 minutes × 250 days × $125 an hour is about $0.8M a year.</a:t>
            </a:r>
          </a:p>
          <a:p>
            <a:pPr marL="228600" indent="-228600">
              <a:spcAft>
                <a:spcPts val="300"/>
              </a:spcAft>
              <a:buFont typeface="Arial"/>
              <a:buChar char="•"/>
            </a:pPr>
            <a:r>
              <a:rPr lang="en-US" dirty="0"/>
              <a:t>Month 8 (phase 2): all markets. The SSI golden source is fixed with maker-checker stewardship, and agents propose fixes for one-click approval and draft counterparty messages from templates. Handling time about 11 minutes across 1,500 exceptions a day releases about 175 analyst hours a day: about $5.5M a year.</a:t>
            </a:r>
          </a:p>
          <a:p>
            <a:pPr marL="228600" indent="-228600">
              <a:spcAft>
                <a:spcPts val="300"/>
              </a:spcAft>
              <a:buFont typeface="Arial"/>
              <a:buChar char="•"/>
            </a:pPr>
            <a:r>
              <a:rPr lang="en-US" dirty="0"/>
              <a:t>Month 12 (phase 3): standard breaks, internal borrows and accruals are automated at tier 3 within limits that hold across agents and sessions, and SSI changes need maker-checker approvals bound to the change and expiring before the cutoff. All KPI targets are met (40% auto-resolved, 9 minutes of handling, a 1.3% fail rate): about $9.8M a year in analyst capacity, plus fewer fails, lower penalties and cheaper funding. For a program starting in late 2026, this lands before the European T+1 go-live on October 11, 2027 [96].</a:t>
            </a:r>
          </a:p>
          <a:p>
            <a:pPr marL="228600" indent="-228600">
              <a:spcAft>
                <a:spcPts val="300"/>
              </a:spcAft>
              <a:buFont typeface="Arial"/>
              <a:buChar char="•"/>
            </a:pPr>
            <a:r>
              <a:rPr lang="en-US" dirty="0"/>
              <a:t>Month 24 (phase 4): run rate sustained, with more asset classes and treasury funding added and European T+1 live. Cumulative analyst capacity reaches about $12M by month 24.</a:t>
            </a:r>
          </a:p>
          <a:p>
            <a:pPr>
              <a:spcAft>
                <a:spcPts val="600"/>
              </a:spcAft>
            </a:pPr>
            <a:r>
              <a:rPr lang="en-US" dirty="0"/>
              <a:t>All values are illustrative and before platform, model and change costs.</a:t>
            </a:r>
          </a:p>
          <a:p>
            <a:pPr>
              <a:spcAft>
                <a:spcPts val="600"/>
              </a:spcAft>
            </a:pPr>
            <a:r>
              <a:rPr lang="en-US" dirty="0"/>
              <a:t>Credit: John Fisher, The AI Control Plane: Executive Briefing (2026), slide 46, licensed under CC BY-NC-ND 4.0: </a:t>
            </a:r>
            <a:r>
              <a:rPr lang="en-US" dirty="0">
                <a:hlinkClick r:id="rId3"/>
              </a:rPr>
              <a:t>https://creativecommons.org/licenses/by-nc-nd/4.0/</a:t>
            </a:r>
            <a:r>
              <a:rPr lang="en-US" dirty="0"/>
              <a:t>. The full deck, with its speaker notes and notices: </a:t>
            </a:r>
            <a:r>
              <a:rPr lang="en-US" dirty="0">
                <a:hlinkClick r:id="rId4"/>
              </a:rPr>
              <a:t>https://johnfisher-ai.github.io/ai-control-plane-handbook/deck/</a:t>
            </a:r>
            <a:r>
              <a:rPr lang="en-US" dirty="0"/>
              <a:t>.</a:t>
            </a:r>
          </a:p>
          <a:p>
            <a:pPr>
              <a:spcAft>
                <a:spcPts val="600"/>
              </a:spcAft>
            </a:pPr>
            <a:r>
              <a:rPr lang="en-US" dirty="0"/>
              <a:t>Bracketed numbers in these notes, and endnote numbers on the slide, refer to the endnotes in Appendix B of The AI Control Plane Handbook: </a:t>
            </a:r>
            <a:r>
              <a:rPr lang="en-US" dirty="0">
                <a:hlinkClick r:id="rId5"/>
              </a:rPr>
              <a:t>https://johnfisher-ai.github.io/ai-control-plane-handbook/handbook/appendix-b.html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46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284C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USE CASE 2  •  PHASED DELIVERY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Delivery in four phases over 24 months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161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Automation that moves money or changes instructions waits for phase 3, when bound approvals and cross-session limits are in place. Values are illustrative.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1810512"/>
            <a:ext cx="2889504" cy="457200"/>
          </a:xfrm>
          <a:prstGeom prst="chevron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MONTH 3  •  PHASE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432304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One market, one asset class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035808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For example EU fixed income, about a fifth of exceptions: fail scoring and triage at tier 2, with analysts in the loop.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94944" y="4315968"/>
            <a:ext cx="2359152" cy="603504"/>
          </a:xfrm>
          <a:prstGeom prst="roundRect">
            <a:avLst>
              <a:gd name="adj" fmla="val 12121"/>
            </a:avLst>
          </a:prstGeom>
          <a:solidFill>
            <a:srgbClr val="F0F9FF"/>
          </a:solidFill>
          <a:ln w="9525">
            <a:solidFill>
              <a:srgbClr val="E0F2F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" y="4334256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Handling time down from 18 to about 13 minutes in scope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01091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803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$0.8M a year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319272" y="1810512"/>
            <a:ext cx="2889504" cy="457200"/>
          </a:xfrm>
          <a:prstGeom prst="chevron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MONTH 8  •  PHASE 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64992" y="2432304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547872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All markets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547872" y="3035808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SSI golden source fixed with maker-checker stewardship. Agents propose fixes for one-click approval and draft messages.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11296" y="4315968"/>
            <a:ext cx="2359152" cy="603504"/>
          </a:xfrm>
          <a:prstGeom prst="roundRect">
            <a:avLst>
              <a:gd name="adj" fmla="val 12121"/>
            </a:avLst>
          </a:prstGeom>
          <a:solidFill>
            <a:srgbClr val="F0F9FF"/>
          </a:solidFill>
          <a:ln w="9525">
            <a:solidFill>
              <a:srgbClr val="E0F2F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21024" y="4334256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Handling time about 11 minutes; same-day affirmation rising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3547872" y="501091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803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$5.5M a year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135624" y="1810512"/>
            <a:ext cx="2889504" cy="457200"/>
          </a:xfrm>
          <a:prstGeom prst="chevron">
            <a:avLst/>
          </a:prstGeom>
          <a:solidFill>
            <a:srgbClr val="0369A1"/>
          </a:solidFill>
          <a:ln>
            <a:solidFill>
              <a:srgbClr val="0369A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MONTH 12  •  PHASE 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81344" y="2432304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364224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Automate within limits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364224" y="3035808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Tier 3 fixes, borrows and accruals within cross-session limits, and SSI changes under bound approvals. Ready for EU T+1.</a:t>
            </a:r>
            <a:r>
              <a:rPr lang="en-US" sz="1000" baseline="3000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96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27648" y="4315968"/>
            <a:ext cx="2359152" cy="603504"/>
          </a:xfrm>
          <a:prstGeom prst="roundRect">
            <a:avLst>
              <a:gd name="adj" fmla="val 12121"/>
            </a:avLst>
          </a:prstGeom>
          <a:solidFill>
            <a:srgbClr val="F0F9FF"/>
          </a:solidFill>
          <a:ln w="9525">
            <a:solidFill>
              <a:srgbClr val="E0F2F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37376" y="4334256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All KPI targets met: 40% auto-resolved, 9 minutes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6364224" y="501091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803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$9.8M a year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8951976" y="1810512"/>
            <a:ext cx="2889504" cy="457200"/>
          </a:xfrm>
          <a:prstGeom prst="chevron">
            <a:avLst/>
          </a:prstGeom>
          <a:solidFill>
            <a:srgbClr val="075985"/>
          </a:solidFill>
          <a:ln>
            <a:solidFill>
              <a:srgbClr val="075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MONTH 24  •  PHASE 4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997696" y="2432304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9180576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All goals met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9180576" y="3035808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Run rate sustained. More asset classes and treasury funding added on the same controls, with European T+1 live.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144000" y="4315968"/>
            <a:ext cx="2359152" cy="603504"/>
          </a:xfrm>
          <a:prstGeom prst="roundRect">
            <a:avLst>
              <a:gd name="adj" fmla="val 12121"/>
            </a:avLst>
          </a:prstGeom>
          <a:solidFill>
            <a:srgbClr val="F0F9FF"/>
          </a:solidFill>
          <a:ln w="9525">
            <a:solidFill>
              <a:srgbClr val="E0F2F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253728" y="4334256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All KPIs held at target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9180576" y="501091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803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$12M cumulative</a:t>
            </a:r>
            <a:endParaRPr lang="en-US" sz="1900" dirty="0"/>
          </a:p>
        </p:txBody>
      </p:sp>
      <p:sp>
        <p:nvSpPr>
          <p:cNvPr id="33" name="Shape 31"/>
          <p:cNvSpPr/>
          <p:nvPr/>
        </p:nvSpPr>
        <p:spPr>
          <a:xfrm>
            <a:off x="548640" y="5760720"/>
            <a:ext cx="11091672" cy="420624"/>
          </a:xfrm>
          <a:prstGeom prst="roundRect">
            <a:avLst>
              <a:gd name="adj" fmla="val 17391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7240" y="5760720"/>
            <a:ext cx="10698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Cumulative analyst capacity by month 24: about $12M, plus fewer fails, lower penalties and cheaper funding (illustrative)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38251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Illustrative: 300 exceptions a day × 5 minutes at month 3, 175 analyst hours a day at month 8, and the full business case from month 12. Source: endnote 96.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Delivery in four phases over 24 months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AI Control Plane, slide 46: Delivery in four phases over 24 months</dc:title>
  <dc:subject>One slide from The AI Control Plane: Executive Briefing, by John Fisher (2026), CC BY-NC-ND 4.0</dc:subject>
  <dc:creator>John Fisher</dc:creator>
  <cp:lastModifiedBy>John Fisher</cp:lastModifiedBy>
  <cp:revision>1</cp:revision>
  <dcterms:created xsi:type="dcterms:W3CDTF">2026-10-14T20:43:52Z</dcterms:created>
  <dcterms:modified xsi:type="dcterms:W3CDTF">2026-10-14T20:43:52Z</dcterms:modified>
</cp:coreProperties>
</file>