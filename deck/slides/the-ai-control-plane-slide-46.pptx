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01" r:id="rId47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47" Type="http://schemas.openxmlformats.org/officeDocument/2006/relationships/slide" Target="slides/slide4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Phased delivery for the settlement use case, aligned with the four phases of the plan.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Month 3 (phase 1): one market and asset class, for example EU fixed income, about a fifth of exceptions (300 a day). The fail-prediction agent scores trades and agents classify breaks and gather context at tier 2. Analysts act as today. Handling time falls from 18 to about 13 minutes in scope: 300 × 5 minutes × 250 days × $125 an hour is about $0.8M a year.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Month 8 (phase 2): all markets. The SSI golden source is fixed with maker-checker stewardship, and agents propose fixes for one-click approval and draft counterparty messages from templates. Handling time about 11 minutes across 1,500 exceptions a day releases about 175 analyst hours a day: about $5.5M a year.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Month 12 (phase 3): standard breaks, internal borrows and accruals are automated at tier 3 within limits that hold across agents and sessions, and SSI changes need maker-checker approvals bound to the change and expiring before the cutoff. All KPI targets are met (40% auto-resolved, 9 minutes of handling, a 1.3% fail rate): about $9.8M a year in analyst capacity, plus fewer fails, lower penalties and cheaper funding. For a program starting in late 2026, this lands before the European T+1 go-live on October 11, 2027 [96].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Month 24 (phase 4): run rate sustained, with more asset classes and treasury funding added and European T+1 live. Cumulative analyst capacity reaches about $12M by month 24.</a:t>
            </a:r>
          </a:p>
          <a:p>
            <a:pPr>
              <a:spcAft>
                <a:spcPts val="600"/>
              </a:spcAft>
            </a:pPr>
            <a:r>
              <a:rPr lang="en-US" dirty="0"/>
              <a:t>All values are illustrative and before platform, model and change costs.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46,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46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2  •  PHASED DELIVERY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Delivery in four phases over 24 months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Automation that moves money or changes instructions waits for phase 3, when bound approvals and cross-session limits are in place. Values are illustrative.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1810512"/>
            <a:ext cx="2889504" cy="457200"/>
          </a:xfrm>
          <a:prstGeom prst="chevron">
            <a:avLst/>
          </a:prstGeom>
          <a:solidFill>
            <a:srgbClr val="0EA5E9"/>
          </a:solidFill>
          <a:ln>
            <a:solidFill>
              <a:srgbClr val="0EA5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MONTH 3  •  PHASE 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432304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market, one asset class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3580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For example EU fixed income, about a fifth of exceptions: fail scoring and triage at tier 2, with analysts in the loop.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94944" y="4315968"/>
            <a:ext cx="2359152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4334256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Handling time down from 18 to about 13 minutes in scope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01091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$0.8M a year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319272" y="1810512"/>
            <a:ext cx="2889504" cy="457200"/>
          </a:xfrm>
          <a:prstGeom prst="chevron">
            <a:avLst/>
          </a:prstGeom>
          <a:solidFill>
            <a:srgbClr val="0284C7"/>
          </a:solidFill>
          <a:ln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MONTH 8  •  PHASE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64992" y="2432304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547872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markets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47872" y="303580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SSI golden source fixed with maker-checker stewardship. Agents propose fixes for one-click approval and draft messages.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11296" y="4315968"/>
            <a:ext cx="2359152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21024" y="4334256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Handling time about 11 minutes; same-day affirmation rising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547872" y="501091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$5.5M a year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135624" y="1810512"/>
            <a:ext cx="2889504" cy="457200"/>
          </a:xfrm>
          <a:prstGeom prst="chevron">
            <a:avLst/>
          </a:prstGeom>
          <a:solidFill>
            <a:srgbClr val="0369A1"/>
          </a:solidFill>
          <a:ln>
            <a:solidFill>
              <a:srgbClr val="0369A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MONTH 12  •  PHASE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81344" y="2432304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64224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Automate within limits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364224" y="303580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Tier 3 fixes, borrows and accruals within cross-session limits, and SSI changes under bound approvals. Ready for EU T+1.</a:t>
            </a:r>
            <a:r>
              <a:rPr lang="en-US" sz="1000" baseline="30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96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27648" y="4315968"/>
            <a:ext cx="2359152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4334256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KPI targets met: 40% auto-resolved, 9 minutes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364224" y="501091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$9.8M a year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8951976" y="1810512"/>
            <a:ext cx="2889504" cy="457200"/>
          </a:xfrm>
          <a:prstGeom prst="chevron">
            <a:avLst/>
          </a:prstGeom>
          <a:solidFill>
            <a:srgbClr val="075985"/>
          </a:solidFill>
          <a:ln>
            <a:solidFill>
              <a:srgbClr val="07598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MONTH 24  •  PHASE 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97696" y="2432304"/>
            <a:ext cx="2651760" cy="320040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80576" y="25603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goals met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9180576" y="3035808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Run rate sustained. More asset classes and treasury funding added on the same controls, with European T+1 live.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144000" y="4315968"/>
            <a:ext cx="2359152" cy="603504"/>
          </a:xfrm>
          <a:prstGeom prst="roundRect">
            <a:avLst>
              <a:gd name="adj" fmla="val 12121"/>
            </a:avLst>
          </a:prstGeom>
          <a:solidFill>
            <a:srgbClr val="F0F9FF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253728" y="4334256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All KPIs held at target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180576" y="501091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803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$12M cumulative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1672" cy="420624"/>
          </a:xfrm>
          <a:prstGeom prst="roundRect">
            <a:avLst>
              <a:gd name="adj" fmla="val 17391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76072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Cumulative analyst capacity by month 24: about $12M, plus fewer fails, lower penalties and cheaper funding (illustrative)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Illustrative: 300 exceptions a day × 5 minutes at month 3, 175 analyst hours a day at month 8, and the full business case from month 12. Source: endnote 96.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Delivery in four phases over 24 months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46: Delivery in four phases over 24 months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