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65" r:id="rId11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Message: MuleSoft's API-led connectivity makes enterprise applications usable by agents. Enterprise capabilities should be exposed through secure, auditable, standardized service layers [1]. API-led connectivity follows that pattern.</a:t>
            </a:r>
          </a:p>
          <a:p>
            <a:pPr>
              <a:spcAft>
                <a:spcPts val="600"/>
              </a:spcAft>
            </a:pPr>
            <a:r>
              <a:rPr lang="en-US" dirty="0"/>
              <a:t>How to explain API-led connectivity to executives: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System APIs expose data and functions in core systems (ERP, CRM, databases, mainframe) and shield consumers from change underneath.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Process APIs compose those into business capabilities such as order promise, pricing, identity verification or claims intake.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The agent and experience layer publishes the same capabilities to agents (as MCP tools via MCP Bridge, or as A2A endpoints), to apps and portals, and to partners.</a:t>
            </a:r>
          </a:p>
          <a:p>
            <a:pPr>
              <a:spcAft>
                <a:spcPts val="600"/>
              </a:spcAft>
            </a:pPr>
            <a:r>
              <a:rPr lang="en-US" dirty="0"/>
              <a:t>Because the capability is built once and governed at the gateway, the same policy applies whether a person, an app or an agent calls it.</a:t>
            </a:r>
          </a:p>
          <a:p>
            <a:pPr>
              <a:spcAft>
                <a:spcPts val="600"/>
              </a:spcAft>
            </a:pPr>
            <a:r>
              <a:rPr lang="en-US" dirty="0"/>
              <a:t>Facts: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MCP Bridge makes existing APIs agent-ready by exposing them as MCP tools and extends security and rate-limiting without touching code [21].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MuleSoft connectors, Intelligent Document Processing, RPA and B2B/EDI reach unstructured, legacy and partner data [21].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Runtime Fabric deployment lets customers run guardrails on their own infrastructure for private cloud and on-premises workloads [21].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2026 Connectivity Benchmark: 50% of organizations already use APIs to connect and govern AI [2].</a:t>
            </a:r>
          </a:p>
          <a:p>
            <a:pPr>
              <a:spcAft>
                <a:spcPts val="600"/>
              </a:spcAft>
            </a:pPr>
            <a:r>
              <a:rPr lang="en-US" dirty="0"/>
              <a:t>Why reuse pays: exposing each capability once, as a governed API and MCP tool, keeps integration effort growing linearly rather than quadratically as agents multiply [18].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10,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MULESOFT  • 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MuleSoft exposes enterprise applications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API-led connectivity turns systems of record into governed, reusable capabilities that any agent, app or partner can consume.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6812280" cy="932688"/>
          </a:xfrm>
          <a:prstGeom prst="roundRect">
            <a:avLst>
              <a:gd name="adj" fmla="val 78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3852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&amp; EXPERIENCE LAYER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231136"/>
            <a:ext cx="2045208" cy="420624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tools via MCP Bridge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932176" y="2231136"/>
            <a:ext cx="2045208" cy="420624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A2A agent endpoints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87112" y="2231136"/>
            <a:ext cx="2045208" cy="420624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Apps, portals &amp; partners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71216"/>
            <a:ext cx="6812280" cy="932688"/>
          </a:xfrm>
          <a:prstGeom prst="roundRect">
            <a:avLst>
              <a:gd name="adj" fmla="val 7843"/>
            </a:avLst>
          </a:prstGeom>
          <a:solidFill>
            <a:srgbClr val="E0F2FE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6265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7598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PROCESS APIs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3255264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Order promise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93442" y="3255264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Pricing &amp; quoting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009644" y="3255264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Identity verification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25846" y="3255264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Claims intake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6812280" cy="932688"/>
          </a:xfrm>
          <a:prstGeom prst="roundRect">
            <a:avLst>
              <a:gd name="adj" fmla="val 7843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86784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7598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APIs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4279392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ERP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93442" y="4279392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CRM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009644" y="4279392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databases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25846" y="4279392"/>
            <a:ext cx="150647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E0F2FE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mainframe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919472"/>
            <a:ext cx="6812280" cy="1252728"/>
          </a:xfrm>
          <a:prstGeom prst="roundRect">
            <a:avLst>
              <a:gd name="adj" fmla="val 5839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1091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SYSTEMS OF RECORD &amp; UNSTRUCTURED SOURCES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&amp; ERP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70202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Salesforce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63163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&amp; mainframe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56125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SaaS apps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9086" y="5303520"/>
            <a:ext cx="1183234" cy="740664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Documents &amp; legacy UIs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89520" y="1847088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2075688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31" name="Icon 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8130" y="2201418"/>
            <a:ext cx="251460" cy="25146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430768" y="195681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Reuse existing APIs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430768" y="22402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Bridge exposes existing APIs as MCP tools, adding security and rate limits without code changes.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7589520" y="2944368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772400" y="3172968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36" name="Icon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130" y="3298698"/>
            <a:ext cx="251460" cy="25146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8430768" y="305409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Connect anything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8430768" y="33375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Connectors plus IDP, RPA and B2B/EDI reach unstructured, legacy and partner data.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7589520" y="4041648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7772400" y="4270248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41" name="Icon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130" y="4395978"/>
            <a:ext cx="251460" cy="25146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8430768" y="415137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catalog</a:t>
            </a:r>
            <a:endParaRPr lang="en-US" sz="1300" dirty="0"/>
          </a:p>
        </p:txBody>
      </p:sp>
      <p:sp>
        <p:nvSpPr>
          <p:cNvPr id="43" name="Text 38"/>
          <p:cNvSpPr txBox="1"/>
          <p:nvPr/>
        </p:nvSpPr>
        <p:spPr>
          <a:xfrm>
            <a:off x="8430768" y="44348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Exchange and Agent Registry catalog every API, MCP server and agent for discovery and reuse.</a:t>
            </a:r>
            <a:endParaRPr lang="en-US" sz="1050" dirty="0"/>
          </a:p>
        </p:txBody>
      </p:sp>
      <p:sp>
        <p:nvSpPr>
          <p:cNvPr id="44" name="Shape 39"/>
          <p:cNvSpPr/>
          <p:nvPr/>
        </p:nvSpPr>
        <p:spPr>
          <a:xfrm>
            <a:off x="7589520" y="5138928"/>
            <a:ext cx="405079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5" name="Shape 40"/>
          <p:cNvSpPr/>
          <p:nvPr/>
        </p:nvSpPr>
        <p:spPr>
          <a:xfrm>
            <a:off x="7772400" y="5367528"/>
            <a:ext cx="502920" cy="502920"/>
          </a:xfrm>
          <a:prstGeom prst="ellipse">
            <a:avLst/>
          </a:prstGeom>
          <a:solidFill>
            <a:srgbClr val="F0F9FF"/>
          </a:solidFill>
          <a:ln w="6350">
            <a:solidFill>
              <a:srgbClr val="F0F9FF"/>
            </a:solidFill>
            <a:prstDash val="solid"/>
          </a:ln>
        </p:spPr>
      </p:sp>
      <p:pic>
        <p:nvPicPr>
          <p:cNvPr id="46" name="Icon 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30" y="5493258"/>
            <a:ext cx="251460" cy="251460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8430768" y="52486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Run where rules require</a:t>
            </a:r>
            <a:endParaRPr lang="en-US" sz="1300" dirty="0"/>
          </a:p>
        </p:txBody>
      </p:sp>
      <p:sp>
        <p:nvSpPr>
          <p:cNvPr id="48" name="Text 42"/>
          <p:cNvSpPr txBox="1"/>
          <p:nvPr/>
        </p:nvSpPr>
        <p:spPr>
          <a:xfrm>
            <a:off x="8430768" y="55321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CloudHub or customer-managed Runtime Fabric, including guardrails on private infrastructure.</a:t>
            </a:r>
            <a:endParaRPr lang="en-US" sz="1050" dirty="0"/>
          </a:p>
        </p:txBody>
      </p:sp>
      <p:sp>
        <p:nvSpPr>
          <p:cNvPr id="49" name="Text 4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2, 21.</a:t>
            </a:r>
            <a:endParaRPr lang="en-US" sz="850" dirty="0"/>
          </a:p>
        </p:txBody>
      </p:sp>
      <p:sp>
        <p:nvSpPr>
          <p:cNvPr id="50" name="Text 4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How MuleSoft exposes enterprise applications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10: How MuleSoft exposes enterprise applications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