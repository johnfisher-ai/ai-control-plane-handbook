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65" r:id="rId11"/>
  </p:sldIdLst>
  <p:notesMasterIdLst>
    <p:notesMasterId r:id="rId68"/>
  </p:notesMasterIdLst>
  <p:sldSz cx="12192000" cy="6858000"/>
  <p:notesSz cx="6858000" cy="12192000"/>
  <p:embeddedFontLst>
    <p:embeddedFont>
      <p:font typeface="Plus Jakarta Sans"/>
      <p:regular r:id="rId73"/>
      <p:bold r:id="rId74"/>
      <p:italic r:id="rId75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11" Type="http://schemas.openxmlformats.org/officeDocument/2006/relationships/slide" Target="slides/slide10.xml"/><Relationship Id="rId68" Type="http://schemas.openxmlformats.org/officeDocument/2006/relationships/notesMaster" Target="notesMasters/notesMaster1.xml"/><Relationship Id="rId69" Type="http://schemas.openxmlformats.org/officeDocument/2006/relationships/presProps" Target="presProps.xml"/><Relationship Id="rId70" Type="http://schemas.openxmlformats.org/officeDocument/2006/relationships/viewProps" Target="viewProps.xml"/><Relationship Id="rId71" Type="http://schemas.openxmlformats.org/officeDocument/2006/relationships/theme" Target="theme/theme1.xml"/><Relationship Id="rId72" Type="http://schemas.openxmlformats.org/officeDocument/2006/relationships/tableStyles" Target="tableStyles.xml"/><Relationship Id="rId73" Type="http://schemas.openxmlformats.org/officeDocument/2006/relationships/font" Target="fonts/e1a8fda2-a427-4cdb-9ef2-8a6782d58009.fntdata"/><Relationship Id="rId74" Type="http://schemas.openxmlformats.org/officeDocument/2006/relationships/font" Target="fonts/9542d0bb-6ad7-45dd-89ef-a406bd0490d1.fntdata"/><Relationship Id="rId75" Type="http://schemas.openxmlformats.org/officeDocument/2006/relationships/font" Target="fonts/f16f000a-8ac0-4436-b98c-e748fe425de0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Relationship Id="rId3" Type="http://schemas.openxmlformats.org/officeDocument/2006/relationships/hyperlink" Target="https://creativecommons.org/licenses/by-nc-nd/4.0/" TargetMode="External"/><Relationship Id="rId4" Type="http://schemas.openxmlformats.org/officeDocument/2006/relationships/hyperlink" Target="https://johnfisher-ai.github.io/ai-control-plane-handbook/deck/" TargetMode="External"/><Relationship Id="rId5" Type="http://schemas.openxmlformats.org/officeDocument/2006/relationships/hyperlink" Target="https://johnfisher-ai.github.io/ai-control-plane-handbook/handbook/appendix-b.html" TargetMode="External"/></Relationship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dirty="0"/>
              <a:t>Message: MuleSoft's API-led connectivity makes enterprise applications usable by agents. Enterprise capabilities should be exposed through secure, auditable, standardized service layers [1]. API-led connectivity follows that pattern.</a:t>
            </a:r>
          </a:p>
          <a:p>
            <a:pPr>
              <a:spcAft>
                <a:spcPts val="600"/>
              </a:spcAft>
            </a:pPr>
            <a:r>
              <a:rPr lang="en-US" dirty="0"/>
              <a:t>How to explain API-led connectivity to executives: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dirty="0"/>
              <a:t>System APIs expose data and functions in core systems (ERP, CRM, databases, mainframe) and shield consumers from change underneath.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dirty="0"/>
              <a:t>Process APIs compose those into business capabilities such as order promise, pricing, identity verification or claims intake.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dirty="0"/>
              <a:t>The agent and experience layer publishes the same capabilities to agents (as MCP tools via MCP Bridge, or as A2A endpoints), to apps and portals, and to partners.</a:t>
            </a:r>
          </a:p>
          <a:p>
            <a:pPr>
              <a:spcAft>
                <a:spcPts val="600"/>
              </a:spcAft>
            </a:pPr>
            <a:r>
              <a:rPr lang="en-US" dirty="0"/>
              <a:t>Because the capability is built once and governed at the gateway, the same policy applies whether a person, an app or an agent calls it.</a:t>
            </a:r>
          </a:p>
          <a:p>
            <a:pPr>
              <a:spcAft>
                <a:spcPts val="600"/>
              </a:spcAft>
            </a:pPr>
            <a:r>
              <a:rPr lang="en-US" dirty="0"/>
              <a:t>Facts: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dirty="0"/>
              <a:t>MCP Bridge makes existing APIs agent-ready by exposing them as MCP tools and extends security and rate-limiting without touching code [21].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dirty="0"/>
              <a:t>MuleSoft connectors, Intelligent Document Processing, RPA and B2B/EDI reach unstructured, legacy and partner data [21].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dirty="0"/>
              <a:t>Runtime Fabric deployment lets customers run guardrails on their own infrastructure for private cloud and on-premises workloads [21].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dirty="0"/>
              <a:t>2026 Connectivity Benchmark: 50% of organizations already use APIs to connect and govern AI [2].</a:t>
            </a:r>
          </a:p>
          <a:p>
            <a:pPr>
              <a:spcAft>
                <a:spcPts val="600"/>
              </a:spcAft>
            </a:pPr>
            <a:r>
              <a:rPr lang="en-US" dirty="0"/>
              <a:t>Why reuse pays: exposing each capability once, as a governed API and MCP tool, keeps integration effort growing linearly rather than quadratically as agents multiply [18].</a:t>
            </a:r>
          </a:p>
          <a:p>
            <a:pPr>
              <a:spcAft>
                <a:spcPts val="600"/>
              </a:spcAft>
            </a:pPr>
            <a:r>
              <a:rPr lang="en-US" dirty="0"/>
              <a:t>Credit: John Fisher, The AI Control Plane: Executive Briefing (2026), slide 10, licensed under CC BY-NC-ND 4.0: </a:t>
            </a:r>
            <a:r>
              <a:rPr lang="en-US" dirty="0">
                <a:hlinkClick r:id="rId3"/>
              </a:rPr>
              <a:t>https://creativecommons.org/licenses/by-nc-nd/4.0/</a:t>
            </a:r>
            <a:r>
              <a:rPr lang="en-US" dirty="0"/>
              <a:t>. The full deck, with its speaker notes and notices: </a:t>
            </a:r>
            <a:r>
              <a:rPr lang="en-US" dirty="0">
                <a:hlinkClick r:id="rId4"/>
              </a:rPr>
              <a:t>https://johnfisher-ai.github.io/ai-control-plane-handbook/deck/</a:t>
            </a:r>
            <a:r>
              <a:rPr lang="en-US" dirty="0"/>
              <a:t>.</a:t>
            </a:r>
          </a:p>
          <a:p>
            <a:pPr>
              <a:spcAft>
                <a:spcPts val="600"/>
              </a:spcAft>
            </a:pPr>
            <a:r>
              <a:rPr lang="en-US" dirty="0"/>
              <a:t>Bracketed numbers in these notes, and endnote numbers on the slide, refer to the endnotes in Appendix B of The AI Control Plane Handbook: </a:t>
            </a:r>
            <a:r>
              <a:rPr lang="en-US" dirty="0">
                <a:hlinkClick r:id="rId5"/>
              </a:rPr>
              <a:t>https://johnfisher-ai.github.io/ai-control-plane-handbook/handbook/appendix-b.html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en-US"/>
              <a:t>10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0284C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MULESOFT  •  ARCHITECTURE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How MuleSoft exposes enterprise applications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16152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API-led connectivity turns systems of record into governed, reusable capabilities that any agent, app or partner can consume.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847088"/>
            <a:ext cx="6812280" cy="932688"/>
          </a:xfrm>
          <a:prstGeom prst="roundRect">
            <a:avLst>
              <a:gd name="adj" fmla="val 7843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938528"/>
            <a:ext cx="6309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38BDF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AGENT &amp; EXPERIENCE LAYER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777240" y="2231136"/>
            <a:ext cx="2045208" cy="420624"/>
          </a:xfrm>
          <a:prstGeom prst="roundRect">
            <a:avLst>
              <a:gd name="adj" fmla="val 13043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MCP tools via MCP Bridge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932176" y="2231136"/>
            <a:ext cx="2045208" cy="420624"/>
          </a:xfrm>
          <a:prstGeom prst="roundRect">
            <a:avLst>
              <a:gd name="adj" fmla="val 13043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A2A agent endpoints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087112" y="2231136"/>
            <a:ext cx="2045208" cy="420624"/>
          </a:xfrm>
          <a:prstGeom prst="roundRect">
            <a:avLst>
              <a:gd name="adj" fmla="val 13043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Apps, portals &amp; partners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48640" y="2871216"/>
            <a:ext cx="6812280" cy="932688"/>
          </a:xfrm>
          <a:prstGeom prst="roundRect">
            <a:avLst>
              <a:gd name="adj" fmla="val 7843"/>
            </a:avLst>
          </a:prstGeom>
          <a:solidFill>
            <a:srgbClr val="E0F2FE"/>
          </a:solidFill>
          <a:ln w="9525">
            <a:solidFill>
              <a:srgbClr val="E0F2F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2962656"/>
            <a:ext cx="6309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07598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PROCESS APIs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77240" y="3255264"/>
            <a:ext cx="1506474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E0F2FE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Order promise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393442" y="3255264"/>
            <a:ext cx="1506474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E0F2FE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Pricing &amp; quoting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009644" y="3255264"/>
            <a:ext cx="1506474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E0F2FE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Identity verification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625846" y="3255264"/>
            <a:ext cx="1506474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E0F2FE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Claims intake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48640" y="3895344"/>
            <a:ext cx="6812280" cy="932688"/>
          </a:xfrm>
          <a:prstGeom prst="roundRect">
            <a:avLst>
              <a:gd name="adj" fmla="val 7843"/>
            </a:avLst>
          </a:prstGeom>
          <a:solidFill>
            <a:srgbClr val="F0F9FF"/>
          </a:solidFill>
          <a:ln w="9525">
            <a:solidFill>
              <a:srgbClr val="E0F2F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3986784"/>
            <a:ext cx="6309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07598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SYSTEM APIs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777240" y="4279392"/>
            <a:ext cx="1506474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E0F2FE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Expose ERP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393442" y="4279392"/>
            <a:ext cx="1506474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E0F2FE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Expose CRM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009644" y="4279392"/>
            <a:ext cx="1506474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E0F2FE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Expose databases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625846" y="4279392"/>
            <a:ext cx="1506474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E0F2FE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Expose mainframe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48640" y="4919472"/>
            <a:ext cx="6812280" cy="1252728"/>
          </a:xfrm>
          <a:prstGeom prst="roundRect">
            <a:avLst>
              <a:gd name="adj" fmla="val 5839"/>
            </a:avLst>
          </a:prstGeom>
          <a:solidFill>
            <a:srgbClr val="F1F5F9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77240" y="5010912"/>
            <a:ext cx="6309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SYSTEMS OF RECORD &amp; UNSTRUCTURED SOURCES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5303520"/>
            <a:ext cx="1183234" cy="740664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SAP &amp; ERP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070202" y="5303520"/>
            <a:ext cx="1183234" cy="740664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Salesforce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363163" y="5303520"/>
            <a:ext cx="1183234" cy="740664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Core &amp; mainframe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656125" y="5303520"/>
            <a:ext cx="1183234" cy="740664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SaaS apps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949086" y="5303520"/>
            <a:ext cx="1183234" cy="740664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Documents &amp; legacy UIs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589520" y="1847088"/>
            <a:ext cx="4050792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772400" y="2075688"/>
            <a:ext cx="502920" cy="502920"/>
          </a:xfrm>
          <a:prstGeom prst="ellipse">
            <a:avLst/>
          </a:prstGeom>
          <a:solidFill>
            <a:srgbClr val="F0F9FF"/>
          </a:solidFill>
          <a:ln w="6350">
            <a:solidFill>
              <a:srgbClr val="F0F9FF"/>
            </a:solidFill>
            <a:prstDash val="solid"/>
          </a:ln>
        </p:spPr>
      </p:sp>
      <p:pic>
        <p:nvPicPr>
          <p:cNvPr id="31" name="Icon 0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98130" y="2201418"/>
            <a:ext cx="251460" cy="251460"/>
          </a:xfrm>
          <a:prstGeom prst="rect">
            <a:avLst/>
          </a:prstGeom>
        </p:spPr>
      </p:pic>
      <p:sp>
        <p:nvSpPr>
          <p:cNvPr id="32" name="Text 29"/>
          <p:cNvSpPr txBox="1"/>
          <p:nvPr/>
        </p:nvSpPr>
        <p:spPr>
          <a:xfrm>
            <a:off x="8430768" y="1956816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Reuse existing APIs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8430768" y="22402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MCP Bridge exposes existing APIs as MCP tools, adding security and rate limits without code changes.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7589520" y="2944368"/>
            <a:ext cx="4050792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35" name="Shape 32"/>
          <p:cNvSpPr/>
          <p:nvPr/>
        </p:nvSpPr>
        <p:spPr>
          <a:xfrm>
            <a:off x="7772400" y="3172968"/>
            <a:ext cx="502920" cy="502920"/>
          </a:xfrm>
          <a:prstGeom prst="ellipse">
            <a:avLst/>
          </a:prstGeom>
          <a:solidFill>
            <a:srgbClr val="F0F9FF"/>
          </a:solidFill>
          <a:ln w="6350">
            <a:solidFill>
              <a:srgbClr val="F0F9FF"/>
            </a:solidFill>
            <a:prstDash val="solid"/>
          </a:ln>
        </p:spPr>
      </p:sp>
      <p:pic>
        <p:nvPicPr>
          <p:cNvPr id="36" name="Icon 1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8130" y="3298698"/>
            <a:ext cx="251460" cy="251460"/>
          </a:xfrm>
          <a:prstGeom prst="rect">
            <a:avLst/>
          </a:prstGeom>
        </p:spPr>
      </p:pic>
      <p:sp>
        <p:nvSpPr>
          <p:cNvPr id="37" name="Text 33"/>
          <p:cNvSpPr txBox="1"/>
          <p:nvPr/>
        </p:nvSpPr>
        <p:spPr>
          <a:xfrm>
            <a:off x="8430768" y="3054096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Connect anything</a:t>
            </a:r>
            <a:endParaRPr lang="en-US" sz="1300" dirty="0"/>
          </a:p>
        </p:txBody>
      </p:sp>
      <p:sp>
        <p:nvSpPr>
          <p:cNvPr id="38" name="Text 34"/>
          <p:cNvSpPr txBox="1"/>
          <p:nvPr/>
        </p:nvSpPr>
        <p:spPr>
          <a:xfrm>
            <a:off x="8430768" y="333756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Connectors plus IDP, RPA and B2B/EDI reach unstructured, legacy and partner data.</a:t>
            </a:r>
            <a:endParaRPr lang="en-US" sz="1050" dirty="0"/>
          </a:p>
        </p:txBody>
      </p:sp>
      <p:sp>
        <p:nvSpPr>
          <p:cNvPr id="39" name="Shape 35"/>
          <p:cNvSpPr/>
          <p:nvPr/>
        </p:nvSpPr>
        <p:spPr>
          <a:xfrm>
            <a:off x="7589520" y="4041648"/>
            <a:ext cx="4050792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6"/>
          <p:cNvSpPr/>
          <p:nvPr/>
        </p:nvSpPr>
        <p:spPr>
          <a:xfrm>
            <a:off x="7772400" y="4270248"/>
            <a:ext cx="502920" cy="502920"/>
          </a:xfrm>
          <a:prstGeom prst="ellipse">
            <a:avLst/>
          </a:prstGeom>
          <a:solidFill>
            <a:srgbClr val="F0F9FF"/>
          </a:solidFill>
          <a:ln w="6350">
            <a:solidFill>
              <a:srgbClr val="F0F9FF"/>
            </a:solidFill>
            <a:prstDash val="solid"/>
          </a:ln>
        </p:spPr>
      </p:sp>
      <p:pic>
        <p:nvPicPr>
          <p:cNvPr id="41" name="Icon 2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8130" y="4395978"/>
            <a:ext cx="251460" cy="251460"/>
          </a:xfrm>
          <a:prstGeom prst="rect">
            <a:avLst/>
          </a:prstGeom>
        </p:spPr>
      </p:pic>
      <p:sp>
        <p:nvSpPr>
          <p:cNvPr id="42" name="Text 37"/>
          <p:cNvSpPr txBox="1"/>
          <p:nvPr/>
        </p:nvSpPr>
        <p:spPr>
          <a:xfrm>
            <a:off x="8430768" y="4151376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One catalog</a:t>
            </a:r>
            <a:endParaRPr lang="en-US" sz="1300" dirty="0"/>
          </a:p>
        </p:txBody>
      </p:sp>
      <p:sp>
        <p:nvSpPr>
          <p:cNvPr id="43" name="Text 38"/>
          <p:cNvSpPr txBox="1"/>
          <p:nvPr/>
        </p:nvSpPr>
        <p:spPr>
          <a:xfrm>
            <a:off x="8430768" y="443484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Exchange and Agent Registry catalog every API, MCP server and agent for discovery and reuse.</a:t>
            </a:r>
            <a:endParaRPr lang="en-US" sz="1050" dirty="0"/>
          </a:p>
        </p:txBody>
      </p:sp>
      <p:sp>
        <p:nvSpPr>
          <p:cNvPr id="44" name="Shape 39"/>
          <p:cNvSpPr/>
          <p:nvPr/>
        </p:nvSpPr>
        <p:spPr>
          <a:xfrm>
            <a:off x="7589520" y="5138928"/>
            <a:ext cx="4050792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45" name="Shape 40"/>
          <p:cNvSpPr/>
          <p:nvPr/>
        </p:nvSpPr>
        <p:spPr>
          <a:xfrm>
            <a:off x="7772400" y="5367528"/>
            <a:ext cx="502920" cy="502920"/>
          </a:xfrm>
          <a:prstGeom prst="ellipse">
            <a:avLst/>
          </a:prstGeom>
          <a:solidFill>
            <a:srgbClr val="F0F9FF"/>
          </a:solidFill>
          <a:ln w="6350">
            <a:solidFill>
              <a:srgbClr val="F0F9FF"/>
            </a:solidFill>
            <a:prstDash val="solid"/>
          </a:ln>
        </p:spPr>
      </p:sp>
      <p:pic>
        <p:nvPicPr>
          <p:cNvPr id="46" name="Icon 3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98130" y="5493258"/>
            <a:ext cx="251460" cy="251460"/>
          </a:xfrm>
          <a:prstGeom prst="rect">
            <a:avLst/>
          </a:prstGeom>
        </p:spPr>
      </p:pic>
      <p:sp>
        <p:nvSpPr>
          <p:cNvPr id="47" name="Text 41"/>
          <p:cNvSpPr txBox="1"/>
          <p:nvPr/>
        </p:nvSpPr>
        <p:spPr>
          <a:xfrm>
            <a:off x="8430768" y="5248656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Run where rules require</a:t>
            </a:r>
            <a:endParaRPr lang="en-US" sz="1300" dirty="0"/>
          </a:p>
        </p:txBody>
      </p:sp>
      <p:sp>
        <p:nvSpPr>
          <p:cNvPr id="48" name="Text 42"/>
          <p:cNvSpPr txBox="1"/>
          <p:nvPr/>
        </p:nvSpPr>
        <p:spPr>
          <a:xfrm>
            <a:off x="8430768" y="553212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CloudHub or customer-managed Runtime Fabric, including guardrails on private infrastructure.</a:t>
            </a:r>
            <a:endParaRPr lang="en-US" sz="1050" dirty="0"/>
          </a:p>
        </p:txBody>
      </p:sp>
      <p:sp>
        <p:nvSpPr>
          <p:cNvPr id="49" name="Text 43"/>
          <p:cNvSpPr txBox="1"/>
          <p:nvPr/>
        </p:nvSpPr>
        <p:spPr>
          <a:xfrm>
            <a:off x="548640" y="6382512"/>
            <a:ext cx="1024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Sources: endnotes 1, 2, 21.</a:t>
            </a:r>
            <a:endParaRPr lang="en-US" sz="850" dirty="0"/>
          </a:p>
        </p:txBody>
      </p:sp>
      <p:sp>
        <p:nvSpPr>
          <p:cNvPr id="50" name="Text 44"/>
          <p:cNvSpPr txBox="1"/>
          <p:nvPr/>
        </p:nvSpPr>
        <p:spPr>
          <a:xfrm>
            <a:off x="11183112" y="64190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How MuleSoft exposes enterprise applications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AI Control Plane, slide 10: How MuleSoft exposes enterprise applications</dc:title>
  <dc:subject>One slide from The AI Control Plane: Executive Briefing, by John Fisher (2026), CC BY-NC-ND 4.0</dc:subject>
  <dc:creator>John Fisher</dc:creator>
  <cp:lastModifiedBy>John Fisher</cp:lastModifiedBy>
  <cp:revision>1</cp:revision>
  <dcterms:created xsi:type="dcterms:W3CDTF">2026-10-14T20:43:52Z</dcterms:created>
  <dcterms:modified xsi:type="dcterms:W3CDTF">2026-10-14T20:43:52Z</dcterms:modified>
</cp:coreProperties>
</file>