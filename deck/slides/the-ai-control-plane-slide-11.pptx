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66" r:id="rId12"/>
  </p:sldIdLst>
  <p:notesMasterIdLst>
    <p:notesMasterId r:id="rId68"/>
  </p:notesMasterIdLst>
  <p:sldSz cx="12192000" cy="6858000"/>
  <p:notesSz cx="6858000" cy="12192000"/>
  <p:embeddedFontLst>
    <p:embeddedFont>
      <p:font typeface="Plus Jakarta Sans"/>
      <p:regular r:id="rId73"/>
      <p:bold r:id="rId74"/>
      <p:italic r:id="rId7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12" Type="http://schemas.openxmlformats.org/officeDocument/2006/relationships/slide" Target="slides/slide11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Relationship Id="rId73" Type="http://schemas.openxmlformats.org/officeDocument/2006/relationships/font" Target="fonts/e1a8fda2-a427-4cdb-9ef2-8a6782d58009.fntdata"/><Relationship Id="rId74" Type="http://schemas.openxmlformats.org/officeDocument/2006/relationships/font" Target="fonts/9542d0bb-6ad7-45dd-89ef-a406bd0490d1.fntdata"/><Relationship Id="rId75" Type="http://schemas.openxmlformats.org/officeDocument/2006/relationships/font" Target="fonts/f16f000a-8ac0-4436-b98c-e748fe425de0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Relationship Id="rId3" Type="http://schemas.openxmlformats.org/officeDocument/2006/relationships/hyperlink" Target="https://creativecommons.org/licenses/by-nc-nd/4.0/" TargetMode="External"/><Relationship Id="rId4" Type="http://schemas.openxmlformats.org/officeDocument/2006/relationships/hyperlink" Target="https://johnfisher-ai.github.io/ai-control-plane-handbook/deck/" TargetMode="External"/><Relationship Id="rId5" Type="http://schemas.openxmlformats.org/officeDocument/2006/relationships/hyperlink" Target="https://johnfisher-ai.github.io/ai-control-plane-handbook/handbook/appendix-b.html" TargetMode="External"/></Relationship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Leadership must decide on the architectural pattern before signing platform contracts [1][19]. 1. Embedded: Ideal for functional silos like HR or CRM, but risks fragmented policy. 2. Dedicated orchestration: Essential when strict compliance or high-security data operations require every prompt and token to flow through a centralized gate. 3. Hybrid/federated: The enterprise standard for large organizations, establishing centralized guardrails while allowing distributed business units to build autonomous agents.</a:t>
            </a:r>
          </a:p>
          <a:p>
            <a:pPr>
              <a:spcAft>
                <a:spcPts val="600"/>
              </a:spcAft>
            </a:pPr>
            <a:r>
              <a:rPr lang="en-US" dirty="0"/>
              <a:t>Nuance for a CIO audience: no paradigm is universally correct, and the choice should follow strategy, maturity and constraints [1]. In practice, large multi-vendor enterprises most often land on hybrid/federated. Because Agent Fabric registers and governs agents regardless of where they were built [21], it suits that pattern, and it can also sit behind embedded and dedicated designs.</a:t>
            </a:r>
          </a:p>
          <a:p>
            <a:pPr>
              <a:spcAft>
                <a:spcPts val="600"/>
              </a:spcAft>
            </a:pPr>
            <a:r>
              <a:rPr lang="en-US" dirty="0"/>
              <a:t>Sequencing: Bain [20] finds that enterprises investing in centralized governance, reusable orchestration, unified agent registries and platform-level policy enforcement move from concept to production faster, and that federated discovery and cross-domain routing should come last, once governance and orchestration are mature.</a:t>
            </a:r>
          </a:p>
          <a:p>
            <a:pPr>
              <a:spcAft>
                <a:spcPts val="600"/>
              </a:spcAft>
            </a:pPr>
            <a:r>
              <a:rPr lang="en-US" dirty="0"/>
              <a:t>Endnote [19] (Ravi et al., "Architecting the agentic enterprise," 2026) is the source for these patterns. No public copy was located.</a:t>
            </a:r>
          </a:p>
          <a:p>
            <a:pPr>
              <a:spcAft>
                <a:spcPts val="600"/>
              </a:spcAft>
            </a:pPr>
            <a:r>
              <a:rPr lang="en-US" dirty="0"/>
              <a:t>Credit: John Fisher, The AI Control Plane: Executive Briefing (2026), slide 11, licensed under CC BY-NC-ND 4.0: </a:t>
            </a:r>
            <a:r>
              <a:rPr lang="en-US" dirty="0">
                <a:hlinkClick r:id="rId3"/>
              </a:rPr>
              <a:t>https://creativecommons.org/licenses/by-nc-nd/4.0/</a:t>
            </a:r>
            <a:r>
              <a:rPr lang="en-US" dirty="0"/>
              <a:t>. The full deck, with its speaker notes and notices: </a:t>
            </a:r>
            <a:r>
              <a:rPr lang="en-US" dirty="0">
                <a:hlinkClick r:id="rId4"/>
              </a:rPr>
              <a:t>https://johnfisher-ai.github.io/ai-control-plane-handbook/deck/</a:t>
            </a:r>
            <a:r>
              <a:rPr lang="en-US" dirty="0"/>
              <a:t>.</a:t>
            </a:r>
          </a:p>
          <a:p>
            <a:pPr>
              <a:spcAft>
                <a:spcPts val="600"/>
              </a:spcAft>
            </a:pPr>
            <a:r>
              <a:rPr lang="en-US" dirty="0"/>
              <a:t>Bracketed numbers in these notes, and endnote numbers on the slide, refer to the endnotes in Appendix B of The AI Control Plane Handbook: </a:t>
            </a:r>
            <a:r>
              <a:rPr lang="en-US" dirty="0">
                <a:hlinkClick r:id="rId5"/>
              </a:rPr>
              <a:t>https://johnfisher-ai.github.io/ai-control-plane-handbook/handbook/appendix-b.html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11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FOUNDATIONAL PATTERNS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Choose the architectural paradigm before the platform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1615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Pick the pattern that fits strategy, maturity and constraints, then select platforms.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3538728" cy="288036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103120"/>
            <a:ext cx="411480" cy="411480"/>
          </a:xfrm>
          <a:prstGeom prst="ellipse">
            <a:avLst/>
          </a:prstGeom>
          <a:solidFill>
            <a:srgbClr val="0F172A"/>
          </a:solidFill>
          <a:ln w="6350">
            <a:solidFill>
              <a:srgbClr val="0F172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14884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Embedded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70048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SAAS-NATIVE INTELLIGENCE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953512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Agentic capabilities woven into each layer, often through SaaS applications such as CRM, HR and service management suites.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22960" y="3977640"/>
            <a:ext cx="2990088" cy="594360"/>
          </a:xfrm>
          <a:prstGeom prst="roundRect">
            <a:avLst>
              <a:gd name="adj" fmla="val 12308"/>
            </a:avLst>
          </a:prstGeom>
          <a:solidFill>
            <a:srgbClr val="F1F5F9"/>
          </a:solidFill>
          <a:ln w="9525">
            <a:solidFill>
              <a:srgbClr val="F1F5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4041648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Trade-off: </a:t>
            </a:r>
            <a:r>
              <a:rPr lang="en-US" sz="10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Fastest time-to-value, but policy fragments across vendors.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25112" y="1874520"/>
            <a:ext cx="3538728" cy="288036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99432" y="2103120"/>
            <a:ext cx="411480" cy="411480"/>
          </a:xfrm>
          <a:prstGeom prst="ellipse">
            <a:avLst/>
          </a:prstGeom>
          <a:solidFill>
            <a:srgbClr val="0F172A"/>
          </a:solidFill>
          <a:ln w="6350">
            <a:solidFill>
              <a:srgbClr val="0F172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148072" y="214884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Dedicated orchestration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599432" y="2670048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PURPOSE-BUILT AGENTIC TIER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4599432" y="2953512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 central tier that runs agent runtime, memory and multi-agent coordination, with governance in one place.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99432" y="3977640"/>
            <a:ext cx="2990088" cy="594360"/>
          </a:xfrm>
          <a:prstGeom prst="roundRect">
            <a:avLst>
              <a:gd name="adj" fmla="val 12308"/>
            </a:avLst>
          </a:prstGeom>
          <a:solidFill>
            <a:srgbClr val="F1F5F9"/>
          </a:solidFill>
          <a:ln w="9525">
            <a:solidFill>
              <a:srgbClr val="F1F5F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36592" y="4041648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Trade-off: </a:t>
            </a:r>
            <a:r>
              <a:rPr lang="en-US" sz="10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Strong control, but risk of a central bottleneck.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101584" y="1874520"/>
            <a:ext cx="3538728" cy="288036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375904" y="2103120"/>
            <a:ext cx="411480" cy="411480"/>
          </a:xfrm>
          <a:prstGeom prst="ellipse">
            <a:avLst/>
          </a:prstGeom>
          <a:solidFill>
            <a:srgbClr val="0F172A"/>
          </a:solidFill>
          <a:ln w="6350">
            <a:solidFill>
              <a:srgbClr val="0F172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924544" y="214884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Hybrid / federated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375904" y="2670048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CENTRAL POLICY, LOCAL EXECUTION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8375904" y="2953512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 central control plane governs identity, audit, cost and policy while domains build and run agents independently.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375904" y="3977640"/>
            <a:ext cx="2990088" cy="594360"/>
          </a:xfrm>
          <a:prstGeom prst="roundRect">
            <a:avLst>
              <a:gd name="adj" fmla="val 12308"/>
            </a:avLst>
          </a:prstGeom>
          <a:solidFill>
            <a:srgbClr val="F1F5F9"/>
          </a:solidFill>
          <a:ln w="9525">
            <a:solidFill>
              <a:srgbClr val="F1F5F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513064" y="4041648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Trade-off: </a:t>
            </a:r>
            <a:r>
              <a:rPr lang="en-US" sz="10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Most flexible, but needs mature identity, CI/CD and operations.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4956048"/>
            <a:ext cx="11091672" cy="1216152"/>
          </a:xfrm>
          <a:prstGeom prst="roundRect">
            <a:avLst>
              <a:gd name="adj" fmla="val 6015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2960" y="50474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8BDF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HOW AGENT FABRIC SUPPORTS EACH PATTERN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534924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Registers and governs embedded agents (Agentforce, Copilot Studio, Bedrock, Gemini Enterprise Agent Platform) without re-platforming.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599432" y="534924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Agent Broker provides a purpose-built orchestration tier, with guided determinism for fixed hand-off rules.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375904" y="534924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Central registry, identity, cost and policy via AI Gateway, while domains build on any platform.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6382512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Sources: endnotes 1, 19–21.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11183112" y="64190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Choose the architectural paradigm before the platform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AI Control Plane, slide 11: Choose the architectural paradigm before the platform</dc:title>
  <dc:subject>One slide from The AI Control Plane: Executive Briefing, by John Fisher (2026), CC BY-NC-ND 4.0</dc:subject>
  <dc:creator>John Fisher</dc:creator>
  <cp:lastModifiedBy>John Fisher</cp:lastModifiedBy>
  <cp:revision>1</cp:revision>
  <dcterms:created xsi:type="dcterms:W3CDTF">2026-10-14T20:43:52Z</dcterms:created>
  <dcterms:modified xsi:type="dcterms:W3CDTF">2026-10-14T20:43:52Z</dcterms:modified>
</cp:coreProperties>
</file>