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302" r:id="rId48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48" Type="http://schemas.openxmlformats.org/officeDocument/2006/relationships/slide" Target="slides/slide47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Relationship Id="rId5" Type="http://schemas.openxmlformats.org/officeDocument/2006/relationships/hyperlink" Target="https://johnfisher-ai.github.io/ai-control-plane-handbook/handbook/appendix-b.html" TargetMode="External"/></Relationship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62000"/>
            <a:ext cx="5943600" cy="3343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457200" y="4419600"/>
            <a:ext cx="5943600" cy="670560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Wrap up with what this use case proves:</a:t>
            </a:r>
          </a:p>
          <a:p>
            <a:pPr marL="228600" indent="-228600">
              <a:spcAft>
                <a:spcPts val="300"/>
              </a:spcAft>
              <a:buFont typeface="+mj-lt"/>
              <a:buAutoNum type="arabicPeriod" startAt="1"/>
            </a:pPr>
            <a:r>
              <a:rPr lang="en-US" dirty="0"/>
              <a:t>Prevent fails as well as repair them. Fail prediction and pre-emptive SSI and inventory fixes act before the cutoff instead of after the fail.</a:t>
            </a:r>
          </a:p>
          <a:p>
            <a:pPr marL="228600" indent="-228600">
              <a:spcAft>
                <a:spcPts val="300"/>
              </a:spcAft>
              <a:buFont typeface="+mj-lt"/>
              <a:buAutoNum type="arabicPeriod" startAt="2"/>
            </a:pPr>
            <a:r>
              <a:rPr lang="en-US" dirty="0"/>
              <a:t>Money and instructions stay under human control. SSI changes, payments and large borrows follow maker-checker rules, with agents proposing and people approving.</a:t>
            </a:r>
          </a:p>
          <a:p>
            <a:pPr marL="228600" indent="-228600">
              <a:spcAft>
                <a:spcPts val="300"/>
              </a:spcAft>
              <a:buFont typeface="+mj-lt"/>
              <a:buAutoNum type="arabicPeriod" startAt="3"/>
            </a:pPr>
            <a:r>
              <a:rPr lang="en-US" dirty="0"/>
              <a:t>Reference data is a control. About a fifth of surveyed firms' fails traced back to data such as stale SSIs [97], so golden records for SSIs, counterparties and instruments go straight to the fail rate.</a:t>
            </a:r>
          </a:p>
          <a:p>
            <a:pPr marL="228600" indent="-228600">
              <a:spcAft>
                <a:spcPts val="300"/>
              </a:spcAft>
              <a:buFont typeface="+mj-lt"/>
              <a:buAutoNum type="arabicPeriod" startAt="4"/>
            </a:pPr>
            <a:r>
              <a:rPr lang="en-US" dirty="0"/>
              <a:t>Resilient and auditable by design. Model failover, WORM archiving and end-to-end traces support DORA [98] and records-retention rules [104].</a:t>
            </a:r>
          </a:p>
          <a:p>
            <a:pPr>
              <a:spcAft>
                <a:spcPts val="600"/>
              </a:spcAft>
            </a:pPr>
            <a:r>
              <a:rPr lang="en-US" dirty="0"/>
              <a:t>Proposed next step: a 90-day pilot. Start with one market and one asset class (for example EU fixed income ahead of the October 2027 go-live) and baseline fails and penalties. Begin with prediction and triage at Tier 2 with analysts in the loop. Fix the SSI golden source with maker-checker stewardship before any agent touches instructions. Automate standard fixes (Tier 3 matching and borrows within limits) only once evaluations and controls pass.</a:t>
            </a:r>
          </a:p>
          <a:p>
            <a:pPr>
              <a:spcAft>
                <a:spcPts val="600"/>
              </a:spcAft>
            </a:pPr>
            <a:r>
              <a:rPr lang="en-US" dirty="0"/>
              <a:t>Before committing dates, confirm connector coverage for each trading and settlement venue.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47,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  <a:p>
            <a:pPr>
              <a:spcAft>
                <a:spcPts val="600"/>
              </a:spcAft>
            </a:pPr>
            <a:r>
              <a:rPr lang="en-US" dirty="0"/>
              <a:t>Bracketed numbers in these notes, and endnote numbers on the slide, refer to the endnotes in Appendix B of The AI Control Plane Handbook: </a:t>
            </a:r>
            <a:r>
              <a:rPr lang="en-US" dirty="0">
                <a:hlinkClick r:id="rId5"/>
              </a:rPr>
              <a:t>https://johnfisher-ai.github.io/ai-control-plane-handbook/handbook/appendix-b.html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6200" y="11430000"/>
            <a:ext cx="2514600" cy="457200"/>
          </a:xfrm>
        </p:spPr>
        <p:txBody>
          <a:bodyPr/>
          <a:lstStyle/>
          <a:p>
            <a:r>
              <a:rPr lang="en-US"/>
              <a:t>47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 CASE 2  •  WRAP-UP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What the settlement use case proves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Agents work the T+1 window at machine speed, while money, instructions and commitments stay under human control.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911096"/>
            <a:ext cx="457200" cy="457200"/>
          </a:xfrm>
          <a:prstGeom prst="ellipse">
            <a:avLst/>
          </a:prstGeom>
          <a:solidFill>
            <a:srgbClr val="0284C7"/>
          </a:solidFill>
          <a:ln w="6350"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87452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Catch fails before they happen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221992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Fail prediction and pre-emptive SSI and inventory fixes act before the cutoff.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990088"/>
            <a:ext cx="457200" cy="457200"/>
          </a:xfrm>
          <a:prstGeom prst="ellipse">
            <a:avLst/>
          </a:prstGeom>
          <a:solidFill>
            <a:srgbClr val="0284C7"/>
          </a:solidFill>
          <a:ln w="6350"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953512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Money and instructions stay human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3300984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SSI changes, payments and large borrows follow maker-checker rules. Agents only propose.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4069080"/>
            <a:ext cx="457200" cy="457200"/>
          </a:xfrm>
          <a:prstGeom prst="ellipse">
            <a:avLst/>
          </a:prstGeom>
          <a:solidFill>
            <a:srgbClr val="0284C7"/>
          </a:solidFill>
          <a:ln w="6350"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4032504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Reference data is a control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4379976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SSI, counterparty and instrument golden records address the data-driven share of fails.</a:t>
            </a:r>
            <a:pPr indent="0" marL="0">
              <a:buNone/>
            </a:pPr>
            <a:r>
              <a:rPr lang="en-US" sz="1150" baseline="30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97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48640" y="5148072"/>
            <a:ext cx="457200" cy="457200"/>
          </a:xfrm>
          <a:prstGeom prst="ellipse">
            <a:avLst/>
          </a:prstGeom>
          <a:solidFill>
            <a:srgbClr val="0284C7"/>
          </a:solidFill>
          <a:ln w="6350"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5111496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Resilient and auditable by design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5458968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Model failover, WORM archiving and end-to-end traces support DORA and records rules.</a:t>
            </a:r>
            <a:pPr indent="0" marL="0">
              <a:buNone/>
            </a:pPr>
            <a:r>
              <a:rPr lang="en-US" sz="1150" baseline="30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98,104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223760" y="1828800"/>
            <a:ext cx="4416552" cy="4370832"/>
          </a:xfrm>
          <a:prstGeom prst="roundRect">
            <a:avLst>
              <a:gd name="adj" fmla="val 167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98080" y="201168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NEXT STEP: A 90-DAY PILOT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239572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01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046720" y="241401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One market, one asset class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046720" y="2688336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For example EU fixed income ahead of October 2027, with fails and penalties baselined.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498080" y="32461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02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046720" y="32644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Predict and triage first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8046720" y="3538728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Fail scoring and break classification at Tier 2, analysts in the loop.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498080" y="40965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03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0" y="41148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Fix the SSI golden source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046720" y="4389120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MDM with maker-checker stewardship before agents touch instructions.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498080" y="494690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04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8046720" y="496519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Automate standard fixes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8046720" y="5239512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3 matching and borrows within limits once evaluations and controls pass.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7498080" y="57881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Confirm connector coverage for each venue.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Sources: endnotes 97, 98, 104.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What the settlement use case proves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47: What the settlement use case proves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