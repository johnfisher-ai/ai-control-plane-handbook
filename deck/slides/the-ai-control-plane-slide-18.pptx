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73" r:id="rId19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8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Relationship Id="rId5" Type="http://schemas.openxmlformats.org/officeDocument/2006/relationships/hyperlink" Target="https://johnfisher-ai.github.io/ai-control-plane-handbook/handbook/appendix-b.html" TargetMode="External"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6200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57200" y="4419600"/>
            <a:ext cx="5943600" cy="67056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Reference endnotes [50]–[57]. As Anthropic's July 2026 research showed, AI models can already find new attacks on a weakened version of a widely used cipher (AES) and on a candidate post-quantum scheme (HAWK), although neither affects encryption deployed today [54][55]. Agent traffic crosses clouds and services over TLS, and OMB's implementation memorandum already expects infrastructure that terminates TLS to support post-quantum key exchange and API gateways to issue and validate post-quantum-signed tokens [50], so plan the control plane's own migration to post-quantum cryptography (PQC) now.</a:t>
            </a:r>
          </a:p>
          <a:p>
            <a:pPr>
              <a:spcAft>
                <a:spcPts val="600"/>
              </a:spcAft>
            </a:pPr>
            <a:r>
              <a:rPr lang="en-US" dirty="0"/>
              <a:t>Policy context: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NSM-10 dates from May 2022. The mandate in force is the executive order "Securing the Nation Against Advanced Cryptographic Attacks," signed June 22, 2026: agencies must move high-value and high-impact systems to quantum-resistant key establishment by December 31, 2030 and to post-quantum digital signatures by December 31, 2031, and the order directs the FAR Council to propose, within 180 days, a rule requiring covered contractors to comply with NIST's post-quantum standards by the end of 2030 [51][52]. OMB Memorandum M-26-15 (June 24, 2026) sets out how agencies execute the migration [50]. NIST finalized FIPS 203 (ML-KEM), 204 (ML-DSA) and 205 (SLH-DSA) in August 2024 [53].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The New York Times [54] reported that Claude Mythos Preview found new attacks against a weakened, seven-round version of AES and against HAWK, a candidate post-quantum signature scheme, and that the AES attack is 200 to 800 times faster than the best earlier human-developed attack. Anthropic said the findings do not threaten deployed encryption [55]. The lesson is that AI is compressing the time between a theoretical weakness and a practical attack.</a:t>
            </a:r>
          </a:p>
          <a:p>
            <a:pPr>
              <a:spcAft>
                <a:spcPts val="600"/>
              </a:spcAft>
            </a:pPr>
            <a:r>
              <a:rPr lang="en-US" dirty="0"/>
              <a:t>Board context: post-quantum migration needs board oversight and cross-functional coordination, so it cannot be run as a narrow security-team initiative [56][57]. A 2026 board discussion guide in the NACD–ISA Director's Handbook on Cyber-Risk Oversight cites Bain research finding roughly 90% of companies unprepared for quantum threats, and an ISACA study finding only 4% with a defined quantum strategy [57].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18,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dirty="0"/>
              <a:t>Bracketed numbers in these notes, and endnote numbers on the slide, refer to the endnotes in Appendix B of The AI Control Plane Handbook: </a:t>
            </a:r>
            <a:r>
              <a:rPr lang="en-US" dirty="0">
                <a:hlinkClick r:id="rId5"/>
              </a:rPr>
              <a:t>https://johnfisher-ai.github.io/ai-control-plane-handbook/handbook/appendix-b.html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6200" y="11430000"/>
            <a:ext cx="2514600" cy="457200"/>
          </a:xfrm>
        </p:spPr>
        <p:txBody>
          <a:bodyPr/>
          <a:lstStyle/>
          <a:p>
            <a:r>
              <a:rPr lang="en-US"/>
              <a:t>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ENDNOTE DEEP DIVE  •  CRYPTOGRAPHIC TRUST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Modernize the cryptographic foundation now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Quantum risk now has a deadline, and AI is accelerating cryptanalysis. Treat post-quantum migration as part of the build-now foundation for digital trust.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F0F9FF"/>
          </a:solidFill>
          <a:ln w="6350">
            <a:solidFill>
              <a:srgbClr val="F0F9FF"/>
            </a:solidFill>
            <a:prstDash val="solid"/>
          </a:ln>
        </p:spPr>
      </p:sp>
      <p:pic>
        <p:nvPicPr>
          <p:cNvPr id="7" name="Icon 0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210562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194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Harvest now, decrypt later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Adversaries can store encrypted data today and decrypt it once quantum capability arrives. Asymmetric cryptography (RSA, ECC) is the exposure.</a:t>
            </a:r>
            <a:pPr indent="0" marL="0">
              <a:buNone/>
            </a:pPr>
            <a:r>
              <a:rPr lang="en-US" sz="1100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1,50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25112" y="187452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084832"/>
            <a:ext cx="502920" cy="502920"/>
          </a:xfrm>
          <a:prstGeom prst="ellipse">
            <a:avLst/>
          </a:prstGeom>
          <a:solidFill>
            <a:srgbClr val="F0F9FF"/>
          </a:solidFill>
          <a:ln w="6350">
            <a:solidFill>
              <a:srgbClr val="F0F9FF"/>
            </a:solidFill>
            <a:prstDash val="solid"/>
          </a:ln>
        </p:spPr>
      </p:sp>
      <p:pic>
        <p:nvPicPr>
          <p:cNvPr id="12" name="Icon 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162" y="221056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39512" y="2194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deadline is set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27432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June 22, 2026 US executive order sets end-2030 (key establishment) and end-2031 (signatures) for federal high-value and high-impact systems, and calls for a rule giving covered contractors until end-2030.</a:t>
            </a:r>
            <a:pPr indent="0" marL="0">
              <a:buNone/>
            </a:pPr>
            <a:r>
              <a:rPr lang="en-US" sz="1100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51,52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01584" y="1874520"/>
            <a:ext cx="353872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75904" y="2084832"/>
            <a:ext cx="502920" cy="502920"/>
          </a:xfrm>
          <a:prstGeom prst="ellipse">
            <a:avLst/>
          </a:prstGeom>
          <a:solidFill>
            <a:srgbClr val="F0F9FF"/>
          </a:solidFill>
          <a:ln w="6350">
            <a:solidFill>
              <a:srgbClr val="F0F9FF"/>
            </a:solidFill>
            <a:prstDash val="solid"/>
          </a:ln>
        </p:spPr>
      </p:sp>
      <p:pic>
        <p:nvPicPr>
          <p:cNvPr id="17" name="Icon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634" y="221056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15984" y="2194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accelerates cryptanalysis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375904" y="27432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July 2026 Anthropic reported that Claude Mythos Preview found new attacks on weakened AES and the candidate HAWK signature scheme, but deployed standards were not affected.</a:t>
            </a:r>
            <a:r>
              <a:rPr lang="en-US" sz="1100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54,55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BOARD-LEVEL ACTION PLAN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4709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49808" y="4864608"/>
            <a:ext cx="365760" cy="365760"/>
          </a:xfrm>
          <a:prstGeom prst="ellipse">
            <a:avLst/>
          </a:prstGeom>
          <a:solidFill>
            <a:srgbClr val="38BDF8"/>
          </a:solidFill>
          <a:ln w="635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1234440" y="490118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749808" y="53218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Map where asymmetric encryption protects data, APIs and agent traffic.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364992" y="4709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566160" y="4864608"/>
            <a:ext cx="365760" cy="365760"/>
          </a:xfrm>
          <a:prstGeom prst="ellipse">
            <a:avLst/>
          </a:prstGeom>
          <a:solidFill>
            <a:srgbClr val="38BDF8"/>
          </a:solidFill>
          <a:ln w="635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4050792" y="490118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3566160" y="53218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Start with the most critical data, transactions and long-lived secrets.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181344" y="4709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82512" y="4864608"/>
            <a:ext cx="365760" cy="365760"/>
          </a:xfrm>
          <a:prstGeom prst="ellipse">
            <a:avLst/>
          </a:prstGeom>
          <a:solidFill>
            <a:srgbClr val="38BDF8"/>
          </a:solidFill>
          <a:ln w="635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6867144" y="490118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Migrate in phases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382512" y="53218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Adopt NIST ML-KEM and ML-DSA. Build crypto-agility into gateways.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997696" y="4709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198864" y="4864608"/>
            <a:ext cx="365760" cy="365760"/>
          </a:xfrm>
          <a:prstGeom prst="ellipse">
            <a:avLst/>
          </a:prstGeom>
          <a:solidFill>
            <a:srgbClr val="38BDF8"/>
          </a:solidFill>
          <a:ln w="635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9683496" y="490118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Govern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9198864" y="53218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Board oversight, a named migration lead and quarterly progress tracking.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Sources: endnotes 1, 50–57.</a:t>
            </a:r>
            <a:endParaRPr lang="en-US" sz="850" dirty="0"/>
          </a:p>
        </p:txBody>
      </p:sp>
      <p:sp>
        <p:nvSpPr>
          <p:cNvPr id="38" name="Text 33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Modernize the cryptographic foundation now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18: Modernize the cryptographic foundation now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