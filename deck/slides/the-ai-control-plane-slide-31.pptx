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86" r:id="rId32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32" Type="http://schemas.openxmlformats.org/officeDocument/2006/relationships/slide" Target="slides/slide31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/Relationship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Walk the six stages left to right. For each, point to the human step (amber), the agent and its autonomy tier (blue), and the governed path underneath: every agent reaches its system of record only through the control plane and a governed MCP tool or API.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Verbal win: the CRM event starts the Launch Orchestrator, which posts a launch plan to the engagement manager.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Accept client: the Entity Resolution agent matches the client to its MDM golden record and corporate hierarchy (read-only).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Risk clearance: the Conflicts &amp; Independence agent assembles findings and precedent. Risk &amp; Quality decides (Tier 1).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Scope &amp; price: the letter is drafted from approved clauses. The budget comes from SAP rate cards and Snowflake actuals. The manager edits.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Staff team: a proposal from Workday skills and availability plus a yes/no independence-clearance flag. The manager confirms.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Approve &amp; set up: partner approval and client signature open the gate. Only then does the Setup agent write to SAP S/4HANA (Tier 3, policy-gated).</a:t>
            </a:r>
          </a:p>
          <a:p>
            <a:pPr>
              <a:spcAft>
                <a:spcPts val="600"/>
              </a:spcAft>
            </a:pPr>
            <a:r>
              <a:rPr lang="en-US" dirty="0"/>
              <a:t>The outcome to land: verbal win to ready-to-charge in about two days instead of two weeks (illustrative), with every independence decision made by a person, before work starts, with evidence attached.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31,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31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CASE 1  •  AT A GLANCE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Each launch stage and the systems it touches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STAGE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PEOPLE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4203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CONTROL PLANE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3251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MCP / API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9651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SYSTEM OF RECORD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605272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OUTCOME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764792" y="1325880"/>
            <a:ext cx="1697736" cy="566928"/>
          </a:xfrm>
          <a:prstGeom prst="chevron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Verbal win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56232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01952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Manager sees launch plan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856232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901952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Launch Orchestrator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Supervisor • Tier 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604516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604516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856232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CRM MCP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604516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856232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CRM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07664" y="1325880"/>
            <a:ext cx="1697736" cy="566928"/>
          </a:xfrm>
          <a:prstGeom prst="chevron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Accept client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99104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44824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human step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499104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3544824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Entity Resolution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2 • read-only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47388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247388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3499104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MDM MCP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47388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3499104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Client master (MDM)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50536" y="1325880"/>
            <a:ext cx="1697736" cy="566928"/>
          </a:xfrm>
          <a:prstGeom prst="chevron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Risk clearance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141976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87696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Risk decides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141976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5187696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Conflicts &amp; Independence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1 • assist only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890260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890260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5141976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Independence API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890260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141976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Independence system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93408" y="1325880"/>
            <a:ext cx="1697736" cy="566928"/>
          </a:xfrm>
          <a:prstGeom prst="chevron">
            <a:avLst/>
          </a:prstGeom>
          <a:solidFill>
            <a:srgbClr val="075985"/>
          </a:solidFill>
          <a:ln>
            <a:solidFill>
              <a:srgbClr val="07598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Scope &amp; price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784848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30568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Manager edits letter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784848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830568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Scoping &amp; Pricing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1–2 • drafts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533132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7533132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6784848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Knowledge &amp; SAP MCP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533132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6784848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DMS • SAP • Snowflake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336280" y="1325880"/>
            <a:ext cx="1697736" cy="566928"/>
          </a:xfrm>
          <a:prstGeom prst="chevron">
            <a:avLst/>
          </a:prstGeom>
          <a:solidFill>
            <a:srgbClr val="0C4A6E"/>
          </a:solidFill>
          <a:ln>
            <a:solidFill>
              <a:srgbClr val="0C4A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Staff team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8427720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473440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Manager confirms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8427720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473440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Staffing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2 • proposes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9176004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9176004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58" name="Text 56"/>
          <p:cNvSpPr/>
          <p:nvPr/>
        </p:nvSpPr>
        <p:spPr>
          <a:xfrm>
            <a:off x="8427720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Workday MCP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9176004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60" name="Text 58"/>
          <p:cNvSpPr/>
          <p:nvPr/>
        </p:nvSpPr>
        <p:spPr>
          <a:xfrm>
            <a:off x="8427720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Workday HCM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979152" y="1325880"/>
            <a:ext cx="1697736" cy="566928"/>
          </a:xfrm>
          <a:prstGeom prst="chevron">
            <a:avLst/>
          </a:prstGeom>
          <a:solidFill>
            <a:srgbClr val="082F49"/>
          </a:solidFill>
          <a:ln>
            <a:solidFill>
              <a:srgbClr val="082F4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Approve &amp;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set up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10070592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116312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Partner approves • client signs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10070592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10116312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Engagement Setup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3 • gated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10818876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10818876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10070592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SAP MCP (write)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10818876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70" name="Text 68"/>
          <p:cNvSpPr/>
          <p:nvPr/>
        </p:nvSpPr>
        <p:spPr>
          <a:xfrm>
            <a:off x="10070592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SAP S/4HANA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1783080" y="3593592"/>
            <a:ext cx="9857232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965960" y="3593592"/>
            <a:ext cx="9491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Enterprise AI control plane: registry • AI gateway (LLM, MCP, A2A) • policy • agent identity • evals • cost • observability</a:t>
            </a:r>
            <a:endParaRPr lang="en-US" sz="1150" dirty="0"/>
          </a:p>
        </p:txBody>
      </p:sp>
      <p:sp>
        <p:nvSpPr>
          <p:cNvPr id="73" name="Shape 71"/>
          <p:cNvSpPr/>
          <p:nvPr/>
        </p:nvSpPr>
        <p:spPr>
          <a:xfrm>
            <a:off x="1783080" y="5605272"/>
            <a:ext cx="9857232" cy="566928"/>
          </a:xfrm>
          <a:prstGeom prst="roundRect">
            <a:avLst>
              <a:gd name="adj" fmla="val 9677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2011680" y="5605272"/>
            <a:ext cx="9400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532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Verbal win to ready-to-charge in about 2 days instead of 2 weeks, with every independence decision made by a person, before work starts</a:t>
            </a:r>
            <a:endParaRPr lang="en-US" sz="125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Illustrative. Amber = human decision. Blue = agent and autonomy tier. Every call passes through the control plane.</a:t>
            </a:r>
            <a:endParaRPr lang="en-US" sz="850" dirty="0"/>
          </a:p>
        </p:txBody>
      </p:sp>
      <p:sp>
        <p:nvSpPr>
          <p:cNvPr id="76" name="Text 74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Each launch stage and the systems it touches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31: Each launch stage and the systems it touches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