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63" r:id="rId9"/>
  </p:sldIdLst>
  <p:notesMasterIdLst>
    <p:notesMasterId r:id="rId68"/>
  </p:notesMasterIdLst>
  <p:sldSz cx="12192000" cy="6858000"/>
  <p:notesSz cx="6858000" cy="12192000"/>
  <p:embeddedFontLst>
    <p:embeddedFont>
      <p:font typeface="Plus Jakarta Sans"/>
      <p:regular r:id="rId73"/>
      <p:bold r:id="rId74"/>
      <p:italic r:id="rId7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8.xml"/><Relationship Id="rId68" Type="http://schemas.openxmlformats.org/officeDocument/2006/relationships/notesMaster" Target="notesMasters/notesMaster1.xml"/><Relationship Id="rId69" Type="http://schemas.openxmlformats.org/officeDocument/2006/relationships/presProps" Target="presProps.xml"/><Relationship Id="rId70" Type="http://schemas.openxmlformats.org/officeDocument/2006/relationships/viewProps" Target="viewProps.xml"/><Relationship Id="rId71" Type="http://schemas.openxmlformats.org/officeDocument/2006/relationships/theme" Target="theme/theme1.xml"/><Relationship Id="rId72" Type="http://schemas.openxmlformats.org/officeDocument/2006/relationships/tableStyles" Target="tableStyles.xml"/><Relationship Id="rId73" Type="http://schemas.openxmlformats.org/officeDocument/2006/relationships/font" Target="fonts/e1a8fda2-a427-4cdb-9ef2-8a6782d58009.fntdata"/><Relationship Id="rId74" Type="http://schemas.openxmlformats.org/officeDocument/2006/relationships/font" Target="fonts/9542d0bb-6ad7-45dd-89ef-a406bd0490d1.fntdata"/><Relationship Id="rId75" Type="http://schemas.openxmlformats.org/officeDocument/2006/relationships/font" Target="fonts/f16f000a-8ac0-4436-b98c-e748fe425de0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Relationship Id="rId3" Type="http://schemas.openxmlformats.org/officeDocument/2006/relationships/hyperlink" Target="https://creativecommons.org/licenses/by-nc-nd/4.0/" TargetMode="External"/><Relationship Id="rId4" Type="http://schemas.openxmlformats.org/officeDocument/2006/relationships/hyperlink" Target="https://johnfisher-ai.github.io/ai-control-plane-handbook/deck/" TargetMode="External"/><Relationship Id="rId5" Type="http://schemas.openxmlformats.org/officeDocument/2006/relationships/hyperlink" Target="https://johnfisher-ai.github.io/ai-control-plane-handbook/handbook/appendix-b.html" TargetMode="External"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62000"/>
            <a:ext cx="5943600" cy="3343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457200" y="4419600"/>
            <a:ext cx="5943600" cy="67056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Recertification and retirement are the stages most programs skip. The registry and the kill switch are already in the design. This slide makes the whole lifecycle explicit, with the control-plane capability that enforces each stage.</a:t>
            </a:r>
          </a:p>
          <a:p>
            <a:pPr marL="228600" indent="-228600">
              <a:spcAft>
                <a:spcPts val="300"/>
              </a:spcAft>
              <a:buFont typeface="+mj-lt"/>
              <a:buAutoNum type="arabicPeriod" startAt="1"/>
            </a:pPr>
            <a:r>
              <a:rPr lang="en-US" dirty="0"/>
              <a:t>Propose: a business owner names the use case, the expected value and the autonomy tier requested. Intake happens in the agent registry.</a:t>
            </a:r>
          </a:p>
          <a:p>
            <a:pPr marL="228600" indent="-228600">
              <a:spcAft>
                <a:spcPts val="300"/>
              </a:spcAft>
              <a:buFont typeface="+mj-lt"/>
              <a:buAutoNum type="arabicPeriod" startAt="2"/>
            </a:pPr>
            <a:r>
              <a:rPr lang="en-US" dirty="0"/>
              <a:t>Register and onboard: the agent gets an owner and a sponsor, a risk tier, a system card and its own identity.</a:t>
            </a:r>
          </a:p>
          <a:p>
            <a:pPr marL="228600" indent="-228600">
              <a:spcAft>
                <a:spcPts val="300"/>
              </a:spcAft>
              <a:buFont typeface="+mj-lt"/>
              <a:buAutoNum type="arabicPeriod" startAt="3"/>
            </a:pPr>
            <a:r>
              <a:rPr lang="en-US" dirty="0"/>
              <a:t>Evaluate: it is tested against its success criteria and a red-team suite before it acts.</a:t>
            </a:r>
          </a:p>
          <a:p>
            <a:pPr marL="228600" indent="-228600">
              <a:spcAft>
                <a:spcPts val="300"/>
              </a:spcAft>
              <a:buFont typeface="+mj-lt"/>
              <a:buAutoNum type="arabicPeriod" startAt="4"/>
            </a:pPr>
            <a:r>
              <a:rPr lang="en-US" dirty="0"/>
              <a:t>Promote: it moves up a tier only on evidence (see the tier slides).</a:t>
            </a:r>
          </a:p>
          <a:p>
            <a:pPr marL="228600" indent="-228600">
              <a:spcAft>
                <a:spcPts val="300"/>
              </a:spcAft>
              <a:buFont typeface="+mj-lt"/>
              <a:buAutoNum type="arabicPeriod" startAt="5"/>
            </a:pPr>
            <a:r>
              <a:rPr lang="en-US" dirty="0"/>
              <a:t>Operate and monitor: its traffic, cost and behavior are observed and limited by the gateway and observability.</a:t>
            </a:r>
          </a:p>
          <a:p>
            <a:pPr marL="228600" indent="-228600">
              <a:spcAft>
                <a:spcPts val="300"/>
              </a:spcAft>
              <a:buFont typeface="+mj-lt"/>
              <a:buAutoNum type="arabicPeriod" startAt="6"/>
            </a:pPr>
            <a:r>
              <a:rPr lang="en-US" dirty="0"/>
              <a:t>Recertify: on a schedule, its sponsor confirms it is still needed, in the right tier and with the right permissions.</a:t>
            </a:r>
          </a:p>
          <a:p>
            <a:pPr marL="228600" indent="-228600">
              <a:spcAft>
                <a:spcPts val="300"/>
              </a:spcAft>
              <a:buFont typeface="+mj-lt"/>
              <a:buAutoNum type="arabicPeriod" startAt="7"/>
            </a:pPr>
            <a:r>
              <a:rPr lang="en-US" dirty="0"/>
              <a:t>Retire: credentials revoked, tools unbound, records kept.</a:t>
            </a:r>
          </a:p>
          <a:p>
            <a:pPr>
              <a:spcAft>
                <a:spcPts val="600"/>
              </a:spcAft>
            </a:pPr>
            <a:r>
              <a:rPr lang="en-US" dirty="0"/>
              <a:t>Research: Deloitte's Tech Trends 2026 recommends managing agents much like a workforce, with onboarding, digital identities, immutable logs of every action, human supervisors at key decision points and, eventually, retirement planning [13]. Microsoft's Cloud Adoption Framework calls for a centralized agent governance layer that enforces consistent identity, ownership, access control and continuous monitoring for all agents [14]. Microsoft Entra Agent ID moves sponsorship automatically when a sponsor changes roles or leaves, to prevent orphaned agents [12].</a:t>
            </a:r>
          </a:p>
          <a:p>
            <a:pPr>
              <a:spcAft>
                <a:spcPts val="600"/>
              </a:spcAft>
            </a:pPr>
            <a:r>
              <a:rPr lang="en-US" dirty="0"/>
              <a:t>Credit: John Fisher, The AI Control Plane: Executive Briefing (2026), slide 8, licensed under CC BY-NC-ND 4.0: </a:t>
            </a:r>
            <a:r>
              <a:rPr lang="en-US" dirty="0">
                <a:hlinkClick r:id="rId3"/>
              </a:rPr>
              <a:t>https://creativecommons.org/licenses/by-nc-nd/4.0/</a:t>
            </a:r>
            <a:r>
              <a:rPr lang="en-US" dirty="0"/>
              <a:t>. The full deck, with its speaker notes and notices: </a:t>
            </a:r>
            <a:r>
              <a:rPr lang="en-US" dirty="0">
                <a:hlinkClick r:id="rId4"/>
              </a:rPr>
              <a:t>https://johnfisher-ai.github.io/ai-control-plane-handbook/deck/</a:t>
            </a:r>
            <a:r>
              <a:rPr lang="en-US" dirty="0"/>
              <a:t>.</a:t>
            </a:r>
          </a:p>
          <a:p>
            <a:pPr>
              <a:spcAft>
                <a:spcPts val="600"/>
              </a:spcAft>
            </a:pPr>
            <a:r>
              <a:rPr lang="en-US" dirty="0"/>
              <a:t>Bracketed numbers in these notes, and endnote numbers on the slide, refer to the endnotes in Appendix B of The AI Control Plane Handbook: </a:t>
            </a:r>
            <a:r>
              <a:rPr lang="en-US" dirty="0">
                <a:hlinkClick r:id="rId5"/>
              </a:rPr>
              <a:t>https://johnfisher-ai.github.io/ai-control-plane-handbook/handbook/appendix-b.html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6200" y="11430000"/>
            <a:ext cx="2514600" cy="457200"/>
          </a:xfrm>
        </p:spPr>
        <p:txBody>
          <a:bodyPr/>
          <a:lstStyle/>
          <a:p>
            <a:r>
              <a:rPr lang="en-US"/>
              <a:t>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284C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DEFINITION  •  AGENT LIFECYCLE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Manage every agent through a lifecycle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161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Agents need the discipline applied to people and systems: onboarding, identity, supervision, review and, eventually, retirement. The control plane enforces each stage.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21208" y="1847088"/>
            <a:ext cx="1561011" cy="438912"/>
          </a:xfrm>
          <a:prstGeom prst="chevron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1506147" cy="2487168"/>
          </a:xfrm>
          <a:prstGeom prst="roundRect">
            <a:avLst>
              <a:gd name="adj" fmla="val 48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76656" y="2560320"/>
            <a:ext cx="12684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Propose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76656" y="3090672"/>
            <a:ext cx="126840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business owner names the use case, the value expected and the tier requested.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4206240"/>
            <a:ext cx="1323267" cy="603504"/>
          </a:xfrm>
          <a:prstGeom prst="roundRect">
            <a:avLst>
              <a:gd name="adj" fmla="val 12121"/>
            </a:avLst>
          </a:prstGeom>
          <a:solidFill>
            <a:srgbClr val="F0F9FF"/>
          </a:solidFill>
          <a:ln w="9525">
            <a:solidFill>
              <a:srgbClr val="E0F2F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4944" y="4224528"/>
            <a:ext cx="12135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Registry intake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118795" y="1847088"/>
            <a:ext cx="1561011" cy="438912"/>
          </a:xfrm>
          <a:prstGeom prst="chevron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46227" y="2423160"/>
            <a:ext cx="1506147" cy="2487168"/>
          </a:xfrm>
          <a:prstGeom prst="roundRect">
            <a:avLst>
              <a:gd name="adj" fmla="val 48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274243" y="2560320"/>
            <a:ext cx="12684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Register &amp; onboard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274243" y="3090672"/>
            <a:ext cx="126840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Owner and sponsor, risk tier, system card and its own identity.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37667" y="4206240"/>
            <a:ext cx="1323267" cy="603504"/>
          </a:xfrm>
          <a:prstGeom prst="roundRect">
            <a:avLst>
              <a:gd name="adj" fmla="val 12121"/>
            </a:avLst>
          </a:prstGeom>
          <a:solidFill>
            <a:srgbClr val="F0F9FF"/>
          </a:solidFill>
          <a:ln w="9525">
            <a:solidFill>
              <a:srgbClr val="E0F2F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292531" y="4224528"/>
            <a:ext cx="12135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Registry and identity service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716383" y="1847088"/>
            <a:ext cx="1561011" cy="438912"/>
          </a:xfrm>
          <a:prstGeom prst="chevron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743815" y="2423160"/>
            <a:ext cx="1506147" cy="2487168"/>
          </a:xfrm>
          <a:prstGeom prst="roundRect">
            <a:avLst>
              <a:gd name="adj" fmla="val 48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3871831" y="2560320"/>
            <a:ext cx="12684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Evaluate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871831" y="3090672"/>
            <a:ext cx="126840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Tested against success criteria and a red-team suite before it acts.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835255" y="4206240"/>
            <a:ext cx="1323267" cy="603504"/>
          </a:xfrm>
          <a:prstGeom prst="roundRect">
            <a:avLst>
              <a:gd name="adj" fmla="val 12121"/>
            </a:avLst>
          </a:prstGeom>
          <a:solidFill>
            <a:srgbClr val="F0F9FF"/>
          </a:solidFill>
          <a:ln w="9525">
            <a:solidFill>
              <a:srgbClr val="E0F2F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890119" y="4224528"/>
            <a:ext cx="12135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Evaluation service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313970" y="1847088"/>
            <a:ext cx="1561011" cy="438912"/>
          </a:xfrm>
          <a:prstGeom prst="chevron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341402" y="2423160"/>
            <a:ext cx="1506147" cy="2487168"/>
          </a:xfrm>
          <a:prstGeom prst="roundRect">
            <a:avLst>
              <a:gd name="adj" fmla="val 48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5469418" y="2560320"/>
            <a:ext cx="12684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Promote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469418" y="3090672"/>
            <a:ext cx="126840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Moves up a tier only on evidence.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32842" y="4206240"/>
            <a:ext cx="1323267" cy="603504"/>
          </a:xfrm>
          <a:prstGeom prst="roundRect">
            <a:avLst>
              <a:gd name="adj" fmla="val 12121"/>
            </a:avLst>
          </a:prstGeom>
          <a:solidFill>
            <a:srgbClr val="F0F9FF"/>
          </a:solidFill>
          <a:ln w="9525">
            <a:solidFill>
              <a:srgbClr val="E0F2F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7706" y="4224528"/>
            <a:ext cx="12135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Registry tier and gateway policy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911558" y="1847088"/>
            <a:ext cx="1561011" cy="438912"/>
          </a:xfrm>
          <a:prstGeom prst="chevron">
            <a:avLst/>
          </a:prstGeom>
          <a:solidFill>
            <a:srgbClr val="0369A1"/>
          </a:solidFill>
          <a:ln>
            <a:solidFill>
              <a:srgbClr val="0369A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05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938990" y="2423160"/>
            <a:ext cx="1506147" cy="2487168"/>
          </a:xfrm>
          <a:prstGeom prst="roundRect">
            <a:avLst>
              <a:gd name="adj" fmla="val 48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7067006" y="2560320"/>
            <a:ext cx="12684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Operate &amp; monitor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7067006" y="3090672"/>
            <a:ext cx="126840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Traffic, cost and behavior observed and limited.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030430" y="4206240"/>
            <a:ext cx="1323267" cy="603504"/>
          </a:xfrm>
          <a:prstGeom prst="roundRect">
            <a:avLst>
              <a:gd name="adj" fmla="val 12121"/>
            </a:avLst>
          </a:prstGeom>
          <a:solidFill>
            <a:srgbClr val="F0F9FF"/>
          </a:solidFill>
          <a:ln w="9525">
            <a:solidFill>
              <a:srgbClr val="E0F2F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085294" y="4224528"/>
            <a:ext cx="12135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Gateway, observability, cost controls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509145" y="1847088"/>
            <a:ext cx="1561011" cy="438912"/>
          </a:xfrm>
          <a:prstGeom prst="chevron">
            <a:avLst/>
          </a:prstGeom>
          <a:solidFill>
            <a:srgbClr val="0369A1"/>
          </a:solidFill>
          <a:ln>
            <a:solidFill>
              <a:srgbClr val="0369A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536577" y="2423160"/>
            <a:ext cx="1506147" cy="2487168"/>
          </a:xfrm>
          <a:prstGeom prst="roundRect">
            <a:avLst>
              <a:gd name="adj" fmla="val 48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8664593" y="2560320"/>
            <a:ext cx="12684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Recertify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8664593" y="3090672"/>
            <a:ext cx="126840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 a schedule, the sponsor confirms it is still needed, in the right tier, with the right permissions.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628017" y="4206240"/>
            <a:ext cx="1323267" cy="603504"/>
          </a:xfrm>
          <a:prstGeom prst="roundRect">
            <a:avLst>
              <a:gd name="adj" fmla="val 12121"/>
            </a:avLst>
          </a:prstGeom>
          <a:solidFill>
            <a:srgbClr val="F0F9FF"/>
          </a:solidFill>
          <a:ln w="9525">
            <a:solidFill>
              <a:srgbClr val="E0F2F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682881" y="4224528"/>
            <a:ext cx="12135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Registry review workflow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0106733" y="1847088"/>
            <a:ext cx="1561011" cy="438912"/>
          </a:xfrm>
          <a:prstGeom prst="chevron">
            <a:avLst/>
          </a:prstGeom>
          <a:solidFill>
            <a:srgbClr val="075985"/>
          </a:solidFill>
          <a:ln>
            <a:solidFill>
              <a:srgbClr val="075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07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0134165" y="2423160"/>
            <a:ext cx="1506147" cy="2487168"/>
          </a:xfrm>
          <a:prstGeom prst="roundRect">
            <a:avLst>
              <a:gd name="adj" fmla="val 48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10262181" y="2560320"/>
            <a:ext cx="12684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Retire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10262181" y="3090672"/>
            <a:ext cx="126840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Credentials revoked, tools unbound, records kept.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0225605" y="4206240"/>
            <a:ext cx="1323267" cy="603504"/>
          </a:xfrm>
          <a:prstGeom prst="roundRect">
            <a:avLst>
              <a:gd name="adj" fmla="val 12121"/>
            </a:avLst>
          </a:prstGeom>
          <a:solidFill>
            <a:srgbClr val="F0F9FF"/>
          </a:solidFill>
          <a:ln w="9525">
            <a:solidFill>
              <a:srgbClr val="E0F2F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280469" y="4224528"/>
            <a:ext cx="12135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Identity revocation and audit logs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48640" y="5102352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22960" y="519379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Agents without an owner are the ones that linger.  </a:t>
            </a:r>
            <a:r>
              <a:rPr lang="en-US" sz="11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Assign a sponsor at registration and move sponsorship when people change roles. Microsoft Entra Agent ID does this automatically to prevent orphaned agents.</a:t>
            </a:r>
            <a:r>
              <a:rPr lang="en-US" sz="1150" baseline="300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12</a:t>
            </a:r>
            <a:endParaRPr lang="en-US" sz="1150" dirty="0"/>
          </a:p>
        </p:txBody>
      </p:sp>
      <p:sp>
        <p:nvSpPr>
          <p:cNvPr id="49" name="Text 47"/>
          <p:cNvSpPr txBox="1"/>
          <p:nvPr/>
        </p:nvSpPr>
        <p:spPr>
          <a:xfrm>
            <a:off x="822960" y="56692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Research signal:  </a:t>
            </a:r>
            <a:r>
              <a:rPr lang="en-US" sz="105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manage agents much like a workforce, with onboarding, digital identity, immutable logs, human supervisors and retirement planning.</a:t>
            </a:r>
            <a:r>
              <a:rPr lang="en-US" sz="1050" baseline="3000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13</a:t>
            </a:r>
            <a:r>
              <a:rPr lang="en-US" sz="105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Put identity, ownership, access and monitoring under one governance layer.</a:t>
            </a:r>
            <a:r>
              <a:rPr lang="en-US" sz="1050" baseline="3000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14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548640" y="638251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Sources: endnotes 12–14.</a:t>
            </a:r>
            <a:endParaRPr lang="en-US" sz="850" dirty="0"/>
          </a:p>
        </p:txBody>
      </p:sp>
      <p:sp>
        <p:nvSpPr>
          <p:cNvPr id="51" name="Text 49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Manage every agent through a lifecycle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AI Control Plane, slide 8: Manage every agent through a lifecycle</dc:title>
  <dc:subject>One slide from The AI Control Plane: Executive Briefing, by John Fisher (2026), CC BY-NC-ND 4.0</dc:subject>
  <dc:creator>John Fisher</dc:creator>
  <cp:lastModifiedBy>John Fisher</cp:lastModifiedBy>
  <cp:revision>1</cp:revision>
  <dcterms:created xsi:type="dcterms:W3CDTF">2026-10-14T20:43:52Z</dcterms:created>
  <dcterms:modified xsi:type="dcterms:W3CDTF">2026-10-14T20:43:52Z</dcterms:modified>
</cp:coreProperties>
</file>