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95" r:id="rId41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1" Type="http://schemas.openxmlformats.org/officeDocument/2006/relationships/slide" Target="slides/slide40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/Relationship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Walk the six post-trade stages left to right, pointing to the human decision (amber), the agent and its tier (blue), and the governed path to each system.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Execute &amp; book: the Fail Prediction agent scores every trade's probability of failing as it is booked (Tier 2: scores only).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Allocate &amp; confirm: the Matching &amp; Allocation agent fixes breaks within tolerances (Tier 3). Anything out of tolerance goes to an analyst.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Affirm by cutoff: the SSI &amp; Reference Data agent validates instructions against the SSI golden source and proposes corrections. Changes need maker-checker approval (Tier 1).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Fund &amp; source: the Inventory &amp; Funding agent books internal borrows or funding within limits (Tier 3). Above limits, the desk approves.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Resolve &amp; notify: the Counterparty Communications agent sends templated queries (Tier 2). Non-standard messages go to an analyst.</a:t>
            </a:r>
          </a:p>
          <a:p>
            <a:pPr marL="228600" indent="-228600">
              <a:spcAft>
                <a:spcPts val="300"/>
              </a:spcAft>
              <a:buFont typeface="Arial"/>
              <a:buChar char="•"/>
            </a:pPr>
            <a:r>
              <a:rPr lang="en-US" dirty="0"/>
              <a:t>Settle &amp; account: the Penalty &amp; Accounting agent posts fail-cost accruals to SAP S/4HANA (Tier 3) for controller review.</a:t>
            </a:r>
          </a:p>
          <a:p>
            <a:pPr>
              <a:spcAft>
                <a:spcPts val="600"/>
              </a:spcAft>
            </a:pPr>
            <a:r>
              <a:rPr lang="en-US" dirty="0"/>
              <a:t>Note the orchestration choice in the band: the Settlement Orchestrator runs in a dedicated operations tier, federated under the enterprise control plane.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40,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40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2  •  AT A GLANCE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trade lifecycle from execution to settlement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PEOPLE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4203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 PLANE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32511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MCP / API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651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SYSTEM OF RECORD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0527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OUTCOME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764792" y="1325880"/>
            <a:ext cx="1697736" cy="566928"/>
          </a:xfrm>
          <a:prstGeom prst="chevron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Execute &amp; book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56232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901952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human step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856232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901952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 Prediction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scores only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04516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04516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856232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Booking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4516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856232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OMS &amp; booking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07664" y="1325880"/>
            <a:ext cx="1697736" cy="566928"/>
          </a:xfrm>
          <a:prstGeom prst="chevron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Allocate &amp; confirm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99104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4824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Analyst: out of tolerance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99104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544824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Matching &amp; Allocation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• in tolerance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47388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247388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499104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Matching MCP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47388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499104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Matching platform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50536" y="1325880"/>
            <a:ext cx="1697736" cy="566928"/>
          </a:xfrm>
          <a:prstGeom prst="chevron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Affirm by cutoff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41976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87696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Maker-checker SSI approval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41976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187696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SSI &amp; Reference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1 • proposes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890260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890260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5141976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SSI golden source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890260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141976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 data MDM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93408" y="1325880"/>
            <a:ext cx="1697736" cy="566928"/>
          </a:xfrm>
          <a:prstGeom prst="chevron">
            <a:avLst/>
          </a:prstGeom>
          <a:solidFill>
            <a:srgbClr val="075985"/>
          </a:solidFill>
          <a:ln>
            <a:solidFill>
              <a:srgbClr val="07598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Fund &amp; source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84848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830568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Desk: above limits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84848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6830568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Inventory &amp; Funding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• within limits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533132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533132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784848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Positions &amp; lending API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33132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784848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Custody &amp; lending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36280" y="1325880"/>
            <a:ext cx="1697736" cy="566928"/>
          </a:xfrm>
          <a:prstGeom prst="chevron">
            <a:avLst/>
          </a:prstGeom>
          <a:solidFill>
            <a:srgbClr val="0C4A6E"/>
          </a:solidFill>
          <a:ln>
            <a:solidFill>
              <a:srgbClr val="0C4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Resolve &amp; notify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27720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73440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Analyst: non-standard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427720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 txBox="1"/>
          <p:nvPr/>
        </p:nvSpPr>
        <p:spPr>
          <a:xfrm>
            <a:off x="8473440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Counterparty Comms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2 • templates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176004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176004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8427720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Email &amp; SWIFT gateway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9176004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8427720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SWIFT &amp; email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979152" y="1325880"/>
            <a:ext cx="1697736" cy="566928"/>
          </a:xfrm>
          <a:prstGeom prst="chevron">
            <a:avLst/>
          </a:prstGeom>
          <a:solidFill>
            <a:srgbClr val="082F49"/>
          </a:solidFill>
          <a:ln>
            <a:solidFill>
              <a:srgbClr val="082F4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Settle &amp; account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10070592" y="2011680"/>
            <a:ext cx="1496568" cy="402336"/>
          </a:xfrm>
          <a:prstGeom prst="roundRect">
            <a:avLst>
              <a:gd name="adj" fmla="val 13636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116312" y="2011680"/>
            <a:ext cx="1405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Controller review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0070592" y="2542032"/>
            <a:ext cx="1496568" cy="822960"/>
          </a:xfrm>
          <a:prstGeom prst="roundRect">
            <a:avLst>
              <a:gd name="adj" fmla="val 8889"/>
            </a:avLst>
          </a:prstGeom>
          <a:solidFill>
            <a:srgbClr val="F0F9FF"/>
          </a:solidFill>
          <a:ln w="9525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19050" dir="5400000">
              <a:srgbClr val="000000">
                <a:alpha val="10000"/>
              </a:srgbClr>
            </a:outerShdw>
          </a:effectLst>
        </p:spPr>
      </p:sp>
      <p:sp>
        <p:nvSpPr>
          <p:cNvPr id="65" name="Text 63"/>
          <p:cNvSpPr txBox="1"/>
          <p:nvPr/>
        </p:nvSpPr>
        <p:spPr>
          <a:xfrm>
            <a:off x="10116312" y="2542032"/>
            <a:ext cx="14051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Penalty &amp; Accounting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• accruals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0818876" y="3383280"/>
            <a:ext cx="0" cy="19202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818876" y="4069080"/>
            <a:ext cx="0" cy="237744"/>
          </a:xfrm>
          <a:prstGeom prst="line">
            <a:avLst/>
          </a:prstGeom>
          <a:noFill/>
          <a:ln w="15875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68" name="Text 66"/>
          <p:cNvSpPr/>
          <p:nvPr/>
        </p:nvSpPr>
        <p:spPr>
          <a:xfrm>
            <a:off x="10070592" y="4325112"/>
            <a:ext cx="1496568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99F6E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GL API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10818876" y="4764024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0070592" y="4965192"/>
            <a:ext cx="1496568" cy="457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SAP S/4HANA • Snowflake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783080" y="3593592"/>
            <a:ext cx="9857232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965960" y="3593592"/>
            <a:ext cx="9491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Enterprise AI control plane: Settlement Orchestrator in a dedicated ops tier • registry • AI gateway • policy &amp; limits • identity • observability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1783080" y="5605272"/>
            <a:ext cx="9857232" cy="566928"/>
          </a:xfrm>
          <a:prstGeom prst="roundRect">
            <a:avLst>
              <a:gd name="adj" fmla="val 9677"/>
            </a:avLst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2011680" y="5605272"/>
            <a:ext cx="9400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5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More trades affirmed on trade date, fewer SSI- and inventory-driven fails, lower penalties, and analysts focused on true exceptions</a:t>
            </a:r>
            <a:endParaRPr lang="en-US" sz="125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Illustrative. Amber = human decision. Blue = agent and autonomy tier. Every call passes through the control plane.</a:t>
            </a:r>
            <a:endParaRPr lang="en-US" sz="850" dirty="0"/>
          </a:p>
        </p:txBody>
      </p:sp>
      <p:sp>
        <p:nvSpPr>
          <p:cNvPr id="76" name="Text 74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The trade lifecycle from execution to settlement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40: The trade lifecycle from execution to settlement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