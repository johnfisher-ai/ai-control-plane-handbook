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5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313" r:id="rId59"/>
  </p:sldIdLst>
  <p:notesMasterIdLst>
    <p:notesMasterId r:id="rId68"/>
  </p:notesMasterIdLst>
  <p:sldSz cx="12192000" cy="6858000"/>
  <p:notesSz cx="6858000" cy="12192000"/>
  <p:embeddedFontLst>
    <p:embeddedFont>
      <p:font typeface="Plus Jakarta Sans"/>
      <p:regular r:id="rId73"/>
      <p:bold r:id="rId74"/>
      <p:italic r:id="rId7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59" Type="http://schemas.openxmlformats.org/officeDocument/2006/relationships/slide" Target="slides/slide58.xml"/><Relationship Id="rId68" Type="http://schemas.openxmlformats.org/officeDocument/2006/relationships/notesMaster" Target="notesMasters/notesMaster1.xml"/><Relationship Id="rId69" Type="http://schemas.openxmlformats.org/officeDocument/2006/relationships/presProps" Target="presProps.xml"/><Relationship Id="rId70" Type="http://schemas.openxmlformats.org/officeDocument/2006/relationships/viewProps" Target="viewProps.xml"/><Relationship Id="rId71" Type="http://schemas.openxmlformats.org/officeDocument/2006/relationships/theme" Target="theme/theme1.xml"/><Relationship Id="rId72" Type="http://schemas.openxmlformats.org/officeDocument/2006/relationships/tableStyles" Target="tableStyles.xml"/><Relationship Id="rId73" Type="http://schemas.openxmlformats.org/officeDocument/2006/relationships/font" Target="fonts/e1a8fda2-a427-4cdb-9ef2-8a6782d58009.fntdata"/><Relationship Id="rId74" Type="http://schemas.openxmlformats.org/officeDocument/2006/relationships/font" Target="fonts/9542d0bb-6ad7-45dd-89ef-a406bd0490d1.fntdata"/><Relationship Id="rId75" Type="http://schemas.openxmlformats.org/officeDocument/2006/relationships/font" Target="fonts/f16f000a-8ac0-4436-b98c-e748fe425de0.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 Id="rId3" Type="http://schemas.openxmlformats.org/officeDocument/2006/relationships/hyperlink" Target="https://creativecommons.org/licenses/by-nc-nd/4.0/" TargetMode="External"/><Relationship Id="rId4" Type="http://schemas.openxmlformats.org/officeDocument/2006/relationships/hyperlink" Target="https://johnfisher-ai.github.io/ai-control-plane-handbook/deck/" TargetMode="External"/><Relationship Id="rId5" Type="http://schemas.openxmlformats.org/officeDocument/2006/relationships/hyperlink" Target="https://johnfisher-ai.github.io/ai-control-plane-handbook/handbook/appendix-b.html" TargetMode="External"/></Relationship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62000"/>
            <a:ext cx="5943600" cy="3343275"/>
          </a:xfrm>
        </p:spPr>
      </p:sp>
      <p:sp>
        <p:nvSpPr>
          <p:cNvPr id="3" name="Notes Placeholder 2"/>
          <p:cNvSpPr>
            <a:spLocks noGrp="1"/>
          </p:cNvSpPr>
          <p:nvPr>
            <p:ph type="body" idx="1"/>
          </p:nvPr>
        </p:nvSpPr>
        <p:spPr>
          <a:xfrm>
            <a:off x="457200" y="4419600"/>
            <a:ext cx="5943600" cy="6705600"/>
          </a:xfrm>
        </p:spPr>
        <p:txBody>
          <a:bodyPr/>
          <a:lstStyle/>
          <a:p>
            <a:pPr>
              <a:spcAft>
                <a:spcPts val="600"/>
              </a:spcAft>
            </a:pPr>
            <a:r>
              <a:rPr lang="en-US" dirty="0"/>
              <a:t>Protocol versions and regulation dates change often. Update this slide and the handbook's table (Section 7) together at each edition, and say what changed. At the October 14, 2026 check every entry still held. The federal row now shows that the FAR Council's contractor rule is due by about December 19, 2026 (180 days from the order), and none had been proposed by then [51]. Since January 2026, for example, A2A reached version 1.0 [27] and MCP became stateless [26]. AP2 is pre-standard [28]. The EU AI Act dates reflect the Digital Omnibus amendments [32], and the US federal post-quantum deadlines come from the June 2026 executive order [51].</a:t>
            </a:r>
          </a:p>
          <a:p>
            <a:pPr>
              <a:spcAft>
                <a:spcPts val="600"/>
              </a:spcAft>
            </a:pPr>
            <a:r>
              <a:rPr lang="en-US" dirty="0"/>
              <a:t>Credit: John Fisher, The AI Control Plane: Executive Briefing (2026), slide 58, licensed under CC BY-NC-ND 4.0: </a:t>
            </a:r>
            <a:r>
              <a:rPr lang="en-US" dirty="0">
                <a:hlinkClick r:id="rId3"/>
              </a:rPr>
              <a:t>https://creativecommons.org/licenses/by-nc-nd/4.0/</a:t>
            </a:r>
            <a:r>
              <a:rPr lang="en-US" dirty="0"/>
              <a:t>. The full deck, with its speaker notes and notices: </a:t>
            </a:r>
            <a:r>
              <a:rPr lang="en-US" dirty="0">
                <a:hlinkClick r:id="rId4"/>
              </a:rPr>
              <a:t>https://johnfisher-ai.github.io/ai-control-plane-handbook/deck/</a:t>
            </a:r>
            <a:r>
              <a:rPr lang="en-US" dirty="0"/>
              <a:t>.</a:t>
            </a:r>
          </a:p>
          <a:p>
            <a:pPr>
              <a:spcAft>
                <a:spcPts val="600"/>
              </a:spcAft>
            </a:pPr>
            <a:r>
              <a:rPr lang="en-US" dirty="0"/>
              <a:t>Bracketed numbers in these notes, and endnote numbers on the slide, refer to the endnotes in Appendix B of The AI Control Plane Handbook: </a:t>
            </a:r>
            <a:r>
              <a:rPr lang="en-US" dirty="0">
                <a:hlinkClick r:id="rId5"/>
              </a:rPr>
              <a:t>https://johnfisher-ai.github.io/ai-control-plane-handbook/handbook/appendix-b.html</a:t>
            </a:r>
            <a:r>
              <a:rPr lang="en-US" dirty="0"/>
              <a:t>.</a:t>
            </a:r>
          </a:p>
        </p:txBody>
      </p:sp>
      <p:sp>
        <p:nvSpPr>
          <p:cNvPr id="4" name="Slide Number Placeholder 3"/>
          <p:cNvSpPr>
            <a:spLocks noGrp="1"/>
          </p:cNvSpPr>
          <p:nvPr>
            <p:ph type="sldNum" sz="quarter" idx="10"/>
          </p:nvPr>
        </p:nvSpPr>
        <p:spPr>
          <a:xfrm>
            <a:off x="3886200" y="11430000"/>
            <a:ext cx="2514600" cy="457200"/>
          </a:xfrm>
        </p:spPr>
        <p:txBody>
          <a:bodyPr/>
          <a:lstStyle/>
          <a:p>
            <a:r>
              <a:rPr lang="en-US"/>
              <a:t>58</a:t>
            </a:r>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256032"/>
          </a:xfrm>
          <a:prstGeom prst="rect">
            <a:avLst/>
          </a:prstGeom>
          <a:noFill/>
          <a:ln/>
        </p:spPr>
        <p:txBody>
          <a:bodyPr wrap="square" lIns="0" tIns="0" rIns="0" bIns="0" rtlCol="0" anchor="t"/>
          <a:lstStyle/>
          <a:p>
            <a:pPr indent="0" marL="0">
              <a:buNone/>
            </a:pPr>
            <a:r>
              <a:rPr lang="en-US" sz="1050" b="1" spc="150" kern="0" dirty="0">
                <a:solidFill>
                  <a:srgbClr val="0284C7"/>
                </a:solidFill>
                <a:latin typeface="Plus Jakarta Sans" pitchFamily="34" charset="0"/>
                <a:ea typeface="Plus Jakarta Sans" pitchFamily="34" charset="-122"/>
                <a:cs typeface="Plus Jakarta Sans" pitchFamily="34" charset="-120"/>
              </a:rPr>
              <a:t>APPENDIX  •  STANDARDS AND REGULATION DATES</a:t>
            </a:r>
            <a:endParaRPr lang="en-US" sz="1050" dirty="0"/>
          </a:p>
        </p:txBody>
      </p:sp>
      <p:sp>
        <p:nvSpPr>
          <p:cNvPr id="3" name="Text 1"/>
          <p:cNvSpPr txBox="1"/>
          <p:nvPr/>
        </p:nvSpPr>
        <p:spPr>
          <a:xfrm>
            <a:off x="548640" y="658368"/>
            <a:ext cx="11064240" cy="502920"/>
          </a:xfrm>
          <a:prstGeom prst="rect">
            <a:avLst/>
          </a:prstGeom>
          <a:noFill/>
          <a:ln/>
        </p:spPr>
        <p:txBody>
          <a:bodyPr wrap="square" lIns="0" tIns="0" rIns="0" bIns="0" rtlCol="0" anchor="t"/>
          <a:lstStyle/>
          <a:p>
            <a:pPr indent="0" marL="0">
              <a:buNone/>
            </a:pPr>
            <a:r>
              <a:rPr lang="en-US" sz="2600" b="1" dirty="0">
                <a:solidFill>
                  <a:srgbClr val="0F172A"/>
                </a:solidFill>
                <a:latin typeface="Plus Jakarta Sans" pitchFamily="34" charset="0"/>
                <a:ea typeface="Plus Jakarta Sans" pitchFamily="34" charset="-122"/>
                <a:cs typeface="Plus Jakarta Sans" pitchFamily="34" charset="-120"/>
              </a:rPr>
              <a:t>Standards and regulation dates</a:t>
            </a:r>
            <a:endParaRPr lang="en-US" sz="2600" dirty="0"/>
          </a:p>
        </p:txBody>
      </p:sp>
      <p:sp>
        <p:nvSpPr>
          <p:cNvPr id="4" name="Text 2"/>
          <p:cNvSpPr txBox="1"/>
          <p:nvPr/>
        </p:nvSpPr>
        <p:spPr>
          <a:xfrm>
            <a:off x="548640" y="1216152"/>
            <a:ext cx="10881360" cy="502920"/>
          </a:xfrm>
          <a:prstGeom prst="rect">
            <a:avLst/>
          </a:prstGeom>
          <a:noFill/>
          <a:ln/>
        </p:spPr>
        <p:txBody>
          <a:bodyPr wrap="square" lIns="0" tIns="0" rIns="0" bIns="0" rtlCol="0" anchor="t"/>
          <a:lstStyle/>
          <a:p>
            <a:pPr indent="0" marL="0">
              <a:buNone/>
            </a:pPr>
            <a:r>
              <a:rPr lang="en-US" sz="1350" dirty="0">
                <a:solidFill>
                  <a:srgbClr val="475569"/>
                </a:solidFill>
                <a:latin typeface="Plus Jakarta Sans" pitchFamily="34" charset="0"/>
                <a:ea typeface="Plus Jakarta Sans" pitchFamily="34" charset="-122"/>
                <a:cs typeface="Plus Jakarta Sans" pitchFamily="34" charset="-120"/>
              </a:rPr>
              <a:t>Protocol versions and regulation dates change often. The handbook keeps the same table (Section 7).</a:t>
            </a:r>
            <a:endParaRPr lang="en-US" sz="135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548640" y="1810512"/>
          <a:ext cx="11091672" cy="914400"/>
        </p:xfrm>
        <a:graphic>
          <a:graphicData uri="http://schemas.openxmlformats.org/drawingml/2006/table">
            <a:tbl>
              <a:tblPr/>
              <a:tblGrid>
                <a:gridCol w="5120640"/>
                <a:gridCol w="5971032"/>
              </a:tblGrid>
              <a:tr h="365760">
                <a:tc>
                  <a:txBody>
                    <a:bodyPr/>
                    <a:lstStyle/>
                    <a:p>
                      <a:pPr indent="0" marL="0">
                        <a:buNone/>
                      </a:pPr>
                      <a:r>
                        <a:rPr lang="en-US" sz="1050" b="1" dirty="0">
                          <a:solidFill>
                            <a:srgbClr val="FFFFFF"/>
                          </a:solidFill>
                          <a:latin typeface="Plus Jakarta Sans" pitchFamily="34" charset="0"/>
                          <a:ea typeface="Plus Jakarta Sans" pitchFamily="34" charset="-122"/>
                          <a:cs typeface="Plus Jakarta Sans" pitchFamily="34" charset="-120"/>
                        </a:rPr>
                        <a:t>Standard or regulation</a:t>
                      </a:r>
                      <a:endParaRPr lang="en-US" sz="105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indent="0" marL="0">
                        <a:buNone/>
                      </a:pPr>
                      <a:r>
                        <a:rPr lang="en-US" sz="1050" b="1" dirty="0">
                          <a:solidFill>
                            <a:srgbClr val="FFFFFF"/>
                          </a:solidFill>
                          <a:latin typeface="Plus Jakarta Sans" pitchFamily="34" charset="0"/>
                          <a:ea typeface="Plus Jakarta Sans" pitchFamily="34" charset="-122"/>
                          <a:cs typeface="Plus Jakarta Sans" pitchFamily="34" charset="-120"/>
                        </a:rPr>
                        <a:t>Version or date</a:t>
                      </a:r>
                      <a:endParaRPr lang="en-US" sz="105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r>
              <a:tr h="384048">
                <a:tc>
                  <a:txBody>
                    <a:bodyPr/>
                    <a:lstStyle/>
                    <a:p>
                      <a:pPr indent="0" marL="0">
                        <a:buNone/>
                      </a:pPr>
                      <a:r>
                        <a:rPr lang="en-US" sz="1050" b="1" dirty="0">
                          <a:solidFill>
                            <a:srgbClr val="0F172A"/>
                          </a:solidFill>
                          <a:latin typeface="Plus Jakarta Sans" pitchFamily="34" charset="0"/>
                          <a:ea typeface="Plus Jakarta Sans" pitchFamily="34" charset="-122"/>
                          <a:cs typeface="Plus Jakarta Sans" pitchFamily="34" charset="-120"/>
                        </a:rPr>
                        <a:t>A2A</a:t>
                      </a:r>
                      <a:endParaRPr lang="en-US" sz="105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Plus Jakarta Sans" pitchFamily="34" charset="0"/>
                          <a:ea typeface="Plus Jakarta Sans" pitchFamily="34" charset="-122"/>
                          <a:cs typeface="Plus Jakarta Sans" pitchFamily="34" charset="-120"/>
                        </a:rPr>
                        <a:t>Version 1.0 since March 2026. An Agentic AI Foundation project</a:t>
                      </a:r>
                      <a:r>
                        <a:rPr lang="en-US" sz="1050" baseline="30000" dirty="0">
                          <a:solidFill>
                            <a:srgbClr val="334155"/>
                          </a:solidFill>
                          <a:latin typeface="Plus Jakarta Sans" pitchFamily="34" charset="0"/>
                          <a:ea typeface="Plus Jakarta Sans" pitchFamily="34" charset="-122"/>
                          <a:cs typeface="Plus Jakarta Sans" pitchFamily="34" charset="-120"/>
                        </a:rPr>
                        <a:t>27</a:t>
                      </a:r>
                      <a:endParaRPr lang="en-US" sz="105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0F172A"/>
                          </a:solidFill>
                          <a:latin typeface="Plus Jakarta Sans" pitchFamily="34" charset="0"/>
                          <a:ea typeface="Plus Jakarta Sans" pitchFamily="34" charset="-122"/>
                          <a:cs typeface="Plus Jakarta Sans" pitchFamily="34" charset="-120"/>
                        </a:rPr>
                        <a:t>MCP</a:t>
                      </a:r>
                      <a:endParaRPr lang="en-US" sz="105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50" dirty="0">
                          <a:solidFill>
                            <a:srgbClr val="334155"/>
                          </a:solidFill>
                          <a:latin typeface="Plus Jakarta Sans" pitchFamily="34" charset="0"/>
                          <a:ea typeface="Plus Jakarta Sans" pitchFamily="34" charset="-122"/>
                          <a:cs typeface="Plus Jakarta Sans" pitchFamily="34" charset="-120"/>
                        </a:rPr>
                        <a:t>Specification revision 2026-07-28 (stateless)</a:t>
                      </a:r>
                      <a:pPr indent="0" marL="0">
                        <a:buNone/>
                      </a:pPr>
                      <a:r>
                        <a:rPr lang="en-US" sz="1050" baseline="30000" dirty="0">
                          <a:solidFill>
                            <a:srgbClr val="334155"/>
                          </a:solidFill>
                          <a:latin typeface="Plus Jakarta Sans" pitchFamily="34" charset="0"/>
                          <a:ea typeface="Plus Jakarta Sans" pitchFamily="34" charset="-122"/>
                          <a:cs typeface="Plus Jakarta Sans" pitchFamily="34" charset="-120"/>
                        </a:rPr>
                        <a:t>26</a:t>
                      </a:r>
                      <a:endParaRPr lang="en-US" sz="105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384048">
                <a:tc>
                  <a:txBody>
                    <a:bodyPr/>
                    <a:lstStyle/>
                    <a:p>
                      <a:pPr indent="0" marL="0">
                        <a:buNone/>
                      </a:pPr>
                      <a:r>
                        <a:rPr lang="en-US" sz="1050" b="1" dirty="0">
                          <a:solidFill>
                            <a:srgbClr val="0F172A"/>
                          </a:solidFill>
                          <a:latin typeface="Plus Jakarta Sans" pitchFamily="34" charset="0"/>
                          <a:ea typeface="Plus Jakarta Sans" pitchFamily="34" charset="-122"/>
                          <a:cs typeface="Plus Jakarta Sans" pitchFamily="34" charset="-120"/>
                        </a:rPr>
                        <a:t>Agent Payments Protocol (AP2)</a:t>
                      </a:r>
                      <a:endParaRPr lang="en-US" sz="105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Plus Jakarta Sans" pitchFamily="34" charset="0"/>
                          <a:ea typeface="Plus Jakarta Sans" pitchFamily="34" charset="-122"/>
                          <a:cs typeface="Plus Jakarta Sans" pitchFamily="34" charset="-120"/>
                        </a:rPr>
                        <a:t>Contributed to the FIDO Alliance in April 2026, pre-standard</a:t>
                      </a:r>
                      <a:r>
                        <a:rPr lang="en-US" sz="1050" baseline="30000" dirty="0">
                          <a:solidFill>
                            <a:srgbClr val="334155"/>
                          </a:solidFill>
                          <a:latin typeface="Plus Jakarta Sans" pitchFamily="34" charset="0"/>
                          <a:ea typeface="Plus Jakarta Sans" pitchFamily="34" charset="-122"/>
                          <a:cs typeface="Plus Jakarta Sans" pitchFamily="34" charset="-120"/>
                        </a:rPr>
                        <a:t>28</a:t>
                      </a:r>
                      <a:endParaRPr lang="en-US" sz="105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0F172A"/>
                          </a:solidFill>
                          <a:latin typeface="Plus Jakarta Sans" pitchFamily="34" charset="0"/>
                          <a:ea typeface="Plus Jakarta Sans" pitchFamily="34" charset="-122"/>
                          <a:cs typeface="Plus Jakarta Sans" pitchFamily="34" charset="-120"/>
                        </a:rPr>
                        <a:t>EU AI Act high-risk obligations</a:t>
                      </a:r>
                      <a:endParaRPr lang="en-US" sz="105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50" dirty="0">
                          <a:solidFill>
                            <a:srgbClr val="334155"/>
                          </a:solidFill>
                          <a:latin typeface="Plus Jakarta Sans" pitchFamily="34" charset="0"/>
                          <a:ea typeface="Plus Jakarta Sans" pitchFamily="34" charset="-122"/>
                          <a:cs typeface="Plus Jakarta Sans" pitchFamily="34" charset="-120"/>
                        </a:rPr>
                        <a:t>From December 2, 2027 (Annex III) and August 2, 2028 (Annex I)</a:t>
                      </a:r>
                      <a:pPr indent="0" marL="0">
                        <a:buNone/>
                      </a:pPr>
                      <a:r>
                        <a:rPr lang="en-US" sz="1050" baseline="30000" dirty="0">
                          <a:solidFill>
                            <a:srgbClr val="334155"/>
                          </a:solidFill>
                          <a:latin typeface="Plus Jakarta Sans" pitchFamily="34" charset="0"/>
                          <a:ea typeface="Plus Jakarta Sans" pitchFamily="34" charset="-122"/>
                          <a:cs typeface="Plus Jakarta Sans" pitchFamily="34" charset="-120"/>
                        </a:rPr>
                        <a:t>32</a:t>
                      </a:r>
                      <a:endParaRPr lang="en-US" sz="105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384048">
                <a:tc>
                  <a:txBody>
                    <a:bodyPr/>
                    <a:lstStyle/>
                    <a:p>
                      <a:pPr indent="0" marL="0">
                        <a:buNone/>
                      </a:pPr>
                      <a:r>
                        <a:rPr lang="en-US" sz="1050" b="1" dirty="0">
                          <a:solidFill>
                            <a:srgbClr val="0F172A"/>
                          </a:solidFill>
                          <a:latin typeface="Plus Jakarta Sans" pitchFamily="34" charset="0"/>
                          <a:ea typeface="Plus Jakarta Sans" pitchFamily="34" charset="-122"/>
                          <a:cs typeface="Plus Jakarta Sans" pitchFamily="34" charset="-120"/>
                        </a:rPr>
                        <a:t>US federal post-quantum deadlines</a:t>
                      </a:r>
                      <a:endParaRPr lang="en-US" sz="105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Plus Jakarta Sans" pitchFamily="34" charset="0"/>
                          <a:ea typeface="Plus Jakarta Sans" pitchFamily="34" charset="-122"/>
                          <a:cs typeface="Plus Jakarta Sans" pitchFamily="34" charset="-120"/>
                        </a:rPr>
                        <a:t>Key establishment by end-2030, signatures by end-2031, contractor rule due by December 2026</a:t>
                      </a:r>
                      <a:r>
                        <a:rPr lang="en-US" sz="1050" baseline="30000" dirty="0">
                          <a:solidFill>
                            <a:srgbClr val="334155"/>
                          </a:solidFill>
                          <a:latin typeface="Plus Jakarta Sans" pitchFamily="34" charset="0"/>
                          <a:ea typeface="Plus Jakarta Sans" pitchFamily="34" charset="-122"/>
                          <a:cs typeface="Plus Jakarta Sans" pitchFamily="34" charset="-120"/>
                        </a:rPr>
                        <a:t>51</a:t>
                      </a:r>
                      <a:endParaRPr lang="en-US" sz="105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48640" y="6382512"/>
            <a:ext cx="10241280" cy="347472"/>
          </a:xfrm>
          <a:prstGeom prst="rect">
            <a:avLst/>
          </a:prstGeom>
          <a:noFill/>
          <a:ln/>
        </p:spPr>
        <p:txBody>
          <a:bodyPr wrap="square" lIns="0" tIns="0" rIns="0" bIns="0" rtlCol="0" anchor="t"/>
          <a:lstStyle/>
          <a:p>
            <a:pPr indent="0" marL="0">
              <a:buNone/>
            </a:pPr>
            <a:r>
              <a:rPr lang="en-US" sz="850" dirty="0">
                <a:solidFill>
                  <a:srgbClr val="64748B"/>
                </a:solidFill>
                <a:latin typeface="Plus Jakarta Sans" pitchFamily="34" charset="0"/>
                <a:ea typeface="Plus Jakarta Sans" pitchFamily="34" charset="-122"/>
                <a:cs typeface="Plus Jakarta Sans" pitchFamily="34" charset="-120"/>
              </a:rPr>
              <a:t>Sources: endnotes 26–28, 32, 51.</a:t>
            </a:r>
            <a:endParaRPr lang="en-US" sz="850" dirty="0"/>
          </a:p>
        </p:txBody>
      </p:sp>
      <p:sp>
        <p:nvSpPr>
          <p:cNvPr id="7" name="Text 4"/>
          <p:cNvSpPr txBox="1"/>
          <p:nvPr/>
        </p:nvSpPr>
        <p:spPr>
          <a:xfrm>
            <a:off x="11183112" y="6419088"/>
            <a:ext cx="457200" cy="228600"/>
          </a:xfrm>
          <a:prstGeom prst="rect">
            <a:avLst/>
          </a:prstGeom>
          <a:noFill/>
          <a:ln/>
        </p:spPr>
        <p:txBody>
          <a:bodyPr wrap="square" lIns="0" tIns="0" rIns="0" bIns="0" rtlCol="0" anchor="t"/>
          <a:lstStyle/>
          <a:p>
            <a:pPr algn="r" indent="0" marL="0">
              <a:buNone/>
            </a:pPr>
            <a:r>
              <a:rPr lang="en-US" sz="900" dirty="0">
                <a:solidFill>
                  <a:srgbClr val="94A3B8"/>
                </a:solidFill>
                <a:latin typeface="Plus Jakarta Sans" pitchFamily="34" charset="0"/>
                <a:ea typeface="Plus Jakarta Sans" pitchFamily="34" charset="-122"/>
                <a:cs typeface="Plus Jakarta Sans" pitchFamily="34" charset="-120"/>
              </a:rPr>
              <a:t>58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Standards and regulation dates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AI Control Plane, slide 58: Standards and regulation dates</dc:title>
  <dc:subject>One slide from The AI Control Plane: Executive Briefing, by John Fisher (2026), CC BY-NC-ND 4.0</dc:subject>
  <dc:creator>John Fisher</dc:creator>
  <cp:lastModifiedBy>John Fisher</cp:lastModifiedBy>
  <cp:revision>1</cp:revision>
  <dcterms:created xsi:type="dcterms:W3CDTF">2026-10-14T20:43:52Z</dcterms:created>
  <dcterms:modified xsi:type="dcterms:W3CDTF">2026-10-14T20:43:52Z</dcterms:modified>
</cp:coreProperties>
</file>